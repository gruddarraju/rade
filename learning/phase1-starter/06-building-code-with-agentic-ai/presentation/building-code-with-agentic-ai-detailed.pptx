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9B96"/>
                </a:solidFill>
                <a:latin typeface="Calibri"/>
              </a:rPr>
              <a:t>RADE · PHASE 1 · MODULE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060704"/>
            <a:ext cx="7955279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Building Code with Amazon Q in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749807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FFFFFF"/>
                </a:solidFill>
                <a:latin typeface="Calibri"/>
              </a:rPr>
              <a:t>A human-led, transferable agentic workflow for framing, building, validating, and productionizing an AWS Glue PySpark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18688"/>
            <a:ext cx="1170432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2506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3976" y="3218688"/>
            <a:ext cx="1170432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32506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Calibri"/>
              </a:rPr>
              <a:t>ITERATE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218688"/>
            <a:ext cx="1170432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32506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8888" y="3218688"/>
            <a:ext cx="1170432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2506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3218688"/>
            <a:ext cx="1170432" cy="2926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2506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Calibri"/>
              </a:rPr>
              <a:t>SHIP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31936" y="841248"/>
            <a:ext cx="2761488" cy="4718304"/>
          </a:xfrm>
          <a:prstGeom prst="roundRect">
            <a:avLst/>
          </a:prstGeom>
          <a:solidFill>
            <a:srgbClr val="172B3A"/>
          </a:solidFill>
          <a:ln w="10160">
            <a:solidFill>
              <a:srgbClr val="36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1298448"/>
            <a:ext cx="2075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B8D5FF"/>
                </a:solidFill>
                <a:latin typeface="Calibri"/>
              </a:rPr>
              <a:t>RAW PARQUET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231136"/>
            <a:ext cx="2075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Calibri"/>
              </a:rPr>
              <a:t>GLUE NOTEBOOK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182112"/>
            <a:ext cx="2075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D8C9FF"/>
                </a:solidFill>
                <a:latin typeface="Calibri"/>
              </a:rPr>
              <a:t>VALIDATED 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4114800"/>
            <a:ext cx="2075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D8B2"/>
                </a:solidFill>
                <a:latin typeface="Calibri"/>
              </a:rPr>
              <a:t>CURATED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5047488"/>
            <a:ext cx="20756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BFE7CC"/>
                </a:solidFill>
                <a:latin typeface="Calibri"/>
              </a:rPr>
              <a:t>GLUE 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783080"/>
            <a:ext cx="38404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9B96"/>
                </a:solidFill>
                <a:latin typeface="Calibr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24912"/>
            <a:ext cx="38404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F52B8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675887"/>
            <a:ext cx="38404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07736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4608576"/>
            <a:ext cx="38404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9160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45152"/>
            <a:ext cx="1856231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677156"/>
            <a:ext cx="18013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88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8C5D4"/>
                </a:solidFill>
                <a:latin typeface="Calibri"/>
              </a:rPr>
              <a:t>5 local TXT transcripts read · VTT files excluded · editable 16:9 learning deck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11082528" y="6035040"/>
            <a:ext cx="5303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How to use Amazon Q in VS Code—and what counts as evidence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T01–T05 · source boundary and learning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FOLLOW THE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Amazon Q in VS Code to move: frame → prompt → notebook → transform → validate → script.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human-led agentic workflow transfers to other assistants; pause and run the work yourself.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Treat outputs as evidence, not decoration.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READ THE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TRANSCRIPT-DERIVED: directly grounded in the five lessons.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 + GUIDANCE: lesson material plus explanatory examples.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CURRENT SAFETY GUIDANCE: modern guardrails added explicitly.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STAY INSIDE THE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Every local TXT file was read.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VTT files were not read or used.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Illustrative code is not claimed as verbatim lesson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Roadmap: Amazon Q in VS Code, one transferable agentic loop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T01–T05 · course sequence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Define source, target, mapping, join, quality, and 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Iterate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Ask for one executable module; run it on one partition.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Inspect output, fix errors, and build mapped fields.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Validate + 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Reject bad rows, write curated data, convert to a script.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The agent proposes; the engineer supplies context, runs code, checks evidence, and decides what 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The project at a glance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T01 · T02 · T03 · T04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NYC TLC high-volume for-hire vehicle trip records.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2024/2025 monthly Parquet under raw year/month folders.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Zone lookup supplies human-readable location attributes.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a raw-to-curated mapping workbook.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Build and test a Glue Spark job iteratively in a notebook.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Create mapped, cast, derived, joined, and validated fields.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Write accepted rows to a curated S3 area.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Partition the curated result for downstream use.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Convert the working notebook to deployable script code.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First scope: raw → curated. Curated → aggregated is deliberately left as the next application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68096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6DC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99669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Frame the task before asking for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971800"/>
            <a:ext cx="1664208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03804"/>
            <a:ext cx="16093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93008"/>
            <a:ext cx="9829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convert a business request and mapping workbook into a bounded, testable engineering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07024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8C5D4"/>
                </a:solidFill>
                <a:latin typeface="Calibri"/>
              </a:rPr>
              <a:t>TRANSCRIPT + GUIDANCE · Sources in this section: T01–T02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00816" y="621792"/>
            <a:ext cx="512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Start with the business goal, not an open-ended prompt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T01 · task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BUSINESS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Transform high-volume FHV trip data from raw to curated.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Make location IDs useful through zone enrichment.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Deliver fields and quality behavior requested by analysts.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ENGINEERING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Read Parquet from the raw lake path.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Apply the mapping sheet’s target fields and logic.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Join lookup data, validate rows, and write curated output.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Do raw → curated first.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Develop against one month before historical scale-out.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Defer curated → aggregated until the first contract 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Raw data layout: read the partition story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T01 · raw lake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Raw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Use the high-volume FHV source prefix (verify exact S3 key; transcript rendering is ambiguous).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2024 /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Year folders organize the available trip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Monthly folders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Each year contains month-level partitions.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Parquet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Columnar files are the source for the Glue Spark job.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Beginner question: What exact S3 URI, partition values, file format, and expected schema will the job read?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Treat the mapping workbook as a data contract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T01 · raw-to-curated mapping worksheet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FIELD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Source field → target field.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Target layer is curated.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target can contain more fields than the raw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TRANSFORMATION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Cast or reshape source values.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Create fields that do not exist in raw data.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calculations described in the mapping sheet.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QUALITY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Specify which records are acceptable.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Separate validation from transformation when developing.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Retain evidence about rejected rows.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Do not ask an agent to “transform the data” until the target names, types, rules, and lookup behavior are explicit.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Location enrichment requires two lookup joins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 · pickup/drop-off location IDs and zone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Pickup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Numeric pickup location key in each trip record.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Zone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LocationID resolves borough, zone, and service-zone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TRIP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Drop-off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Numeric drop-off location key needs the same lookup.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Enriched 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Preserve pickup and drop-off attributes with clear aliases.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Human validation: confirm join type, duplicate lookup keys, unmatched IDs, output aliases, and row-count expectations.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A reusable prompt brief for this job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T01–T02 · prompt-context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Service: AWS Glue + Spark notebook.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Source: exact S3 URI, Parquet, year/month layout.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Requirements: mapping workbook and zone lookup.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Start with January 2024 only.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Return step-by-step notebook cells—not a full job.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Explain assumptions and request missing inputs.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Profile before transforming.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Match target schema and derived fields.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Report quality counts before any curated write.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Strong task framing gives the agent less room to guess—and gives the engineer concrete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Task-framing checkpoint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T01–T02 · framing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CAN YOU NAME…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raw and curated S3 boundaries?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exact development partition?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lookup key and two join roles?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CAN YOU SHOW…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mapping fields and transformations?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quality rules and reject behavior?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expected output partitioning?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CAN YOU LIMIT…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data volume for first execution?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agent’s next deliverable to one module?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Permissions and cost while experimenting?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68096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B96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99669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Obtain code for iterative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971800"/>
            <a:ext cx="1664208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03804"/>
            <a:ext cx="16093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93008"/>
            <a:ext cx="9829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ask for small executable increments, run them in Glue, and feed observed evidence back to the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07024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8C5D4"/>
                </a:solidFill>
                <a:latin typeface="Calibri"/>
              </a:rPr>
              <a:t>TRANSCRIPT + GUIDANCE · Sources in this section: T02–T04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00816" y="621792"/>
            <a:ext cx="512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When the agent cannot read the workbook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T02 · Excel access attempt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agent initially said its current tools could not read Excel.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It tried a Python utility path.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 missing library became the next blocker.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RECORDED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needed dependency was installed.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workbook became readable.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raw-to-curated sheet was selected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ENGINEER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Prefer an approved, pinned package.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Inspect workbook sheet names and parsed values.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Do not equate “file opened” with “requirements understood.”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Tool access is a capability question; correct interpretation remains a human responsibility.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Give the agent a complete context package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T02 · initial request and clarifying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Exact raw S3 location.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Parquet format.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Year/month partition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DEVELOPMENT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Glue notebook for iterative Spark development.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Step-by-step modules preferred over a full notebook.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One month/one file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Historical or incremental processing?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Transform first or validate first?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What output and checks should each step produce?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Why step-by-step modules beat a giant first answer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T02 · iterative development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SMALLER BLAST RADIUS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One cell changes one concern.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Errors are easier to localize.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 bad assumption does not hide inside a long 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FASTER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Run immediately in the real Glue environment.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Return schema, counts, and exceptions.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Ask for the next module only after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BETTER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Explain each transformation before continuing.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Compare generated code to the mapping contract.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Keep the engineer—not the chat—stateful.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ITERATE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The evidence loop: prompt → run → inspect → correct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T02–T04 · repeated working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Ask for one 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State inputs, expected output, and what not to do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Execute in Glue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Use the selected month and observe the actual runtime.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Capture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Copy schema, counts, sample, quality metrics, or error 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CORRECT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Return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Ask for a complete fix; rerun from the right state.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Never tell the agent only “it failed.” Return the exact error and the smallest relevant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ITERATE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Sample-first read and profile cell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T02–T03 · one-month read and profile; code is illustrative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766560" cy="452628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1627632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9364"/>
            <a:ext cx="15727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EDITABLE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291072" cy="3547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FFFFFF"/>
                </a:solidFill>
                <a:latin typeface="Calibri"/>
              </a:rPr>
              <a:t>from pyspark.sql import functions as F
sample_path = (
    "s3://&lt;bucket&gt;/"
    "&lt;exact-January-2024-prefix-from-S3&gt;/"
)
raw_df = (
    spark.read
    .schema(expected_schema)
    .parquet(sample_path)
)
raw_df.printSchema()
print("rows:", raw_df.count())
print("columns:", len(raw_df.columns))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27048"/>
            <a:ext cx="3977639" cy="4526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527048"/>
            <a:ext cx="64008" cy="45262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09928"/>
            <a:ext cx="35753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009B96"/>
                </a:solidFill>
                <a:latin typeface="Calibri"/>
              </a:rPr>
              <a:t>READ THE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40864"/>
            <a:ext cx="3575304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lesson develops against January 2024 rather than all history.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recorded profile returned about 19.6M rows and 24 columns.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Distinct license values observed were 3 and 5, interpreted as Uber and Lyft.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Folder naming must be observed in S3, not inferred; then check nulls and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593592" cy="585216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340096"/>
            <a:ext cx="3300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Illustrative—not verbatim transcript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The engineer is the pilot; the agent is the co-driver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T04 · pilot/co-pilot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AGENT 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Draft cells and functions.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Interpret returned output.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Suggest fixes and next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C84B4B"/>
                </a:solidFill>
                <a:latin typeface="Calibri"/>
              </a:rPr>
              <a:t>AGENT MAY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Forget an earlier correction.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Hallucinate the next artifact.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Return incomplete or invalid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ENGINEER 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Keep the contract and state.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Stop unwanted actions.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Verify every fix in the target environment.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A confident answer is not runtime evidence. A compacted chat summary is not a source of truth.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68096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52B8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99669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Build and debug transformations in Glue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971800"/>
            <a:ext cx="1664208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03804"/>
            <a:ext cx="16093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93008"/>
            <a:ext cx="9829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profile one partition, translate mappings into DataFrame operations, and recover safely from code and notebook failures.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07024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8C5D4"/>
                </a:solidFill>
                <a:latin typeface="Calibri"/>
              </a:rPr>
              <a:t>TRANSCRIPT + GUIDANCE · Sources in this section: T03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00816" y="621792"/>
            <a:ext cx="512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Create a cost-aware development notebook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T03 · Glue notebook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Open AWS Glue → ETL Jobs → Notebook.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Start fresh and select the team-provided Glue service role.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Name the notebook for the raw-to-curated purpose.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RIGHT-SIZE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lesson reduces workers to two for development.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only the capacity needed for the sample.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Know who owns the account’s budgets and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INITIALIZE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Run the first cell to create the Spark/Glue session.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Remove unneeded default cells.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Do not duplicate context already initialized by the notebook.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Profile before transforming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T03 · first executable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Load only the January 2024 Parquet partition.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Capture total records and number of columns.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Inspect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Print schema, sample rows, and column analysis.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Interpret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Connect license IDs and null patterns to business meaning.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Recorded evidence: roughly 19.6M records, 24 columns, license IDs 3 and 5, and some nulls worth investigating.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ITERATE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F33"/>
                </a:solidFill>
                <a:latin typeface="Calibri"/>
              </a:rPr>
              <a:t>Feed runtime output back—then request core transformations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T03 · output-to-agent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Schema and field names.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Record/column counts.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Sample values, distinct IDs, and null observations.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Build step 2 from the mapping sheet.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the already-created raw DataFrame.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Return one complete notebook cell.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Does the cell cover every mapped target?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Are imports valid in PySpark?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Are derived fields and aliases exact?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Translate mapped fields into readable DataFrame code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T03 · casts and derived fields; code is illustrative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766560" cy="452628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1627632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9364"/>
            <a:ext cx="15727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EDITABLE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291072" cy="3547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FFFFFF"/>
                </a:solidFill>
                <a:latin typeface="Calibri"/>
              </a:rPr>
              <a:t>from pyspark.sql import functions as F
curated_df = (
    raw_df
    .withColumn(
        "pickup_ts",
        F.to_timestamp(F.col("pickup_datetime")),
    )
    .withColumn("pickup_year", F.year("pickup_ts"))
    .withColumn("pickup_month", F.month("pickup_ts"))
    .withColumn("pickup_day", F.dayofmonth("pickup_ts"))
    .withColumn("pickup_hour", F.hour("pickup_ts"))
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27048"/>
            <a:ext cx="3977639" cy="4526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527048"/>
            <a:ext cx="64008" cy="45262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09928"/>
            <a:ext cx="35753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6F52B8"/>
                </a:solidFill>
                <a:latin typeface="Calibri"/>
              </a:rPr>
              <a:t>WHY THIS SHAPE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40864"/>
            <a:ext cx="3575304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Each transformation is visible and reviewable.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F.col(...) makes column references explicit.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Derived calendar fields reflect the mapping-sheet behavior described in the lesson.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Keep names and types aligned with the curated contract.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593592" cy="585216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340096"/>
            <a:ext cx="3300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Prefer tested functions over opaque generated blocks.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Join the zone lookup twice with clear aliases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 · lookup requirement; illustrative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766560" cy="452628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1627632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9364"/>
            <a:ext cx="15727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EDITABLE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291072" cy="3547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FFFFFF"/>
                </a:solidFill>
                <a:latin typeface="Calibri"/>
              </a:rPr>
              <a:t>pickup_zone = zones_df.alias("pickup_zone")
dropoff_zone = zones_df.alias("dropoff_zone")
curated_df = (
    curated_df.alias("trip")
    .join(
        pickup_zone,
        F.col("trip.pickup_location_id")
        == F.col("pickup_zone.LocationID"),
        "left",
    )
    .join(
        dropoff_zone,
        F.col("trip.dropoff_location_id")
        == F.col("dropoff_zone.LocationID"),
        "left",
    )
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27048"/>
            <a:ext cx="3977639" cy="4526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527048"/>
            <a:ext cx="64008" cy="45262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09928"/>
            <a:ext cx="35753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6F52B8"/>
                </a:solidFill>
                <a:latin typeface="Calibri"/>
              </a:rPr>
              <a:t>JOIN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40864"/>
            <a:ext cx="3575304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role-specific aliases for the same lookup.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Choose join type intentionally; a left join preserves trips but can leave lookup fields null.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Assert lookup keys are unique.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Compare row counts before and after each join.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593592" cy="585216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340096"/>
            <a:ext cx="3300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Test unmatched IDs explicitly.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F33"/>
                </a:solidFill>
                <a:latin typeface="Calibri"/>
              </a:rPr>
              <a:t>Derived fields expand raw data into an analyst-ready contract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T03 · transformation output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RECORDED DERIVATIONS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Pickup day, month, and year.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Day of week.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Pickup hour/time-related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RECORDED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Core transformations completed.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resulting DataFrame showed 38 columns.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Schema and sample output were reviewed.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HUMAN 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Compare output to every mapping row.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Investigate any expected/observed field-count mismatch.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Check values—not only column presence.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C84B4B"/>
                </a:solidFill>
                <a:latin typeface="Calibri"/>
              </a:rPr>
              <a:t>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A generated API can be plausible—and still be wrong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T03 · case-function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C84B4B"/>
                </a:solidFill>
                <a:latin typeface="Calibri"/>
              </a:rPr>
              <a:t>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Generated code referenced a case function.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Importing it failed because that function did not exist as proposed.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first agent correction was incomplete.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Return the exact NameError/import error.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Tell the agent the prior answer is incomplete.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PySpark when/otherwise expressions instead.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Syntax familiarity is not API verification.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Demand complete replacement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Run the corrected cell and inspect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The fastest safe path is exact error → narrow correction → rerun → evidence.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C84B4B"/>
                </a:solidFill>
                <a:latin typeface="Calibri"/>
              </a:rPr>
              <a:t>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F33"/>
                </a:solidFill>
                <a:latin typeface="Calibri"/>
              </a:rPr>
              <a:t>Recover a stuck Glue notebook without losing the mental model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T03–T04 · terminate/restart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Persist the notebook before ending a problematic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Stop/terminate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End the stuck interactive session and verify its status.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Restart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Open the notebook and wait for a fresh session.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Run top-down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Recreate state by executing cells in dependency order.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Notebook state lives in the active session. After restart, downstream cells cannot rely on variables that were never recreated.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F33"/>
                </a:solidFill>
                <a:latin typeface="Calibri"/>
              </a:rPr>
              <a:t>Transformation checkpoint: prove the output, not the prompt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T03 · core transformation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Expected names and types match the mapping.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Derived fields have sensible values.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Lookup fields use unambiguous aliases.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Input and transformed row counts are explained.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Joins do not multiply rows unexpectedly.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Null changes are understood.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Imports exist in the target runtime.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complete cell runs from a clean session.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No hidden January-only assumptions leak into logic.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68096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07736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99669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Validate, write, and convert notebook to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971800"/>
            <a:ext cx="1664208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03804"/>
            <a:ext cx="16093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93008"/>
            <a:ext cx="9829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separate accepted and rejected rows, verify the curated write, and turn a working notebook into deployable job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07024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8C5D4"/>
                </a:solidFill>
                <a:latin typeface="Calibri"/>
              </a:rPr>
              <a:t>TRANSCRIPT + GUIDANCE · Sources in this section: T04–T05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00816" y="621792"/>
            <a:ext cx="512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Validation is a gate between transformation and write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T04 · mapping-sheet data-quality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Curated DataFrame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Mapped, derived, and enriched fields are ready for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Apply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Evaluate the workbook’s data-quality criteria.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Validated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Only accepted records continue to the curated write.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C84B4B"/>
                </a:solidFill>
                <a:latin typeface="Calibri"/>
              </a:rP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Rejected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Count and inspect records that do not meet the contract.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Recorded result: some records were rejected; the rejection rate was about 0.96%, below 1%.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Keep valid and rejected records observable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T04 · validation step; illustrative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766560" cy="452628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1627632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9364"/>
            <a:ext cx="15727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EDITABLE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291072" cy="3547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Calibri"/>
              </a:rPr>
              <a:t>valid_condition = (
    F.col("pickup_ts").isNotNull()
    &amp; F.col("pickup_location_id").isNotNull()
    &amp; F.col("dropoff_location_id").isNotNull()
)
is_valid = F.coalesce(valid_condition, F.lit(False))
validated_df = curated_df.filter(is_valid)
rejected_df = curated_df.filter(~is_valid)
# Add rejection-reason columns to rejected_df.
input_count = curated_df.count()
valid_count = validated_df.count()
reject_count = rejected_df.count()
assert input_count == valid_count + reject_count
reject_rate = reject_count / input_count if input_count else 0.0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27048"/>
            <a:ext cx="3977639" cy="4526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527048"/>
            <a:ext cx="64008" cy="452628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09928"/>
            <a:ext cx="35753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E07736"/>
                </a:solidFill>
                <a:latin typeface="Calibri"/>
              </a:rPr>
              <a:t>QUALITY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40864"/>
            <a:ext cx="3575304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exact rules must come from the mapping workbook.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Count valid and rejected rows from the same input population.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Add rejection-reason columns and inspect them, not just the percentage.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Define what rejection-rate threshold should block a write.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593592" cy="585216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340096"/>
            <a:ext cx="3300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Illustrative—not the lesson’s literal rules.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Write only validated rows to curated storage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T04 · curated write and daily partitioning; illustrative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766560" cy="452628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1627632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9364"/>
            <a:ext cx="15727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EDITABLE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291072" cy="3547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Calibri"/>
              </a:rPr>
              <a:t>write_path = args.january_2024_dev_output
assert (
    write_path
    == args.approved_january_2024_dev_output
)
(
    validated_df.write
    .mode("overwrite")  # bounded January dev prefix only
    .partitionBy(
        "pickup_year", "pickup_month", "pickup_day"
    )
    .parquet(write_path)
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27048"/>
            <a:ext cx="3977639" cy="4526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527048"/>
            <a:ext cx="64008" cy="452628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09928"/>
            <a:ext cx="35753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E07736"/>
                </a:solidFill>
                <a:latin typeface="Calibri"/>
              </a:rPr>
              <a:t>BEFORE YOU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40864"/>
            <a:ext cx="3575304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Resolve every runtime variable; the lesson exposed an undefined account ID.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Assert the destination equals the approved January-scoped development prefix before writing.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Keep overwrite bounded to that January development prefix; parameterize mode elsewhere.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Verify output files and partitions in S3 after completion.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593592" cy="585216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340096"/>
            <a:ext cx="3300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Production jobs should be idempotent.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Verify the write in S3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T04 · curated S3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Transcript-observed: refresh the bucket after the notebook cell completes.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Transcript-observed: confirm the curated folder appears.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Transcript-observed: check the high-volume FHV source prefix (verify exact S3 key; transcript rendering is ambiguous).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PARTITIONS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Transcript-observed: the lesson finds January output.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Transcript-observed: output folders are partitioned by day.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Guidance: observe actual folder/partition names; do not infer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Guidance: read the written result back.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Guidance: verify schema and reconcile record count.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Guidance: sample partition keys and accepted rows.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A successful write message is incomplete evidence until the destination can be read and reconciled.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F33"/>
                </a:solidFill>
                <a:latin typeface="Calibri"/>
              </a:rPr>
              <a:t>Notebook → script: move from exploration to a runnable artifact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T04 · notebook-to-script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Save notebook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Preserve the tested sequence of cells.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Open Script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Glue assembles notebook cell code into script 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Confirm generated 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Confirm generated script omits notebook-only magics; remove any remnants if present.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Validate 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Save the Python file and ask the agent to review missing components.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The recording catches an empty unsaved file and missing components—proof that conversion still needs human inspection.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F33"/>
                </a:solidFill>
                <a:latin typeface="Calibri"/>
              </a:rPr>
              <a:t>Refactor one-month notebook logic into a script boundary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T04 · expand January-only code to all raw data; illustrative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766560" cy="452628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1627632" cy="2926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9364"/>
            <a:ext cx="15727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PSEUDOCODE — NOT EXECUTABLE AS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291072" cy="3547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FFFFFF"/>
                </a:solidFill>
                <a:latin typeface="Calibri"/>
              </a:rPr>
              <a:t>def run_job(raw_path: str, curated_path: str) -&gt; None:
    raw_df = read_raw(spark, raw_path, expected_schema)
    curated_df = transform(raw_df, zones_df)
    valid_df, rejected_df = validate(curated_df)
    assert_quality(valid_df, rejected_df)
    write_curated(valid_df, curated_path)
if __name__ == "__main__":
    args = parse_job_args()
    run_job(args.raw_path, args.curated_path)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27048"/>
            <a:ext cx="3977639" cy="45262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527048"/>
            <a:ext cx="64008" cy="45262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09928"/>
            <a:ext cx="35753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A9160"/>
                </a:solidFill>
                <a:latin typeface="Calibri"/>
              </a:rPr>
              <a:t>SCRIPT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40864"/>
            <a:ext cx="3575304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Replace January literals with job arguments or partition discovery.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Required dependencies/contracts: spark, expected_schema, zones_df, and a job-argument parser.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Fail before writing when schema or quality checks fail.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17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Log run/partition identifiers and counts.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212080"/>
            <a:ext cx="3593592" cy="585216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340096"/>
            <a:ext cx="3300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All-history processing needs an explicit incremental strategy.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Scale out safely: from January to the full raw history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T04 · request to process all 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List or catalog available year/month partitions.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Validate that partition names are expected.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Select full history or only unprocessed partitions.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Avoid collecting large results to the driver.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Preserve partition columns through transformation.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Record which inputs each run consumed.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RERUN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deterministic output keys.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Prevent duplicates on retry.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Reconcile counts by partition before marking success.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The transcript asks the agent to update January-only code; production readiness requires an explicit backfill/incremental contract.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Final agent-assisted code review checklist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T04 · script validation plus engineering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All mapping rows implemented.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Lookup joins and derived fields tested.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Accepted/rejected counts reconcile.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OPERABILITY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Arguments replace local literals.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Logging explains partition and outcome.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Retries and partial writes are safe.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SECURITY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Least-privilege role and no embedded secrets.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Bounded worker/runtime settings.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Notebook session stopped after development.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68096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B96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99669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Practice, apply, explain, and exit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971800"/>
            <a:ext cx="1664208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03804"/>
            <a:ext cx="16093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93008"/>
            <a:ext cx="9829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rehearse the full workflow, add modern safety guardrails, and turn the work into interview-ready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07024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8C5D4"/>
                </a:solidFill>
                <a:latin typeface="Calibri"/>
              </a:rPr>
              <a:t>TRANSCRIPT + GUIDANCE · Sources in this section: T01–T05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100816" y="621792"/>
            <a:ext cx="512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Hands-on workflow: rebuild one bounded slice yourself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T01–T05 · integrated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56231"/>
            <a:ext cx="64008" cy="324612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C66DC"/>
                </a:solidFill>
                <a:latin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Write source, target, mapping, lookup, quality, and January 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856231"/>
            <a:ext cx="64008" cy="324612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25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Read/profile, then implement mapped and derived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56231"/>
            <a:ext cx="64008" cy="324612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20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Split valid/rejected rows and explain every rejection rule.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313639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856231"/>
            <a:ext cx="2551176" cy="32461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25128" y="1856231"/>
            <a:ext cx="64008" cy="324612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020824"/>
            <a:ext cx="223113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A9160"/>
                </a:solidFill>
                <a:latin typeface="Calibri"/>
              </a:rPr>
              <a:t>20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86584"/>
            <a:ext cx="2240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Calibri"/>
              </a:rPr>
              <a:t>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081528"/>
            <a:ext cx="22402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14233E"/>
                </a:solidFill>
                <a:latin typeface="Calibri"/>
              </a:rPr>
              <a:t>Write/read back curated output, convert to script, stop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385816"/>
            <a:ext cx="10954512" cy="621792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5217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Deliverables: prompt brief, notebook, runtime evidence, validated output, script, and a short decision log.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C84B4B"/>
                </a:solidFill>
                <a:latin typeface="Calibri"/>
              </a:rP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Current safety guidance for agentic development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901952" cy="29260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8470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CURRENT SAFETY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CURRENT SAFETY GUIDANCE · Modern guardrails added beyond T01–T05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C84B4B"/>
                </a:solidFill>
                <a:latin typeface="Calibri"/>
              </a:rPr>
              <a:t>CONTROL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a sandbox or dev account.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Approve dependency installs and destructive actions.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Limit the agent to the files and services it needs.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PROTECT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Never paste credentials, tokens, or sensitive records into chat.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Treat workbook text and generated code as untrusted input.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IAM roles and redact logs.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REQUIRE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Review diffs before execution.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Run tests and data assertions.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Keep a human approval gate before writes or deployment.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Autonomy should increase only after repeatable tests, constrained permissions, and observable rollback behavior.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The cost-control rule you must not miss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T04–T05 · repeated notebook shutdown warning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End the Glue notebook session when pausing or finishing.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Do not assume closing a tab stops compute.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 the notebook’s stop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Return to ETL Jobs/notebook status.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Confirm the notebook shows stopped.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Investigate any still-running interactive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PREVENT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Set budgets and alerts where available.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Right-size workers for development.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Add teardown to every lab checklist.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The final transcript exists solely to repeat this warning: a running notebook continues to incur cost.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6F52B8"/>
                </a:solidFill>
                <a:latin typeface="Calibri"/>
              </a:rPr>
              <a:t>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Application challenge: curated → aggregated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 · T04 · next-step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Choose one analyst question such as trips by day and borough.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Define aggregation grain and measures.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State late/missing lookup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Read the validated curated partitions.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Group by the declared grain.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Write an aggregated Parquet dataset with clear partitions.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Reconcile totals to curated input.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Test one known day manually.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Explain idempotency, cost, and failure recovery.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Use the same loop: frame → one partition → inspect → transform → validate → write → script.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Turn the project into an interview story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T03–T04 · project and interview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SITUATION +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High-volume monthly NYC trip Parquet needed raw-to-curated processing.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Analyst mapping and lookup rules defined the contract.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The goal was a deployable Glue Spark job.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Used AI to draft small notebook cells.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Profiled ~19.6M rows, corrected invalid generated code, and validated rejects.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Wrote daily partitions and converted notebook to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RESULT + JUDGMENT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Reported demo evidence: approximately 19.6M rows, 38 output columns, and approximately 0.96% rejects; replace these with your own measured results after rerunning.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Show how human checks prevented hallucinated code from shipping.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Name the next production hardening steps.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Module review: the connected mental model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T01–T05 · complete module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3749039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3749039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C66DC"/>
                </a:solidFill>
                <a:latin typeface="Calibri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Business contract before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One partition before full history.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Explicit source, target, lookup, and quality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3749039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3749039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ITERATE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One executable module at a time.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Runtime evidence returned to the agent.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Exact errors drive narrow corrections.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3749039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3749039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A9160"/>
                </a:solidFill>
                <a:latin typeface="Calibri"/>
              </a:rPr>
              <a:t>VALIDATE + 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2990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Separate valid and rejected rows.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Read back the curated write.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Convert to script, review, scale out, stop compute.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513832"/>
            <a:ext cx="10954512" cy="512064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32704"/>
            <a:ext cx="105521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Calibri"/>
              </a:rPr>
              <a:t>The transferable skill is not prompting alone; it is maintaining engineering judgment through every agent-assisted step.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07736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Coverage note and source limitations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700784" cy="2926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6459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 + GUIDANCE · Coverage audit · local module transcript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517392" cy="440740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4008" cy="440740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E07736"/>
                </a:solidFill>
                <a:latin typeface="Calibri"/>
              </a:rPr>
              <a:t>INCLUDED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All 5 local TXT transcripts were read in full.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T01–T05 are represented across the deck.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Task framing, iterative code, transformations, validation/write/script, and final warning are covered.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352" y="1572768"/>
            <a:ext cx="3517392" cy="440740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0352" y="1572768"/>
            <a:ext cx="64008" cy="44074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09B96"/>
                </a:solidFill>
                <a:latin typeface="Calibri"/>
              </a:rPr>
              <a:t>EXCLUDED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94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VTT files were not read or used.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No code files, workbook, console screenshots, or live AWS account were available as evidence.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Illustrative code is labeled as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1572768"/>
            <a:ext cx="3517392" cy="440740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912" y="1572768"/>
            <a:ext cx="64008" cy="440740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1792" y="1719072"/>
            <a:ext cx="3188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6F52B8"/>
                </a:solidFill>
                <a:latin typeface="Calibri"/>
              </a:rPr>
              <a:t>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4" y="2185416"/>
            <a:ext cx="3206496" cy="3648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Transcripts contain speech-to-text distortions in names and terms.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Exact runtime code and mapping rules must be checked against the real workbook and repository.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200">
                <a:solidFill>
                  <a:srgbClr val="14233E"/>
                </a:solidFill>
                <a:latin typeface="Aptos"/>
              </a:defRPr>
            </a:pPr>
            <a:r>
              <a:rPr>
                <a:latin typeface="Calibri"/>
              </a:rPr>
              <a:t>• Current safety guidance is explicitly separated.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469880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Calibri"/>
              </a:rPr>
              <a:t>Exact source index · T01–T05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119104" y="310896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6377"/>
                </a:solidFill>
                <a:latin typeface="Calibri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984" y="1042415"/>
            <a:ext cx="1481328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43415" y="1074419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9144"/>
          </a:xfrm>
          <a:prstGeom prst="rect">
            <a:avLst/>
          </a:prstGeom>
          <a:solidFill>
            <a:srgbClr val="D7E0E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56377"/>
                </a:solidFill>
                <a:latin typeface="Calibri"/>
              </a:rPr>
              <a:t>TRANSCRIPT-DERIVED · Exact local TXT basenames · all five read · VTT excluded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6473952"/>
            <a:ext cx="24323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56377"/>
                </a:solidFill>
                <a:latin typeface="Calibri"/>
              </a:rPr>
              <a:t>Building Code with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81328"/>
            <a:ext cx="10881360" cy="83210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1627632"/>
            <a:ext cx="60350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659636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Calibri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572768"/>
            <a:ext cx="912571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Calibri"/>
              </a:rPr>
              <a:t>01-1-whats-the-task-ahead-revisit.txt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965960"/>
            <a:ext cx="3749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56377"/>
                </a:solidFill>
                <a:latin typeface="Calibri"/>
              </a:rPr>
              <a:t>TASK FRAMING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23160"/>
            <a:ext cx="10881360" cy="83210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2569464"/>
            <a:ext cx="60350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601468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Calibri"/>
              </a:rPr>
              <a:t>T02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14600"/>
            <a:ext cx="912571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Calibri"/>
              </a:rPr>
              <a:t>02--2-get-the-code-for-iterative-development-revisit.txt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907792"/>
            <a:ext cx="3749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56377"/>
                </a:solidFill>
                <a:latin typeface="Calibri"/>
              </a:rPr>
              <a:t>ITERATIVE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64992"/>
            <a:ext cx="10881360" cy="83210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" y="3511296"/>
            <a:ext cx="60350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543300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Calibri"/>
              </a:rPr>
              <a:t>T03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56432"/>
            <a:ext cx="912571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Calibri"/>
              </a:rPr>
              <a:t>03--3-build-transformations-revisit.txt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849624"/>
            <a:ext cx="3749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56377"/>
                </a:solidFill>
                <a:latin typeface="Calibri"/>
              </a:rPr>
              <a:t>TRANSFORMATIONS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06824"/>
            <a:ext cx="10881360" cy="83210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4453128"/>
            <a:ext cx="60350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48513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Calibri"/>
              </a:rPr>
              <a:t>T04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398264"/>
            <a:ext cx="912571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Calibri"/>
              </a:rPr>
              <a:t>04-4-validate-write-the-data-and-convert-notebook-to-script-revisit.txt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791456"/>
            <a:ext cx="3749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56377"/>
                </a:solidFill>
                <a:latin typeface="Calibri"/>
              </a:rPr>
              <a:t>VALIDATE / WRITE / SCRIPT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48656"/>
            <a:ext cx="10881360" cy="83210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" y="5394960"/>
            <a:ext cx="603504" cy="29260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426964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Calibri"/>
              </a:rPr>
              <a:t>T05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340096"/>
            <a:ext cx="912571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Calibri"/>
              </a:rPr>
              <a:t>05-5-dont-miss-this-video-revisit.txt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733288"/>
            <a:ext cx="3749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56377"/>
                </a:solidFill>
                <a:latin typeface="Calibri"/>
              </a:rPr>
              <a:t>STOP NOTEBOOK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199632"/>
            <a:ext cx="10607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56377"/>
                </a:solidFill>
                <a:latin typeface="Calibri"/>
              </a:rPr>
              <a:t>Exact basenames preserved, including the double hyphens in T02 and T03.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