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1 AWS Data Engineering Deep Div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43891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9B96"/>
                </a:solidFill>
                <a:latin typeface="Calibri"/>
              </a:rPr>
              <a:t>RADE LEARNING PATH · MODULE 09</a:t>
            </a:r>
          </a:p>
        </p:txBody>
      </p:sp>
      <p:sp>
        <p:nvSpPr>
          <p:cNvPr id="5" name="Title 01"/>
          <p:cNvSpPr txBox="1"/>
          <p:nvPr/>
        </p:nvSpPr>
        <p:spPr>
          <a:xfrm>
            <a:off x="640080" y="932688"/>
            <a:ext cx="644652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AWS Data Engineering
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2304"/>
            <a:ext cx="6071616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DE7F0"/>
                </a:solidFill>
                <a:latin typeface="Calibri"/>
              </a:rPr>
              <a:t>Store. Catalog. Query. Process. Orchestrate. Explain every decision with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47288"/>
            <a:ext cx="731520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3470148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3447288"/>
            <a:ext cx="914400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3470148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GLUE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447288"/>
            <a:ext cx="1069848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1" y="3470148"/>
            <a:ext cx="1014983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ATHENA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3447288"/>
            <a:ext cx="96926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347014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SPARK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3752" y="3447288"/>
            <a:ext cx="1618488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1184" y="3470148"/>
            <a:ext cx="1563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Calibri"/>
              </a:rPr>
              <a:t>STEP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097280"/>
            <a:ext cx="1280160" cy="9601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353312"/>
            <a:ext cx="113385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FFFFFF"/>
                </a:solidFill>
                <a:latin typeface="Calibri"/>
              </a:rPr>
              <a:t>S3
OBJECTS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86216" y="1097280"/>
            <a:ext cx="1280160" cy="9601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1353312"/>
            <a:ext cx="113385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FFFFFF"/>
                </a:solidFill>
                <a:latin typeface="Calibri"/>
              </a:rPr>
              <a:t>GLUE
CATALOG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13263" y="1097280"/>
            <a:ext cx="1280160" cy="9601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5" y="1353312"/>
            <a:ext cx="113385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FFFFFF"/>
                </a:solidFill>
                <a:latin typeface="Calibri"/>
              </a:rPr>
              <a:t>ATHENA
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9168" y="2724912"/>
            <a:ext cx="1280160" cy="9601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980944"/>
            <a:ext cx="113385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FFFFFF"/>
                </a:solidFill>
                <a:latin typeface="Calibri"/>
              </a:rPr>
              <a:t>GLUE
JOBS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86216" y="2724912"/>
            <a:ext cx="1280160" cy="9601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2980944"/>
            <a:ext cx="113385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FFFFFF"/>
                </a:solidFill>
                <a:latin typeface="Calibri"/>
              </a:rPr>
              <a:t>STATE
MACHINE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91456"/>
            <a:ext cx="2020824" cy="274320"/>
          </a:xfrm>
          <a:prstGeom prst="roundRect">
            <a:avLst/>
          </a:prstGeom>
          <a:solidFill>
            <a:srgbClr val="34506D"/>
          </a:solidFill>
          <a:ln w="10160">
            <a:solidFill>
              <a:srgbClr val="34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8143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Calibri"/>
              </a:rPr>
              <a:t>21 TXT TRANSCRIPTS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6352" y="4791456"/>
            <a:ext cx="1865376" cy="274320"/>
          </a:xfrm>
          <a:prstGeom prst="roundRect">
            <a:avLst/>
          </a:prstGeom>
          <a:solidFill>
            <a:srgbClr val="34506D"/>
          </a:solidFill>
          <a:ln w="10160">
            <a:solidFill>
              <a:srgbClr val="34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43784" y="4814316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Calibri"/>
              </a:rPr>
              <a:t>53 EDITABLE SLIDES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37176" y="4791456"/>
            <a:ext cx="1709928" cy="274320"/>
          </a:xfrm>
          <a:prstGeom prst="roundRect">
            <a:avLst/>
          </a:prstGeom>
          <a:solidFill>
            <a:srgbClr val="34506D"/>
          </a:solidFill>
          <a:ln w="10160">
            <a:solidFill>
              <a:srgbClr val="34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4814316"/>
            <a:ext cx="16550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Calibri"/>
              </a:rPr>
              <a:t>EVIDENCE-LED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13648" y="4791456"/>
            <a:ext cx="2532888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4814316"/>
            <a:ext cx="24780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6336792"/>
            <a:ext cx="11045952" cy="0"/>
          </a:xfrm>
          <a:prstGeom prst="line">
            <a:avLst/>
          </a:prstGeom>
          <a:ln w="10160">
            <a:solidFill>
              <a:srgbClr val="345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6437376"/>
            <a:ext cx="9692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B9C5D2"/>
                </a:solidFill>
                <a:latin typeface="Calibri"/>
              </a:rPr>
              <a:t>Sources: 01-1-i-am-a-cloud-data-architect-resume.txt; 05-1-flow-for-data-analysis-using-glue-catalog-and-glue-crawler.txt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19104" y="292608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2 How to read this evidence-led deck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ORIENTATION</a:t>
            </a:r>
          </a:p>
        </p:txBody>
      </p:sp>
      <p:sp>
        <p:nvSpPr>
          <p:cNvPr id="5" name="Title 02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How to read this evidence-led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Every claim has a provenance boundary; operational additions are visibly separated.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05111" y="1124712"/>
            <a:ext cx="1880920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32543" y="1147572"/>
            <a:ext cx="18260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all 21 TXT transcripts · exact inventory on slides 51–53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Faithful lesson content or synthesis.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Footer identifies the source boundary.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C84B4B"/>
                </a:solidFill>
                <a:latin typeface="Calibri"/>
              </a:rPr>
              <a:t>TIME-SENSITIVE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Recording-time UI, defaults, pricing, versions, limits, or heuristics.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Recheck before 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CURRENT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Safety, cost, privacy, reliability, or governance additions.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Never disguised as transcript content.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Learn the concept → identify what can change → verify current behavior → preserve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3 Learning outcomes: operate and explain the whole path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ORIENTATION</a:t>
            </a:r>
          </a:p>
        </p:txBody>
      </p:sp>
      <p:sp>
        <p:nvSpPr>
          <p:cNvPr id="5" name="Title 03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Learning outcomes: operate and explain the whole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goal is not menu recall; it is an interview-ready architecture narrative backed by hands-on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01-1-i-am-a-cloud-data-architect-resume.txt; 10-1-glue-python-shell.txt; 16-2-glue-spark-deep-concepts.txt; 19-step-functions-state-machines.txt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Place objects in S3.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Catalog structure.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Query with Athena.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Select Python Shell or Spark deliberately.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Parameterize, run, and diagnose jobs.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ORCHESTRATE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Sequence jobs.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Route success/failure.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Explain IAM and observability.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For every service: state responsibility, input, output, permissions, failure mode, and cost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4 Architecture preview: source to governed delivery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ORIENTATION</a:t>
            </a:r>
          </a:p>
        </p:txBody>
      </p:sp>
      <p:sp>
        <p:nvSpPr>
          <p:cNvPr id="5" name="Title 04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Architecture preview: source to governed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One data path; distinct storage, metadata, compute, orchestration, and notification responsibilities.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04-1-s3-deep-dive-resume.txt; 05-1-flow-for-data-analysis-using-glue-catalog-and-glue-crawler.txt; 09-2-medallion-architecture-and-partitioning.txt; 19-step-functions-state-machines.txt; 20-simple-notification-service.txt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S3 raw, curated, aggregated zones.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Objects remain durable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DESCRIBE &amp; COMPUTE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Crawler/Catalog metadata.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Athena and Glue consume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Step Functions sequences work.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SNS routes outcomes.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The diagram is a responsibility map—not a claim that every workload needs every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5 Adopt the cloud data architect operating model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3108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9B96"/>
                </a:solidFill>
                <a:latin typeface="Calibri"/>
              </a:rPr>
              <a:t>SECTION 1</a:t>
            </a:r>
          </a:p>
        </p:txBody>
      </p:sp>
      <p:sp>
        <p:nvSpPr>
          <p:cNvPr id="5" name="Title 05"/>
          <p:cNvSpPr txBox="1"/>
          <p:nvPr/>
        </p:nvSpPr>
        <p:spPr>
          <a:xfrm>
            <a:off x="640080" y="987552"/>
            <a:ext cx="1001268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Adopt the cloud data architect operating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31136"/>
            <a:ext cx="1527048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53996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9875520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separate accounts and environments, use console or CLI intentionally, and place cost guardrails before experimentation.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44568"/>
            <a:ext cx="1572768" cy="585216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4544568"/>
            <a:ext cx="1572768" cy="585216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4544568"/>
            <a:ext cx="1572768" cy="585216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4645152"/>
            <a:ext cx="2505456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4668012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310896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82512"/>
            <a:ext cx="11045952" cy="0"/>
          </a:xfrm>
          <a:prstGeom prst="line">
            <a:avLst/>
          </a:prstGeom>
          <a:ln w="10160">
            <a:solidFill>
              <a:srgbClr val="345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64808"/>
            <a:ext cx="8915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B9C5D2"/>
                </a:solidFill>
                <a:latin typeface="Calibri"/>
              </a:rPr>
              <a:t>Sources: 01-1-i-am-a-cloud-data-architect-resume.txt; 02-2-accounts-in-real-world-aws-learning-investment-budgets-aws-cli-resume.txt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64808"/>
            <a:ext cx="2084831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B9C5D2"/>
                </a:solidFill>
                <a:latin typeface="Calibri"/>
              </a:rPr>
              <a:t>MODULE 09 · AWS DEEP DIVE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6 AWS is rented capability—not owned infrastructur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AWS ROLE</a:t>
            </a:r>
          </a:p>
        </p:txBody>
      </p:sp>
      <p:sp>
        <p:nvSpPr>
          <p:cNvPr id="5" name="Title 06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AWS is rented capability—not owned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transcript uses storage as the beginner bridge from local ownership to cloud consumption.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01-1-i-am-a-cloud-data-architect-resume.txt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5385816" cy="3822191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822191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49286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OWNED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4946904" cy="30723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Capacity is purchased and maintained.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Provisioning and idle capacity stay with the owner.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1645920"/>
            <a:ext cx="5577840" cy="3822191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645920"/>
            <a:ext cx="68580" cy="3822191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828800"/>
            <a:ext cx="51206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CLOUD CONSUMPTION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286000"/>
            <a:ext cx="5138927" cy="30723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Request services when needed.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Pay-for-use exposes architecture and cleanup decisions.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Think like an architect: connect every service choice to a responsibility and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7 Accounts and environments create blast-radius boundarie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ACCOUNTS &amp; ENVIRONMENTS</a:t>
            </a:r>
          </a:p>
        </p:txBody>
      </p:sp>
      <p:sp>
        <p:nvSpPr>
          <p:cNvPr id="5" name="Title 07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Accounts and environments create blast-radius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lesson describes real-world separation across development, QA, and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02-2-accounts-in-real-world-aws-learning-investment-budgets-aws-cli-resume.txt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Build and test with low-risk data and controlled spend.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Validate behavior before promotion.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Protect customer outcomes and continuity.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Use a sandbox or organization-approved account for learning—not production credentials or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8 Console, CloudShell, and AWS CLI are three interface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CONSOLE &amp; CLI</a:t>
            </a:r>
          </a:p>
        </p:txBody>
      </p:sp>
      <p:sp>
        <p:nvSpPr>
          <p:cNvPr id="5" name="Title 08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Console, CloudShell, and AWS CLI are three 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service is the same; interaction changes from visual exploration to repeatable commands.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02-2-accounts-in-real-world-aws-learning-investment-budgets-aws-cli-resume.txt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Discover concepts visually.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Recording-time labels can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CLOUDSHELL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Browser command environment shown in the lesson.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Availability/defaults are mutable.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AWS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Repeat actions with commands.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Lesson uses aws s3 ls as a visibility check.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Treat UI locations, CloudShell behavior, and CLI defaults as recording-time observations.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Before each command, confirm caller identity, region, account, and target resource.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9 Put identity, budget, and cleanup guardrails first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7736"/>
                </a:solidFill>
                <a:latin typeface="Calibri"/>
              </a:rPr>
              <a:t>COST &amp; SAFETY</a:t>
            </a:r>
          </a:p>
        </p:txBody>
      </p:sp>
      <p:sp>
        <p:nvSpPr>
          <p:cNvPr id="5" name="Title 09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Put identity, budget, and cleanup guardrails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Learning investment is deliberate; uncontrolled access or forgotten resources are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2249" y="1124712"/>
            <a:ext cx="2373782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9681" y="1147572"/>
            <a:ext cx="231891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02-2-accounts-in-real-world-aws-learning-investment-budgets-aws-cli-resume.txt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Protect root access with MFA.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Prefer temporary, least-privilege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Create alerts before labs.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Alerts report spend; they are not a universal hard cap.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CLEANUP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Tag learning resources.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Keep a per-lab deletion checklist.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Use an approved sandbox; never hardcode credentials; review region-specific cost before running.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A safe lab has an owner, budget signal, region, deletion plan, and no embedded secrets.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0 Checkpoint: prove your AWS operating boundary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9160"/>
                </a:solidFill>
                <a:latin typeface="Calibri"/>
              </a:rPr>
              <a:t>CHECKPOINT · CLOUD FOUNDATIONS</a:t>
            </a:r>
          </a:p>
        </p:txBody>
      </p:sp>
      <p:sp>
        <p:nvSpPr>
          <p:cNvPr id="5" name="Title 10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Checkpoint: prove your AWS operating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Stop here: demonstrate the work, explain the design, then apply the pass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87584" y="1124712"/>
            <a:ext cx="1298448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5015" y="11475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01-1-i-am-a-cloud-data-architect-resume.txt; 02-2-accounts-in-real-world-aws-learning-investment-budgets-aws-cli-resume.txt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3581400" cy="358444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68580" cy="358444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Display the active account/region and a successful, read-only S3 listing.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64208"/>
            <a:ext cx="3581400" cy="358444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64208"/>
            <a:ext cx="68580" cy="358444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Distinguish account, environment, console, CloudShell, CLI, budget alert, and cleanup.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64208"/>
            <a:ext cx="3581400" cy="358444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64208"/>
            <a:ext cx="68580" cy="358444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PASS when routine work is non-root, the target is a sandbox, and cleanup is documented.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33288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65875"/>
            <a:ext cx="119786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8873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61303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Evidence beats familiarity: capture a result you can reproduce and narrate.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1 Turn S3 objects into queryable, governed data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3108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F52B8"/>
                </a:solidFill>
                <a:latin typeface="Calibri"/>
              </a:rPr>
              <a:t>SECTION 2</a:t>
            </a:r>
          </a:p>
        </p:txBody>
      </p:sp>
      <p:sp>
        <p:nvSpPr>
          <p:cNvPr id="5" name="Title 11"/>
          <p:cNvSpPr txBox="1"/>
          <p:nvPr/>
        </p:nvSpPr>
        <p:spPr>
          <a:xfrm>
            <a:off x="640080" y="987552"/>
            <a:ext cx="1001268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Turn S3 objects into queryable, governed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31136"/>
            <a:ext cx="1527048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53996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9875520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explain bucket-and-key storage, catalog metadata, crawler permissions, Athena, medallion zones, and partition pruning.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44568"/>
            <a:ext cx="1572768" cy="585216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4544568"/>
            <a:ext cx="1572768" cy="585216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4544568"/>
            <a:ext cx="1572768" cy="585216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4645152"/>
            <a:ext cx="2505456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4668012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310896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82512"/>
            <a:ext cx="11045952" cy="0"/>
          </a:xfrm>
          <a:prstGeom prst="line">
            <a:avLst/>
          </a:prstGeom>
          <a:ln w="10160">
            <a:solidFill>
              <a:srgbClr val="345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64808"/>
            <a:ext cx="8915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B9C5D2"/>
                </a:solidFill>
                <a:latin typeface="Calibri"/>
              </a:rPr>
              <a:t>Sources: 04-1-s3-deep-dive-resume.txt; 05-1-flow-for-data-analysis-using-glue-catalog-and-glue-crawler.txt; 06-2-glue-catalog-database-and-tables-external-tables.txt; 07-1-crawler-and-iam.txt; 08-1-athena.txt; 09-2-medallion-architecture-and-partitioning.txt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64808"/>
            <a:ext cx="2084831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B9C5D2"/>
                </a:solidFill>
                <a:latin typeface="Calibri"/>
              </a:rPr>
              <a:t>MODULE 09 · AWS DEEP DIVE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2 S3 stores a bucket plus an object key—not real folder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S3</a:t>
            </a:r>
          </a:p>
        </p:txBody>
      </p:sp>
      <p:sp>
        <p:nvSpPr>
          <p:cNvPr id="5" name="Title 12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S3 stores a bucket plus an object key—not real folders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console renders prefixes as folders, but durable addressing is bucket name + full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04-1-s3-deep-dive-resume.txt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BUCKET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Container in the object address.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Created in a selected AWS Region.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Full key includes displayed prefix segments.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Folder navigation is a UI abstraction.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OBJECT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Payload plus metadata.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Naming and current service rules must be verified.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Interview answer: S3 objects are addressed by bucket and key; folders are a console abstraction.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3 Versioning, encryption, policy, lifecycle, and replication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S3 GOVERNANCE</a:t>
            </a:r>
          </a:p>
        </p:txBody>
      </p:sp>
      <p:sp>
        <p:nvSpPr>
          <p:cNvPr id="5" name="Title 13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Versioning, encryption, policy, lifecycle, and replication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These controls protect, govern, retain, transition, or copy objects—but solve different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05111" y="1124712"/>
            <a:ext cx="1880920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32543" y="1147572"/>
            <a:ext cx="18260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04-1-s3-deep-dive-resume.txt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Versioning preserves versions when enabled.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Encryption defaults are mutable.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GOVERN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Bucket policies control allowed access.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Events can trigger downstream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Lifecycle changes storage treatment.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Replication copies by configured rules.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TRANSCRIPT CLAIM — TIME-SENSITIVE: Console labels and encryption defaults reflect recording context. CURRENT SAFETY/COST GUIDANCE: keep Block Public Access, least privilege, and test lifecycle/replication assumptions.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Replication is configured behavior—not proof of tested disaster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4 Analysis flow: S3 → crawler → Catalog → Athena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GLUE CATALOG FLOW</a:t>
            </a:r>
          </a:p>
        </p:txBody>
      </p:sp>
      <p:sp>
        <p:nvSpPr>
          <p:cNvPr id="5" name="Title 14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Analysis flow: S3 → crawler → Catalog → Athena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Data remains in S3; the Catalog provides metadata a query engine can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05-1-flow-for-data-analysis-using-glue-catalog-and-glue-crawler.txt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Objects and prefixes hold the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CRAWLER +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Inspection creates or updates database/table metadata.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ATHENA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SQL uses cataloged definitions to query S3.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Do not say the crawler moves data into the Catalog; it creates or updates metadata.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5 Catalog databases and external tables describe S3 data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GLUE CATALOG</a:t>
            </a:r>
          </a:p>
        </p:txBody>
      </p:sp>
      <p:sp>
        <p:nvSpPr>
          <p:cNvPr id="5" name="Title 15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Catalog databases and external tables describe S3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Deleting metadata and deleting underlying objects are separate actions in the external-table model shown.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06-2-glue-catalog-database-and-tables-external-tables.txt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5385816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49286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4946904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Logical namespace for related tables.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Supports organization and discovery.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1645920"/>
            <a:ext cx="557784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828800"/>
            <a:ext cx="51206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EXTERNAL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286000"/>
            <a:ext cx="5138927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Schema/location point to data outside the Catalog.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Dropping metadata normally does not delete S3 objects.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The recording’s Iceberg deletion aside depends on catalog, table type, and operation semantics. CURRENT SAFETY/COST GUIDANCE — inspect DDL and test destructive operations only in a sandbox.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Metadata and data have separate lifecycles—verify both before destructive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6 Crawler contract: source prefix, IAM role, target databas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7736"/>
                </a:solidFill>
                <a:latin typeface="Calibri"/>
              </a:rPr>
              <a:t>GLUE CRAWLER &amp; IAM</a:t>
            </a:r>
          </a:p>
        </p:txBody>
      </p:sp>
      <p:sp>
        <p:nvSpPr>
          <p:cNvPr id="5" name="Title 16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Crawler contract: source prefix, IAM role, target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A crawler needs permission to inspect data and write discovered metadata to the intended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2249" y="1124712"/>
            <a:ext cx="2373782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9681" y="1147572"/>
            <a:ext cx="231891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07-1-crawler-and-iam.txt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Scope the S3 prefix narrowly.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Allow only required source and Catalog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Choose database and schema-change behavior.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Apply least privilege, prefix exclusions, change policy, and crawler run monitoring.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Avoid crawling unrelated or high-volume prefixes; treat metadata changes as governed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7 Athena runs SQL over S3 through cataloged table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ATHENA</a:t>
            </a:r>
          </a:p>
        </p:txBody>
      </p:sp>
      <p:sp>
        <p:nvSpPr>
          <p:cNvPr id="5" name="Title 17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Athena runs SQL over S3 through cataloged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lesson demonstrates crawler-created definitions, generated DDL, CSV/Parquet access, and unit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08-1-athena.txt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DEFINE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Use Catalog metadata or inspect generated DDL.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Run SQL without first loading a traditional warehouse.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Use targeted queries to check expected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Console flow, engine behavior, features, defaults, and pricing can change; verify current regional behavior.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Use workgroups, encrypted result locations, scan controls, and retention/cleanup.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8 Raw, curated, and aggregated zones encode data maturity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MEDALLION ARCHITECTURE</a:t>
            </a:r>
          </a:p>
        </p:txBody>
      </p:sp>
      <p:sp>
        <p:nvSpPr>
          <p:cNvPr id="5" name="Title 18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Raw, curated, and aggregated zones encode data maturity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transcript separates landing evidence, cleaned data, and consumer-ready outputs.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09-2-medallion-architecture-and-partitioning.txt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Source-aligned landing data supports reprocessing.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CURATED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Cleaned and standardized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AGGREGATED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Business-ready summaries for consumers.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A zone name matters only when its contract, owner, quality, and retention are clear.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9 Partition pruning narrows the data a query must inspect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PARTITIONING</a:t>
            </a:r>
          </a:p>
        </p:txBody>
      </p:sp>
      <p:sp>
        <p:nvSpPr>
          <p:cNvPr id="5" name="Title 19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Partition pruning narrows the data a query must inspect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lesson uses year/month organization to connect physical layout with query filters.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08-1-athena.txt; 09-2-medallion-architecture-and-partitioning.txt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LAYOUT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Choose partition keys that match common predicates.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PRUNING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Relevant values reduce candidate files when metadata and filters align.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TRADE-OFF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Tiny files, excess cardinality, and over-partitioning can hurt.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The recording connects scanned data to Athena charges; verify current pricing and engine behavior.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Partitioning is a query-design choice—not an instruction to partition every column.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0 Secure query access and control scan cost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7736"/>
                </a:solidFill>
                <a:latin typeface="Calibri"/>
              </a:rPr>
              <a:t>QUERY GOVERNANCE</a:t>
            </a:r>
          </a:p>
        </p:txBody>
      </p:sp>
      <p:sp>
        <p:nvSpPr>
          <p:cNvPr id="5" name="Title 20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Secure query access and control scan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Operational guardrails complete the transcript’s Catalog-and-Athena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2249" y="1124712"/>
            <a:ext cx="2373782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9681" y="1147572"/>
            <a:ext cx="231891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07-1-crawler-and-iam.txt; 08-1-athena.txt; 09-2-medallion-architecture-and-partitioning.txt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Grant only required data/actions.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Separate crawler and query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Encrypt result storage.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Apply retention and prevent unintended sharing.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Use columnar formats and filters.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Review scanned bytes and cleanup.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Define ownership for schema changes, query results, retention, alerts, and cleanup.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Govern both source objects and query outputs; either can expose data or accumulate cost.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1 Trace data, metadata, compute, and consumer separately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ARCHITECTURE TRACE</a:t>
            </a:r>
          </a:p>
        </p:txBody>
      </p:sp>
      <p:sp>
        <p:nvSpPr>
          <p:cNvPr id="5" name="Title 21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Trace data, metadata, compute, and consumer separately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A strong explanation follows the record and names what each service does—and does 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05-1-flow-for-data-analysis-using-glue-catalog-and-glue-crawler.txt; 06-2-glue-catalog-database-and-tables-external-tables.txt; 07-1-crawler-and-iam.txt; 08-1-athena.txt; 09-2-medallion-architecture-and-partitioning.txt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S3 URI and medallion zone.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Partition layout and file format.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Catalog database/table/schema.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Crawler role and change behavior.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CONSUMPTION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Athena SQL and result location.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Analyst permissions and query pattern.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Point to the data, point to metadata, then name compute and the permission path.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2 Checkpoint: prove a queryable lake path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9160"/>
                </a:solidFill>
                <a:latin typeface="Calibri"/>
              </a:rPr>
              <a:t>CHECKPOINT · S3 TO ATHENA</a:t>
            </a:r>
          </a:p>
        </p:txBody>
      </p:sp>
      <p:sp>
        <p:nvSpPr>
          <p:cNvPr id="5" name="Title 22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Checkpoint: prove a queryable lake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Stop here: demonstrate the work, explain the design, then apply the pass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87584" y="1124712"/>
            <a:ext cx="1298448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5015" y="11475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04-1-s3-deep-dive-resume.txt; 05-1-flow-for-data-analysis-using-glue-catalog-and-glue-crawler.txt; 06-2-glue-catalog-database-and-tables-external-tables.txt; 07-1-crawler-and-iam.txt; 08-1-athena.txt; 09-2-medallion-architecture-and-partitioning.txt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3581400" cy="358444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68580" cy="358444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Show an S3 object/key, Catalog table metadata, crawler run, and filtered Athena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64208"/>
            <a:ext cx="3581400" cy="358444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64208"/>
            <a:ext cx="68580" cy="358444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Explain external metadata, crawler IAM, medallion zones, partitions, and result storage.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64208"/>
            <a:ext cx="3581400" cy="358444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64208"/>
            <a:ext cx="68580" cy="358444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PASS when the query is reproducible, permissions are scoped, results governed, and cleanup known.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33288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65875"/>
            <a:ext cx="119786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8873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61303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Evidence beats familiarity: capture a result you can reproduce and narrate.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3 Operate Glue Python Shell deliberately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3108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66DC"/>
                </a:solidFill>
                <a:latin typeface="Calibri"/>
              </a:rPr>
              <a:t>SECTION 3</a:t>
            </a:r>
          </a:p>
        </p:txBody>
      </p:sp>
      <p:sp>
        <p:nvSpPr>
          <p:cNvPr id="5" name="Title 23"/>
          <p:cNvSpPr txBox="1"/>
          <p:nvPr/>
        </p:nvSpPr>
        <p:spPr>
          <a:xfrm>
            <a:off x="640080" y="987552"/>
            <a:ext cx="1001268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Operate Glue Python Shell deliberately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31136"/>
            <a:ext cx="1527048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53996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9875520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choose by workload, explain code before running it, manage dependencies and parameters, and diagnose every run from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44568"/>
            <a:ext cx="1572768" cy="585216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4544568"/>
            <a:ext cx="1572768" cy="585216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4544568"/>
            <a:ext cx="1572768" cy="585216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4645152"/>
            <a:ext cx="2505456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4668012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310896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82512"/>
            <a:ext cx="11045952" cy="0"/>
          </a:xfrm>
          <a:prstGeom prst="line">
            <a:avLst/>
          </a:prstGeom>
          <a:ln w="10160">
            <a:solidFill>
              <a:srgbClr val="345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64808"/>
            <a:ext cx="8915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B9C5D2"/>
                </a:solidFill>
                <a:latin typeface="Calibri"/>
              </a:rPr>
              <a:t>Sources: 10-1-glue-python-shell.txt; 11-2-glue-python-shell-extremely-important-information-for-your-interview.txt; 12-3-using-libraries-in-glue-python-shell.txt; 13-4-other-important-properties.txt; 14-5-checking-runs-logs.txt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64808"/>
            <a:ext cx="2084831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B9C5D2"/>
                </a:solidFill>
                <a:latin typeface="Calibri"/>
              </a:rPr>
              <a:t>MODULE 09 · AWS DEEP DIVE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4 Three operating views: Script, Job details, Run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GLUE PYTHON SHELL</a:t>
            </a:r>
          </a:p>
        </p:txBody>
      </p:sp>
      <p:sp>
        <p:nvSpPr>
          <p:cNvPr id="5" name="Title 24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Three operating views: Script, Job details,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lesson asks learners to understand ingestion pseudocode—not merely execute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2249" y="1124712"/>
            <a:ext cx="2373782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9681" y="1147572"/>
            <a:ext cx="231891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10-1-glue-python-shell.txt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Read inputs, transformations, outputs, parameters, and failure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JOB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Review role, runtime, capacity, timeout, libraries, and connections.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Inspect status, arguments, duration, output, and errors.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Use approved AI tools; never expose secrets/proprietary data; verify explanations against code and logs.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If you cannot explain the script in pseudocode, do not claim ownership of the run.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5 Choose Lambda, Python Shell, or Glue Spark by workload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SERVICE SELECTION</a:t>
            </a:r>
          </a:p>
        </p:txBody>
      </p:sp>
      <p:sp>
        <p:nvSpPr>
          <p:cNvPr id="5" name="Title 25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Choose Lambda, Python Shell, or Glue Spark by 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Use runtime, SLA, complexity, memory, parallelism, reliability, and measured cost—not one size cutoff.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11-2-glue-python-shell-extremely-important-information-for-your-interview.txt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LAMBDA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Short event-driven work within current runtime/resource limits.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PYTHON 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Managed Python without distributed Spark.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GLUE SPARK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Distributed processing when workload behavior justifies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Recorded runtime limits and 1 GB / 10 GB engine-size bands are heuristics, not universal rules.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Benchmark representative data; include startup, dependencies, retries, SLA, and total cost.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6 Dependency layers: standard library, managed set, extra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DEPENDENCIES</a:t>
            </a:r>
          </a:p>
        </p:txBody>
      </p:sp>
      <p:sp>
        <p:nvSpPr>
          <p:cNvPr id="5" name="Title 26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Dependency layers: standard library, managed set, extras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transcript separates built-in Python modules, Glue’s library set, and requested packages.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12-3-using-libraries-in-glue-python-shell.txt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Python standard-library modules.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MANAGED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Libraries included by the selected runtime.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EXTRAS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Named packages and versions requested by the job.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Packaged libraries, parameter names, PyPI behavior, and network availability vary by runtime/date.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Inventory every import: source, version, retrieval path, and approval status.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7 Pin, vet, package, and control egres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7736"/>
                </a:solidFill>
                <a:latin typeface="Calibri"/>
              </a:rPr>
              <a:t>DEPENDENCY SAFETY</a:t>
            </a:r>
          </a:p>
        </p:txBody>
      </p:sp>
      <p:sp>
        <p:nvSpPr>
          <p:cNvPr id="5" name="Title 27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Pin, vet, package, and control egress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Reproducible dependencies reduce supply-chain risk and recording-to-runtime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2249" y="1124712"/>
            <a:ext cx="2373782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9681" y="1147572"/>
            <a:ext cx="231891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12-3-using-libraries-in-glue-python-shell.txt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PIN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Use exact reviewed versions and resolved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VET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Scan packages/licenses; prefer approved repositories.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Restrict egress; avoid unreviewed runtime downloads.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Treat dependency provenance, vulnerability review, hashes/SBOM evidence, and rollback as job design.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A script is not reproducible until its dependency path is controlled.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8 DPU, capacity, pricing, and timeout are mutable input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4B4B"/>
                </a:solidFill>
                <a:latin typeface="Calibri"/>
              </a:rPr>
              <a:t>CAPACITY &amp; TIMEOUT</a:t>
            </a:r>
          </a:p>
        </p:txBody>
      </p:sp>
      <p:sp>
        <p:nvSpPr>
          <p:cNvPr id="5" name="Title 28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DPU, capacity, pricing, and timeout are mutable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transcript uses capacity × duration to explain run cost and bounded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13-4-other-important-properties.txt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DPU resources and capacity choices are recording-time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Longer execution consumes more billable capacity in the described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Timeout, retries, and concurrency bound exposure.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Do not universalize DPU specs/fractions/prices, Glue versions, console options, or timeout values.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Check current regional pricing/quotas; bound timeout, retries, concurrency, alarms, and reruns.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29 Externalize job inputs with parameters and connection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PARAMETERS &amp; CONNECTIONS</a:t>
            </a:r>
          </a:p>
        </p:txBody>
      </p:sp>
      <p:sp>
        <p:nvSpPr>
          <p:cNvPr id="5" name="Title 29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Externalize job inputs with parameters and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lesson reads job arguments through Glue utilities such as getResolvedOptions.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13-4-other-important-properties.txt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DEFINE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Name environment-specific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RESOLVE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Pass arguments and resolve them in the script.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Reject missing/invalid values before writing.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Parameterization supports reuse only when validation and idempotency are explicit.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0 Run history and CloudWatch logs are execution evidenc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RUNS &amp; LOGS</a:t>
            </a:r>
          </a:p>
        </p:txBody>
      </p:sp>
      <p:sp>
        <p:nvSpPr>
          <p:cNvPr id="5" name="Title 30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Run history and CloudWatch logs are execution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Status, arguments, duration, capacity, output, and errors connect configuration to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2249" y="1124712"/>
            <a:ext cx="2373782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9681" y="1147572"/>
            <a:ext cx="231891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14-5-checking-runs-logs.txt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Status and timestamps.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Arguments, duration,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Output for progress/context.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Errors and traces for diagnosis.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OPERATE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Metrics, alarms, correlation IDs.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Retention and cost controls.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Redact secrets/PII; use structured context; set retention; alert on failure and abnormal latency.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A job is complete only when its outcome is observable and explainable.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1 Checkpoint: select, configure, run, diagnos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9160"/>
                </a:solidFill>
                <a:latin typeface="Calibri"/>
              </a:rPr>
              <a:t>CHECKPOINT · PYTHON SHELL</a:t>
            </a:r>
          </a:p>
        </p:txBody>
      </p:sp>
      <p:sp>
        <p:nvSpPr>
          <p:cNvPr id="5" name="Title 31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Checkpoint: select, configure, run, 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Stop here: demonstrate the work, explain the design, then apply the pass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87584" y="1124712"/>
            <a:ext cx="1298448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5015" y="11475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10-1-glue-python-shell.txt; 11-2-glue-python-shell-extremely-important-information-for-your-interview.txt; 12-3-using-libraries-in-glue-python-shell.txt; 13-4-other-important-properties.txt; 14-5-checking-runs-logs.txt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3581400" cy="358444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68580" cy="358444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Show script, role, parameters, dependencies, successful run, output, and error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64208"/>
            <a:ext cx="3581400" cy="358444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64208"/>
            <a:ext cx="68580" cy="358444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Explain why Python Shell fits better than Lambda or Spark for the measured workload.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64208"/>
            <a:ext cx="3581400" cy="358444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64208"/>
            <a:ext cx="68580" cy="358444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PASS when dependencies are pinned, inputs validated, reruns safe, logs governed, and cost bounded.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33288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65875"/>
            <a:ext cx="119786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8873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61303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Evidence beats familiarity: capture a result you can reproduce and narrate.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2 Understand Glue Spark beneath the abstraction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3108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07736"/>
                </a:solidFill>
                <a:latin typeface="Calibri"/>
              </a:rPr>
              <a:t>SECTION 4</a:t>
            </a:r>
          </a:p>
        </p:txBody>
      </p:sp>
      <p:sp>
        <p:nvSpPr>
          <p:cNvPr id="5" name="Title 32"/>
          <p:cNvSpPr txBox="1"/>
          <p:nvPr/>
        </p:nvSpPr>
        <p:spPr>
          <a:xfrm>
            <a:off x="640080" y="987552"/>
            <a:ext cx="1001268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Understand Glue Spark beneath the abstraction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31136"/>
            <a:ext cx="152704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53996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9875520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connect notebooks and SparkSession to distributed work, reason about sizing, and use state, scaling, metrics, and UI evidence without memorizing mutable internals.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44568"/>
            <a:ext cx="1572768" cy="585216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4544568"/>
            <a:ext cx="1572768" cy="585216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4544568"/>
            <a:ext cx="1572768" cy="585216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4645152"/>
            <a:ext cx="2505456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4668012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310896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82512"/>
            <a:ext cx="11045952" cy="0"/>
          </a:xfrm>
          <a:prstGeom prst="line">
            <a:avLst/>
          </a:prstGeom>
          <a:ln w="10160">
            <a:solidFill>
              <a:srgbClr val="345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64808"/>
            <a:ext cx="8915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B9C5D2"/>
                </a:solidFill>
                <a:latin typeface="Calibri"/>
              </a:rPr>
              <a:t>Sources: 15-1-make-note-of-these-things.txt; 16-2-glue-spark-deep-concepts.txt; 17-3-glue-spark-worker-types.txt; 18-4-glue-spark-additional-concepts-for-interviews.txt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64808"/>
            <a:ext cx="2084831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B9C5D2"/>
                </a:solidFill>
                <a:latin typeface="Calibri"/>
              </a:rPr>
              <a:t>MODULE 09 · AWS DEEP DIVE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3 Notebook iteration leads to a Spark application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7736"/>
                </a:solidFill>
                <a:latin typeface="Calibri"/>
              </a:rPr>
              <a:t>GLUE SPARK</a:t>
            </a:r>
          </a:p>
        </p:txBody>
      </p:sp>
      <p:sp>
        <p:nvSpPr>
          <p:cNvPr id="5" name="Title 33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Notebook iteration leads to a Spark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transition asks learners to revisit prerequisites, take notes, and prepare for deeper Spark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15-1-make-note-of-these-things.txt; 16-2-glue-spark-deep-concepts.txt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Explore and iterate interactively.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SPARKSESSION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Application entry point for DataFrame 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Package repeatable logic and observe execution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Notebook convenience does not remove the need to understand the application runtime.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4 Driver, executors, and workers divide responsibility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7736"/>
                </a:solidFill>
                <a:latin typeface="Calibri"/>
              </a:rPr>
              <a:t>SPARK RUNTIME</a:t>
            </a:r>
          </a:p>
        </p:txBody>
      </p:sp>
      <p:sp>
        <p:nvSpPr>
          <p:cNvPr id="5" name="Title 34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Driver, executors, and workers divide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Use the teaching model to explain coordination versus distributed task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16-2-glue-spark-deep-concepts.txt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Coordinates the application, plans work, and tracks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EXECUTORS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Run distributed tasks and hold working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WORKERS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Managed compute capacity hosting runtime processes.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Exact minimum workers, driver placement, and executor-per-worker topology vary by Glue/runtime choice.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Use Spark UI and metrics to verify behavior; a teaching diagram is not universal internals.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5 Glue simplifies Spark; EMR exposes more cluster control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SERVICE ABSTRACTION</a:t>
            </a:r>
          </a:p>
        </p:txBody>
      </p:sp>
      <p:sp>
        <p:nvSpPr>
          <p:cNvPr id="5" name="Title 35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Glue simplifies Spark; EMR exposes more cluster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transcript separates managed Glue decisions from deeper Spark tuning on configurable clusters.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16-2-glue-spark-deep-concepts.txt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5385816" cy="3822191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822191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49286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GLUE 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4946904" cy="30723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Managed job abstraction.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Worker-oriented configuration.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Fewer cluster-management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1645920"/>
            <a:ext cx="5577840" cy="3822191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645920"/>
            <a:ext cx="68580" cy="3822191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828800"/>
            <a:ext cx="51206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EMR 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286000"/>
            <a:ext cx="5138927" cy="3072384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More cluster/runtime configuration.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Useful when deeper control is required.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Broader operations knowledge needed.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Managed does not mean unknowable; it changes which controls you own directly.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6 Scale out, scale up, or optimize the work first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7736"/>
                </a:solidFill>
                <a:latin typeface="Calibri"/>
              </a:rPr>
              <a:t>WORKER SIZING</a:t>
            </a:r>
          </a:p>
        </p:txBody>
      </p:sp>
      <p:sp>
        <p:nvSpPr>
          <p:cNvPr id="5" name="Title 36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Scale out, scale up, or optimize the work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lesson distinguishes changing worker count from choosing a larger worker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17-3-glue-spark-worker-types.txt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SCALE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Increase count when parallel work can use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SCALE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Choose larger workers when per-task pressure justifies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OPTIMIZE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Address skew, partitions, shuffles, file layout, and code.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Worker families, vCPU/RAM/DPU specifications, implementation, and prices are mutable.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start small; measure utilization, skew, memory, duration, and cost.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7 Worker topology and DPU price are recording-time claim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4B4B"/>
                </a:solidFill>
                <a:latin typeface="Calibri"/>
              </a:rPr>
              <a:t>COST MODEL</a:t>
            </a:r>
          </a:p>
        </p:txBody>
      </p:sp>
      <p:sp>
        <p:nvSpPr>
          <p:cNvPr id="5" name="Title 37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Worker topology and DPU price are recording-time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Use capacity × duration conceptually, but source every current numeric value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16-2-glue-spark-deep-concepts.txt; 17-3-glue-spark-worker-types.txt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5385816" cy="3401568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49286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C84B4B"/>
                </a:solidFill>
                <a:latin typeface="Calibri"/>
              </a:rPr>
              <a:t>RECORDING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4946904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Worker type contributes capacity.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Count multiplies provisioned capacity.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Duration converts capacity to consumption.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1645920"/>
            <a:ext cx="557784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828800"/>
            <a:ext cx="51206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DECISION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286000"/>
            <a:ext cx="5138927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Current region/version pricing.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Observed DPU-hours and elapsed time.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Success, retries, SLA, downstream impact.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Do not repeat recorded DPU prices/specs or worker internals as timeless AWS facts.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compare successful-run cost across sizing and code/layout changes.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8 Let workload evidence drive capacity change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AUTO SCALING &amp; METRICS</a:t>
            </a:r>
          </a:p>
        </p:txBody>
      </p:sp>
      <p:sp>
        <p:nvSpPr>
          <p:cNvPr id="5" name="Title 38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Let workload evidence drive capacity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transcript connects Auto Scaling and Glue metrics to performance and cost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18-4-glue-spark-additional-concepts-for-interviews.txt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Runtime, utilization, memory, skew, DPU-hours.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One controlled sizing or optimization variable.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Reliability, SLA, and successful-run cost.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Auto Scaling eligibility, controls, defaults, and behavior depend on current Glue/runtime support.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preserve before/after metrics and terminate idle sessions.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39 Bookmarks, Flex, and schedules solve different problem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STATE &amp; SCHEDULING</a:t>
            </a:r>
          </a:p>
        </p:txBody>
      </p:sp>
      <p:sp>
        <p:nvSpPr>
          <p:cNvPr id="5" name="Title 39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Bookmarks, Flex, and schedules solve different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lesson treats bookmarks as incremental state and Flex as a cost/SLA trade-off.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18-4-glue-spark-additional-concepts-for-interviews.txt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BOOKMARK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Tracks processed state when configured correctly; semantics depend on source/keys.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FLEX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Recording describes spare-capacity execution for forgiving workloads.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Glue scheduling and broader orchestration have different scopes.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Bookmark behavior, Flex eligibility/SLA, scheduling UI, and defaults can change.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validate keys/reset behavior and make incremental writes idempotent.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0 Version, timeout, Spark UI, workflow, and visual ETL context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4B4B"/>
                </a:solidFill>
                <a:latin typeface="Calibri"/>
              </a:rPr>
              <a:t>VERSIONS &amp; DIAGNOSTICS</a:t>
            </a:r>
          </a:p>
        </p:txBody>
      </p:sp>
      <p:sp>
        <p:nvSpPr>
          <p:cNvPr id="5" name="Title 40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Version, timeout, Spark UI, workflow, and visual ETL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transcript surveys advanced properties and positions Spark UI as deeper execution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18-4-glue-spark-additional-concepts-for-interviews.txt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C84B4B"/>
                </a:solidFill>
                <a:latin typeface="Calibri"/>
              </a:rPr>
              <a:t>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Recorded latest version, defaults, and maximum times are date-bound.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DIAGNOSTICS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Metrics and Spark UI expose jobs, stages, tasks, storage, and executors.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AUTHORING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Scripts, Glue workflows, schedules, and visual ETL differ in scope.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Do not universalize Glue versions/timeouts, workflow limits, visual tooling, or console comparisons.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verify support; preserve evidence; choose tooling from requirements.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1 Checkpoint: prove topology, sizing, state, and evidenc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9160"/>
                </a:solidFill>
                <a:latin typeface="Calibri"/>
              </a:rPr>
              <a:t>CHECKPOINT · GLUE SPARK</a:t>
            </a:r>
          </a:p>
        </p:txBody>
      </p:sp>
      <p:sp>
        <p:nvSpPr>
          <p:cNvPr id="5" name="Title 41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Checkpoint: prove topology, sizing, state, and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Stop here: demonstrate the work, explain the design, then apply the pass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87584" y="1124712"/>
            <a:ext cx="1298448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5015" y="11475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15-1-make-note-of-these-things.txt; 16-2-glue-spark-deep-concepts.txt; 17-3-glue-spark-worker-types.txt; 18-4-glue-spark-additional-concepts-for-interviews.txt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3581400" cy="358444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68580" cy="358444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Show Spark code, worker settings, run metrics/logs, and one Spark UI observation.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64208"/>
            <a:ext cx="3581400" cy="358444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64208"/>
            <a:ext cx="68580" cy="358444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Explain driver/executor roles, sizing, bookmarks, Auto Scaling, Flex, and version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64208"/>
            <a:ext cx="3581400" cy="358444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64208"/>
            <a:ext cx="68580" cy="358444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PASS when mutable claims are dated, sizing measured, reruns safe, and tuning evidenced.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33288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65875"/>
            <a:ext cx="119786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8873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61303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Evidence beats familiarity: capture a result you can reproduce and narrate.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2 Orchestrate outcomes and notify consumer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3108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9160"/>
                </a:solidFill>
                <a:latin typeface="Calibri"/>
              </a:rPr>
              <a:t>SECTION 5</a:t>
            </a:r>
          </a:p>
        </p:txBody>
      </p:sp>
      <p:sp>
        <p:nvSpPr>
          <p:cNvPr id="5" name="Title 42"/>
          <p:cNvSpPr txBox="1"/>
          <p:nvPr/>
        </p:nvSpPr>
        <p:spPr>
          <a:xfrm>
            <a:off x="640080" y="987552"/>
            <a:ext cx="10012680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Orchestrate outcomes and notify consumers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31136"/>
            <a:ext cx="1527048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53996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9875520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You will sequence three Glue jobs, define success/failure paths, separate control from SNS delivery, and add retries, IAM, and privacy guardrails.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44568"/>
            <a:ext cx="1572768" cy="585216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4544568"/>
            <a:ext cx="1572768" cy="585216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681728"/>
            <a:ext cx="3017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4544568"/>
            <a:ext cx="1572768" cy="585216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4736592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4645152"/>
            <a:ext cx="2505456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4668012"/>
            <a:ext cx="24505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310896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82512"/>
            <a:ext cx="11045952" cy="0"/>
          </a:xfrm>
          <a:prstGeom prst="line">
            <a:avLst/>
          </a:prstGeom>
          <a:ln w="10160">
            <a:solidFill>
              <a:srgbClr val="3450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64808"/>
            <a:ext cx="8915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B9C5D2"/>
                </a:solidFill>
                <a:latin typeface="Calibri"/>
              </a:rPr>
              <a:t>Sources: 19-step-functions-state-machines.txt; 20-simple-notification-service.txt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64808"/>
            <a:ext cx="2084831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B9C5D2"/>
                </a:solidFill>
                <a:latin typeface="Calibri"/>
              </a:rPr>
              <a:t>MODULE 09 · AWS DEEP DIVE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3 State machine: ingestion → curated → aggregated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9160"/>
                </a:solidFill>
                <a:latin typeface="Calibri"/>
              </a:rPr>
              <a:t>STEP FUNCTIONS</a:t>
            </a:r>
          </a:p>
        </p:txBody>
      </p:sp>
      <p:sp>
        <p:nvSpPr>
          <p:cNvPr id="5" name="Title 43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State machine: ingestion → curated → aggregated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lesson sequences three Glue jobs and branches to notifications based on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19-step-functions-state-machines.txt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Load source data into raw.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CURATE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Clean and standardize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AGGREGATE + NOTIFY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Produce output; route success or failure to SNS.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The state machine coordinates jobs; it does not replace idempotency inside each job.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4 ASL, IAM, timeout, retry, catch, and idempotency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9160"/>
                </a:solidFill>
                <a:latin typeface="Calibri"/>
              </a:rPr>
              <a:t>RELIABLE ORCHESTRATION</a:t>
            </a:r>
          </a:p>
        </p:txBody>
      </p:sp>
      <p:sp>
        <p:nvSpPr>
          <p:cNvPr id="5" name="Title 44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ASL, IAM, timeout, retry, catch, and idempotency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designer and generated definition are interfaces; reliability comes from explicit state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2249" y="1124712"/>
            <a:ext cx="2373782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9681" y="1147572"/>
            <a:ext cx="231891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19-step-functions-state-machines.txt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DEFINE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Name states, integrations, inputs/outputs, and terminal outcomes.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PERMIT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Allow only required jobs and approved topics.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RECOVER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Set timeout, bounded retry/backoff, catch, and safe reruns.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Redact execution data; consider payload size and current Standard/Express behavior and pricing.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Every failure needs an owner, bounded response, and safe replay story.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5 SNS pub/sub separates publishers from subscriber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9160"/>
                </a:solidFill>
                <a:latin typeface="Calibri"/>
              </a:rPr>
              <a:t>SNS</a:t>
            </a:r>
          </a:p>
        </p:txBody>
      </p:sp>
      <p:sp>
        <p:nvSpPr>
          <p:cNvPr id="5" name="Title 45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SNS pub/sub separates publishers from subscribers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The transcript uses topics and email subscriptions for state-machine success/failure notifications.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20-simple-notification-service.txt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Named distribution channel for messages.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PUBLISHER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State machine emits success or failure.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SUBSCRIBER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Confirmed endpoint receives according to protocol behavior.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Topic types, protocols, capabilities, defaults, and console steps reflect recording-time behavior.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restrict policy, confirm endpoints, avoid sensitive payloads, manage alert fatigue.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6 Checkpoint: prove control flow and notification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9160"/>
                </a:solidFill>
                <a:latin typeface="Calibri"/>
              </a:rPr>
              <a:t>CHECKPOINT · ORCHESTRATION</a:t>
            </a:r>
          </a:p>
        </p:txBody>
      </p:sp>
      <p:sp>
        <p:nvSpPr>
          <p:cNvPr id="5" name="Title 46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Checkpoint: prove control flow and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Stop here: demonstrate the work, explain the design, then apply the pass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87584" y="1124712"/>
            <a:ext cx="1298448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5015" y="11475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19-step-functions-state-machines.txt; 20-simple-notification-service.txt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64208"/>
            <a:ext cx="3581400" cy="358444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64208"/>
            <a:ext cx="68580" cy="358444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Show one successful execution and one safely induced failure reaching expected SNS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64208"/>
            <a:ext cx="3581400" cy="358444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64208"/>
            <a:ext cx="68580" cy="358444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Explain state data, IAM, timeout, retry/backoff, catch, idempotency, and confirmation.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64208"/>
            <a:ext cx="3581400" cy="358444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64208"/>
            <a:ext cx="68580" cy="358444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47088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304288"/>
            <a:ext cx="3142488" cy="2834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PASS when paths are traceable, payloads non-sensitive, retries bounded, and alerts actionable.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33288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65875"/>
            <a:ext cx="1197864" cy="274320"/>
          </a:xfrm>
          <a:prstGeom prst="round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8873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61303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Evidence beats familiarity: capture a result you can reproduce and narrate.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7 One architecture, five explicit responsibility boundaries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END-TO-END ARCHITECTURE</a:t>
            </a:r>
          </a:p>
        </p:txBody>
      </p:sp>
      <p:sp>
        <p:nvSpPr>
          <p:cNvPr id="5" name="Title 47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One architecture, five explicit responsibility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Use this map to explain the happy path and the controls around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2249" y="1124712"/>
            <a:ext cx="2373782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9681" y="1147572"/>
            <a:ext cx="231891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04-1-s3-deep-dive-resume.txt; 05-1-flow-for-data-analysis-using-glue-catalog-and-glue-crawler.txt; 09-2-medallion-architecture-and-partitioning.txt; 10-1-glue-python-shell.txt; 16-2-glue-spark-deep-concepts.txt; 19-step-functions-state-machines.txt; 20-simple-notification-service.txt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DATA &amp;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S3 zones, keys, partitions.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Crawler and Catalog definitions.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E07736"/>
                </a:solidFill>
                <a:latin typeface="Calibri"/>
              </a:rPr>
              <a:t>COMPUTE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Athena for SQL.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Python Shell or Spark by workload.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Step Functions sequencing.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SNS outcomes; IAM, retries, logs.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FF1E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E07736"/>
          </a:solidFill>
          <a:ln w="1016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CURRENT SAFETY/COST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For production define ownership, SLOs, data quality, lineage, retention, privacy, and change control.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Architecture quality is visible at boundaries: contracts, permissions, evidence, recovery.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8 Tell the project as decisions—not a service inventory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INTERVIEW READINESS</a:t>
            </a:r>
          </a:p>
        </p:txBody>
      </p:sp>
      <p:sp>
        <p:nvSpPr>
          <p:cNvPr id="5" name="Title 48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Tell the project as decisions—not a service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Connect requirements, alternatives, implementation, evidence, and trade-offs.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11-2-glue-python-shell-extremely-important-information-for-your-interview.txt; 16-2-glue-spark-deep-concepts.txt; 17-3-glue-spark-worker-types.txt; 18-4-glue-spark-additional-concepts-for-interviews.txt; 19-step-functions-state-machines.txt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SITUATION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Data, cadence, SLA, consumers, constraints.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Service decisions, code, IAM, state, controls, trade-offs.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Quality, runtime, cost, reliability, and measured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Say “in this workload” before a heuristic and date every mutable AWS fact.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49 Finish the labs, deepen tuning, and close the feedback loop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C66DC"/>
                </a:solidFill>
                <a:latin typeface="Calibri"/>
              </a:rPr>
              <a:t>CAREER NEXT STEPS</a:t>
            </a:r>
          </a:p>
        </p:txBody>
      </p:sp>
      <p:sp>
        <p:nvSpPr>
          <p:cNvPr id="5" name="Title 49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Finish the labs, deepen tuning, and close the feedback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Final transcripts direct learners to hands-on completion, performance/cost depth, orchestration, and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0205" y="1124712"/>
            <a:ext cx="2725826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7637" y="1147572"/>
            <a:ext cx="26709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21-where-do-you-go-next.txt; 22-help-me-help-you.txt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401568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40156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REPLICATE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Complete labs and retain screenshots, logs, commands, and run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401568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40156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DEEPEN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Study Spark performance, cost, and event-driven orchestration from measurements.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40156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401568"/>
          </a:xfrm>
          <a:prstGeom prst="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C66DC"/>
                </a:solidFill>
                <a:latin typeface="Calibri"/>
              </a:rPr>
              <a:t>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651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Write the architecture story, request feedback, and improve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183112" cy="493776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5266944"/>
            <a:ext cx="2487168" cy="274320"/>
          </a:xfrm>
          <a:prstGeom prst="roundRect">
            <a:avLst/>
          </a:prstGeom>
          <a:solidFill>
            <a:srgbClr val="C84B4B"/>
          </a:solidFill>
          <a:ln w="10160">
            <a:solidFill>
              <a:srgbClr val="C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9804"/>
            <a:ext cx="2432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FFFFFF"/>
                </a:solidFill>
                <a:latin typeface="Calibri"/>
              </a:rPr>
              <a:t>TRANSCRIPT CLAIM — TIME-SENSITIVE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253228"/>
            <a:ext cx="8101583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4233E"/>
                </a:solidFill>
                <a:latin typeface="Calibri"/>
              </a:rPr>
              <a:t>LMS names/order, links, form availability, and elapsed teaching-experience claims can change.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2C66DC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CURRENT SAFETY/COST GUIDANCE — clean up labs and verify current service docs/pricing.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50 Coverage map: prove the module in one conversation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B96"/>
                </a:solidFill>
                <a:latin typeface="Calibri"/>
              </a:rPr>
              <a:t>COVERAGE &amp; SYNTHESIS</a:t>
            </a:r>
          </a:p>
        </p:txBody>
      </p:sp>
      <p:sp>
        <p:nvSpPr>
          <p:cNvPr id="5" name="Title 50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Coverage map: prove the module in one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Use these prompts to verify the complete transcript arc.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6337" y="1124712"/>
            <a:ext cx="166969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3769" y="1147572"/>
            <a:ext cx="161483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Sources: all 21 TXT transcripts · exact inventory on slides 51–53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645920"/>
            <a:ext cx="3581400" cy="361188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68580" cy="3611880"/>
          </a:xfrm>
          <a:prstGeom prst="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009B96"/>
                </a:solidFill>
                <a:latin typeface="Calibri"/>
              </a:rP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Role, accounts, environments, CLI, cost.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S3 object/governance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775" y="1645920"/>
            <a:ext cx="3581400" cy="3611880"/>
          </a:xfrm>
          <a:prstGeom prst="roundRect">
            <a:avLst/>
          </a:prstGeom>
          <a:solidFill>
            <a:srgbClr val="F1EC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775" y="1645920"/>
            <a:ext cx="68580" cy="3611880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0664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6F52B8"/>
                </a:solidFill>
                <a:latin typeface="Calibri"/>
              </a:rPr>
              <a:t>LAKE &amp;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3232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Crawler, Catalog, Athena, medallion, partitions.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Python Shell and Spark operation.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632" y="1645920"/>
            <a:ext cx="3581400" cy="3611880"/>
          </a:xfrm>
          <a:prstGeom prst="roundRect">
            <a:avLst/>
          </a:prstGeom>
          <a:solidFill>
            <a:srgbClr val="EAF6E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4632" y="1645920"/>
            <a:ext cx="68580" cy="3611880"/>
          </a:xfrm>
          <a:prstGeom prst="rect">
            <a:avLst/>
          </a:prstGeom>
          <a:solidFill>
            <a:srgbClr val="2A9160"/>
          </a:solidFill>
          <a:ln w="1016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520" y="1828800"/>
            <a:ext cx="31242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>
                <a:solidFill>
                  <a:srgbClr val="2A9160"/>
                </a:solidFill>
                <a:latin typeface="Calibri"/>
              </a:rPr>
              <a:t>CONTROL &amp; CAREER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286000"/>
            <a:ext cx="3142488" cy="2862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Step Functions, SNS, reliability.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30">
                <a:solidFill>
                  <a:srgbClr val="556377"/>
                </a:solidFill>
                <a:latin typeface="Calibri"/>
              </a:rPr>
              <a:t>• Architecture story and next steps.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" y="5875020"/>
            <a:ext cx="1197864" cy="274320"/>
          </a:xfrm>
          <a:prstGeom prst="roundRect">
            <a:avLst/>
          </a:prstGeom>
          <a:solidFill>
            <a:srgbClr val="009B96"/>
          </a:solidFill>
          <a:ln w="1016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9788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7044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If an answer lacks source, date, evidence, or boundary, refine it before presenting.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51 Exact transcript source index — Part 1 of 3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SOURCE INDEX</a:t>
            </a:r>
          </a:p>
        </p:txBody>
      </p:sp>
      <p:sp>
        <p:nvSpPr>
          <p:cNvPr id="5" name="Title 51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Exact transcript source index — Part 1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Seven exact TXT basenames, preserved in source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57155" y="1124712"/>
            <a:ext cx="1528876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4587" y="1147572"/>
            <a:ext cx="14740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SOURCE INVENTORY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Module 09 transcripts directory · exact TXT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554480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1682495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1705355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1664207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01-1-i-am-a-cloud-data-architect-resume.txt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2176272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2304288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327148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286000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02-2-accounts-in-real-world-aws-learning-investment-budgets-aws-cli-resume.txt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2798064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2926080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2948940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2907792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04-1-s3-deep-dive-resume.txt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3419856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3547872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3570732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" y="3529584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05-1-flow-for-data-analysis-using-glue-catalog-and-glue-crawler.txt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" y="4041648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4169663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4192524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5608" y="4151376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06-2-glue-catalog-database-and-tables-external-tables.txt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" y="4663440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3232" y="4791455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" y="4814316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5608" y="4773168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07-1-crawler-and-iam.txt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" y="5285231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3232" y="5413247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5436107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394959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08-1-athena.txt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92531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605790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" y="608076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605332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Inventory 01–07 of 21 · filenames are exact.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52 Exact transcript source index — Part 2 of 3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SOURCE INDEX</a:t>
            </a:r>
          </a:p>
        </p:txBody>
      </p:sp>
      <p:sp>
        <p:nvSpPr>
          <p:cNvPr id="5" name="Title 52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Exact transcript source index — Part 2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Seven exact TXT basenames, preserved in source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57155" y="1124712"/>
            <a:ext cx="1528876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4587" y="1147572"/>
            <a:ext cx="14740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SOURCE INVENTORY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Module 09 transcripts directory · exact TXT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554480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1682495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1705355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1664207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09-2-medallion-architecture-and-partitioning.txt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2176272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2304288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327148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286000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10-1-glue-python-shell.txt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2798064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2926080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2948940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2907792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11-2-glue-python-shell-extremely-important-information-for-your-interview.txt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3419856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3547872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3570732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" y="3529584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12-3-using-libraries-in-glue-python-shell.txt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" y="4041648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4169663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4192524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5608" y="4151376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13-4-other-important-properties.txt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" y="4663440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3232" y="4791455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" y="4814316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5608" y="4773168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14-5-checking-runs-logs.txt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" y="5285231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3232" y="5413247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5436107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394959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15-1-make-note-of-these-things.txt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92531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605790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" y="608076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605332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Inventory 08–14 of 21 · filenames are exact.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53 Exact transcript source index — Part 3 of 3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"/>
            <a:ext cx="8321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52B8"/>
                </a:solidFill>
                <a:latin typeface="Calibri"/>
              </a:rPr>
              <a:t>SOURCE INDEX</a:t>
            </a:r>
          </a:p>
        </p:txBody>
      </p:sp>
      <p:sp>
        <p:nvSpPr>
          <p:cNvPr id="5" name="Title 53"/>
          <p:cNvSpPr txBox="1"/>
          <p:nvPr/>
        </p:nvSpPr>
        <p:spPr>
          <a:xfrm>
            <a:off x="502920" y="548640"/>
            <a:ext cx="104698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20" b="1">
                <a:solidFill>
                  <a:srgbClr val="14233E"/>
                </a:solidFill>
                <a:latin typeface="Calibri"/>
              </a:rPr>
              <a:t>Exact transcript source index — Part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07040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6377"/>
                </a:solidFill>
                <a:latin typeface="Calibri"/>
              </a:rPr>
              <a:t>Seven exact TXT basenames, preserved in source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56032"/>
            <a:ext cx="566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33E"/>
                </a:solidFill>
                <a:latin typeface="Calibri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57155" y="1124712"/>
            <a:ext cx="1528876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4587" y="1147572"/>
            <a:ext cx="14740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alibri"/>
              </a:rPr>
              <a:t>SOURCE INVENTORY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83112" cy="0"/>
          </a:xfrm>
          <a:prstGeom prst="line">
            <a:avLst/>
          </a:prstGeom>
          <a:ln w="10160">
            <a:solidFill>
              <a:srgbClr val="D7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9672"/>
            <a:ext cx="918972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556377"/>
                </a:solidFill>
                <a:latin typeface="Calibri"/>
              </a:rPr>
              <a:t>Source: Module 09 transcripts directory · exact TXT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519672"/>
            <a:ext cx="19933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56377"/>
                </a:solidFill>
                <a:latin typeface="Calibri"/>
              </a:rPr>
              <a:t>MODULE 09 · AWS DEEP 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554480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1682495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1705355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1664207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16-2-glue-spark-deep-concepts.txt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2176272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2304288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327148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286000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17-3-glue-spark-worker-types.txt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2798064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2926080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2948940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2907792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18-4-glue-spark-additional-concepts-for-interviews.txt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3419856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3547872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3570732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8" y="3529584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19-step-functions-state-machines.txt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" y="4041648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4169663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4192524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5608" y="4151376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20-simple-notification-service.txt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" y="4663440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3232" y="4791455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" y="4814316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5608" y="4773168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21-where-do-you-go-next.txt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" y="5285231"/>
            <a:ext cx="11018520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3232" y="5413247"/>
            <a:ext cx="576072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5436107"/>
            <a:ext cx="5212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FFFFFF"/>
                </a:solidFill>
                <a:latin typeface="Calibri"/>
              </a:rPr>
              <a:t>T21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394959"/>
            <a:ext cx="9921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233E"/>
                </a:solidFill>
                <a:latin typeface="Calibri"/>
              </a:rPr>
              <a:t>22-help-me-help-you.txt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925312"/>
            <a:ext cx="11183112" cy="539496"/>
          </a:xfrm>
          <a:prstGeom prst="roundRect">
            <a:avLst/>
          </a:prstGeom>
          <a:solidFill>
            <a:srgbClr val="0B1F33"/>
          </a:solidFill>
          <a:ln w="1016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6057900"/>
            <a:ext cx="1197864" cy="274320"/>
          </a:xfrm>
          <a:prstGeom prst="roundRect">
            <a:avLst/>
          </a:prstGeom>
          <a:solidFill>
            <a:srgbClr val="6F52B8"/>
          </a:solidFill>
          <a:ln w="1016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" y="608076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6053328"/>
            <a:ext cx="930859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Calibri"/>
              </a:rPr>
              <a:t>Inventory 15–21 of 21 · filenames are exact.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