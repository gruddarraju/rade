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640080"/>
            <a:ext cx="1920240" cy="192024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9966960" y="3108960"/>
            <a:ext cx="1143000" cy="1143000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7818120" y="4206240"/>
            <a:ext cx="2560320" cy="2560320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00" b="1">
                <a:solidFill>
                  <a:srgbClr val="009191"/>
                </a:solidFill>
                <a:latin typeface="Calibri"/>
              </a:rPr>
              <a:t>RADE • PHASE 1 • 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7498079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3800" b="1">
                <a:solidFill>
                  <a:srgbClr val="FFFFFF"/>
                </a:solidFill>
                <a:latin typeface="Calibri"/>
              </a:rPr>
              <a:t>SQL &amp; RDS
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6858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100" b="0">
                <a:solidFill>
                  <a:srgbClr val="CDDAEA"/>
                </a:solidFill>
                <a:latin typeface="Calibri"/>
              </a:rPr>
              <a:t>From your first SELECT to a safe, real-world AWS database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69080"/>
            <a:ext cx="6446520" cy="1024128"/>
          </a:xfrm>
          <a:prstGeom prst="roundRect">
            <a:avLst/>
          </a:prstGeom>
          <a:solidFill>
            <a:srgbClr val="1D3354"/>
          </a:solidFill>
          <a:ln w="10160">
            <a:solidFill>
              <a:srgbClr val="1D3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FFFFFF"/>
                </a:solidFill>
                <a:latin typeface="Calibri"/>
              </a:rPr>
              <a:t>SET UP → QUERY → REASON → TEAR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144768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100" b="0">
                <a:solidFill>
                  <a:srgbClr val="ABBBD0"/>
                </a:solidFill>
                <a:latin typeface="Calibri"/>
              </a:rPr>
              <a:t>Detailed beginner deck • 21 TXT transcripts • VTT ignored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ABBBD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How to read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05-0-sql-rds-fundamentals-intro.txt • 28-4-review-what-next.txt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TRANSCRIPT-DERIVED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Concepts and steps reconstructed from the 21 TXT captions; caption errors are normalized.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CURRENT SAFETY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Modern guardrails added for secrets, public access, IAM, cost awareness, and teardown.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CODE YOU CAN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PostgreSQL-style examples use the transcript’s retail domain but are presented cleanly and explicitly.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CHECKPOINTS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Pause, predict, run, explain, and clean up. Confidence comes from repeated small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Course roadmap: three connected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05-0-sql-rds-fundamentals-intro.txt • 28-4-review-what-next.txt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3572256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316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Provision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316992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Create a disposable Aurora practice database and connect with a query tool.</a:t>
            </a:r>
          </a:p>
        </p:txBody>
      </p:sp>
      <p:sp>
        <p:nvSpPr>
          <p:cNvPr id="15" name="Chevron 14"/>
          <p:cNvSpPr/>
          <p:nvPr/>
        </p:nvSpPr>
        <p:spPr>
          <a:xfrm>
            <a:off x="4066031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303776" y="1828800"/>
            <a:ext cx="3572256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4486656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486656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4944" y="2057400"/>
            <a:ext cx="316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4944" y="2651760"/>
            <a:ext cx="316992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Build a compact SQL skill base: filtering, aggregation, constraints, joins, and quality.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2880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0624" y="1828800"/>
            <a:ext cx="3572256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8223503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223503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792" y="2057400"/>
            <a:ext cx="316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Connect dots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2651760"/>
            <a:ext cx="316992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Relate operational databases to warehouses, lakes, RDS, teams, and real pipelines.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Beginner route: 1 → 2 → 3. SQL refresher route: complete the setup, skim Section 2 checkpoints, then continue to Section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1911A"/>
          </a:solidFill>
          <a:ln>
            <a:solidFill>
              <a:srgbClr val="C1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C1911A"/>
                </a:solidFill>
                <a:latin typeface="Calibri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Source boundary and 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C1911A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05-0-sql-rds-fundamentals-intro.txt • 07-1-part-1-set-up-aurora-db.txt • 11-5-teardown-database.txt • 18-5-aggregations.txt • 22-85-assignment-on-data-quality.txt • 28-4-review-what-next.txt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All 21 local TXT transcripts were used. Their matching VTT files were intentionally ignored.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NOT 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Lesson setup/teardown scripts, assignment sheets, solutions, PDFs, and linked resources were not found.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DISCLOSURE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RECONSTRUCTED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Shell and SQL snippets here illustrate the narrated workflow; they are not copies of absent lesson files.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CURRENT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UI MAY MOVE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AWS Console and pgAdmin screens change. Follow the intent and field names—not pixel-perfect clicks.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00" b="1">
                <a:solidFill>
                  <a:srgbClr val="009191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Build a safe practice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97480"/>
            <a:ext cx="987552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000" b="0">
                <a:solidFill>
                  <a:srgbClr val="C9D5E4"/>
                </a:solidFill>
                <a:latin typeface="Calibri"/>
              </a:rPr>
              <a:t>Learn the complete lifecycle: prepare, provision, connect, verify, tear down, and reconnect.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224528"/>
            <a:ext cx="10652760" cy="1097280"/>
          </a:xfrm>
          <a:prstGeom prst="roundRect">
            <a:avLst/>
          </a:prstGeom>
          <a:solidFill>
            <a:srgbClr val="1C3050"/>
          </a:solidFill>
          <a:ln w="10160">
            <a:solidFill>
              <a:srgbClr val="1C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87552" y="44622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BEGINNER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370832"/>
            <a:ext cx="8138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Every concept is tied to a concrete action, query, or architecture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50" b="0">
                <a:solidFill>
                  <a:srgbClr val="ABBBD0"/>
                </a:solidFill>
                <a:latin typeface="Calibri"/>
              </a:rPr>
              <a:t>Sources: 07-1-part-1-set-up-aurora-db.txt • 08-2-part-2-set-up-aurora-db.txt • 09-3-install-pgadmin-if-you-are-able-to.txt • 10-4-set-up-pgadmin-if-you-are-able-to-optional.txt • 11-5-teardown-database.txt • 12-6-reconnect-to-a-new-instance-of-aurora.txt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ABBBD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The disposable database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07-1-part-1-set-up-aurora-db.txt • 08-2-part-2-set-up-aurora-db.txt • 10-4-set-up-pgadmin-if-you-are-able-to-optional.txt • 11-5-teardown-database.txt • 12-6-reconnect-to-a-new-instance-of-aurora.txt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Choose a sandbox account/region, locate lesson assets, and set a small budget alert.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Provision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Use the narrated CloudShell flow to launch the supplied setup script.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Verify in RDS Query Editor; optionally add the endpoint in pgAdmin.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Destroy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Run teardown, confirm deletion, then recreate only when you are ready to practice.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The transcript demonstrates scripts that are not in this workspace. Never run an unknown script before reading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Before you create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07-1-part-1-set-up-aurora-db.txt • 08-2-part-2-set-up-aurora-db.txt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Use a training/sandbox account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Confirm the AWS Region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Know who owns cleanup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CURRENT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Start with least privilege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Avoid daily root-user use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Do not weaken policies to ‘make it work’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C1911A"/>
          </a:solidFill>
          <a:ln>
            <a:solidFill>
              <a:srgbClr val="C1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C1911A"/>
                </a:solidFill>
                <a:latin typeface="Calibri"/>
              </a:rPr>
              <a:t>CURRENT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C1911A"/>
                </a:solidFill>
                <a:latin typeface="Calibri"/>
              </a:rP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Set a budget/alert first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Record start time and resource names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Plan teardown before setup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CURRENT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SECRETS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Never paste passwords into slides/chat/repos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Use disposable training credentials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Prefer managed secret storage in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Recorded CloudShell flow—use placeholders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07-1-part-1-set-up-aurora-db.txt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# 1) Open AWS CloudShell in the chosen Region
# 2) Upload the lesson-provided files
#    (those files are not present in this workspace)
ls -la
# 3) Inspect before executing
less &lt;setup-script&gt;.sh
# 4) Make executable, then run in a sandbox
chmod +x &lt;setup-script&gt;.sh
./&lt;setup-script&gt;.sh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WHY ls?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Confirm the expected files arrived before doing anything else.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WHY inspect?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A shell script can create costly or privileged resources. Read it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PLACEHOLDERS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Do not guess the absent filenames. Replace only with files you actually possess.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Verify the database before writing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08-2-part-2-set-up-aurora-db.txt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Read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Review the setup log for cluster identifiers, database name, endpoint, and training credentials.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Check 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Confirm the cluster and writer are available in the intended Region and account.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Open editor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Use RDS Query Editor and select the narrated retail database.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Prove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List/browse tables and run a harmless SELECT with a small LIMIT.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Keep credentials out of screenshots and notes. A successful connection is not permission to expose the database publicly.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Choose your query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08-2-part-2-set-up-aurora-db.txt • 09-3-install-pgadmin-if-you-are-able-to.txt • 10-4-set-up-pgadmin-if-you-are-able-to-optional.txt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RDS QUERY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Browser-based path used to verify the database without a local install. Good default when corporate devices are restricted.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pgAdmin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Optional desktop client for easier browsing of schemas, tables, and sample rows. Installation may be blocked.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DECISION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Use the tool you can operate safely. The SQL concepts are more important than a specific interface.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CURRENT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NETWORK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Do not make a database public just to connect. Use approved private connectivity or the browser editor.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Optional pgAdmin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09-3-install-pgadmin-if-you-are-able-to.txt • 10-4-set-up-pgadmin-if-you-are-able-to-optional.txt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Download pgAdmin from its official project site if local policy allows; versions and screens change.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Add a server using the writer endpoint, port, database, username, and disposable password.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Browse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Expand database → schemas → public → tables to understand object hierarchy.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View a small sample or run SELECT employee_id, first_name, last_name FROM employees LIMIT 100; then close the session.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Do not save production passwords in client profiles unless your organization explicitly approves that storage method.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Teardown is part of the lab—not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11-5-teardown-database.txt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Execute the lesson-provided teardown script from CloudShell only after inspecting it. The actual script is absent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CURRENT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Refresh RDS and confirm the cluster/instances are gone. Check for snapshots or related resources you did not intend to retain.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C1911A"/>
          </a:solidFill>
          <a:ln>
            <a:solidFill>
              <a:srgbClr val="C1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C1911A"/>
                </a:solidFill>
                <a:latin typeface="Calibri"/>
              </a:rPr>
              <a:t>CURRENT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C1911A"/>
                </a:solidFill>
                <a:latin typeface="Calibri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Note completion time and any remaining chargeable resources. A command finishing does not prove zero cost.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CURRENT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If deletion fails, capture the resource name and error, then resolve it before leaving the lab.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Recreate → refresh endpoint → reconnect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12-6-reconnect-to-a-new-instance-of-aurora.txt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Recreate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Run the known setup process again when you need a fresh practice environment.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Read the new writer endpoint. Recreated resources can have different connection details.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Change pgAdmin server properties or select the new resource in Query Editor.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Reconnect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Disconnect stale sessions, connect again, and rerun a small verification query.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In real projects, keep endpoints and secret references in environment-specific configuration—not hardcoded in jobs.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Setup checkpoint: can you explain the lifecycle?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07-1-part-1-set-up-aurora-db.txt • 08-2-part-2-set-up-aurora-db.txt • 09-3-install-pgadmin-if-you-are-able-to.txt • 10-4-set-up-pgadmin-if-you-are-able-to-optional.txt • 11-5-teardown-database.txt • 12-6-reconnect-to-a-new-instance-of-aurora.txt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SAY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1 •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Account → Region → cluster → writer endpoint → database → schema →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DO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2 •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Run one read-only query and identify which endpoint/database it reached.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3 • 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Explain why least privilege, private access, and secret hygiene matter.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4 • CLEAN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Tear down and independently confirm no intended lab resource remains.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00" b="1">
                <a:solidFill>
                  <a:srgbClr val="2D69CD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Build your SQL skill booster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97480"/>
            <a:ext cx="987552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000" b="0">
                <a:solidFill>
                  <a:srgbClr val="C9D5E4"/>
                </a:solidFill>
                <a:latin typeface="Calibri"/>
              </a:rPr>
              <a:t>Read tables, filter rows, summarize groups, enforce relationships, join data, and test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224528"/>
            <a:ext cx="10652760" cy="1097280"/>
          </a:xfrm>
          <a:prstGeom prst="roundRect">
            <a:avLst/>
          </a:prstGeom>
          <a:solidFill>
            <a:srgbClr val="1C3050"/>
          </a:solidFill>
          <a:ln w="10160">
            <a:solidFill>
              <a:srgbClr val="1C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87552" y="44622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BEGINNER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370832"/>
            <a:ext cx="8138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Every concept is tied to a concrete action, query, or architecture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50" b="0">
                <a:solidFill>
                  <a:srgbClr val="ABBBD0"/>
                </a:solidFill>
                <a:latin typeface="Calibri"/>
              </a:rPr>
              <a:t>Sources: 14-1-select-statement.txt • 15-2-filter-where-clause-one-condition.txt • 16-3-filter-multiple-conditions-sort-limit.txt • 17-4-are-you-finding-sql-difficult.txt • 18-5-aggregations.txt • 19-6-data-types-constraints-insert-records-default-values.txt • 20-7-inner-join.txt • 21-8-left-join-and-coming-this-what-you-learnt-so-far.txt • 22-85-assignment-on-data-quality.txt • 23-9-what-next.txt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ABBBD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The relational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14-1-select-statement.txt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A named container that holds schemas and related objects.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A namespace that organizes tables, views, and other objects.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A structured set of rows and columns describing one kind of entity or event.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A precise request that returns a result set without changing the source unless you use a write statement.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Think: database → schema → table → row/column. This hierarchy helps you navigate both Query Editor and pgAdmin.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Retail model: connect business nouns with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14-1-select-statement.txt • 19-6-data-types-constraints-insert-records-default-values.txt • 20-7-inner-join.txt • 21-8-left-join-and-coming-this-what-you-learnt-so-far.txt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17190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customer_id •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55448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343400" y="17190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2140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order_id • customer_id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55448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72400" y="17190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order_items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12140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order_id • product_id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25196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772400" y="441655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1888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product_id • category_id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25196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343400" y="441655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81888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category_id • 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2743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14400" y="441655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suppliers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50" b="0">
                <a:solidFill>
                  <a:srgbClr val="556377"/>
                </a:solidFill>
                <a:latin typeface="Calibri"/>
              </a:rPr>
              <a:t>supplier_id • name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74720" y="2103120"/>
            <a:ext cx="685800" cy="0"/>
          </a:xfrm>
          <a:prstGeom prst="line">
            <a:avLst/>
          </a:prstGeom>
          <a:ln w="25400">
            <a:solidFill>
              <a:srgbClr val="2D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03720" y="2103120"/>
            <a:ext cx="685800" cy="0"/>
          </a:xfrm>
          <a:prstGeom prst="line">
            <a:avLst/>
          </a:prstGeom>
          <a:ln w="25400">
            <a:solidFill>
              <a:srgbClr val="2D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2651760"/>
            <a:ext cx="0" cy="1600200"/>
          </a:xfrm>
          <a:prstGeom prst="line">
            <a:avLst/>
          </a:prstGeom>
          <a:ln w="25400">
            <a:solidFill>
              <a:srgbClr val="2D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03720" y="4800600"/>
            <a:ext cx="685800" cy="0"/>
          </a:xfrm>
          <a:prstGeom prst="line">
            <a:avLst/>
          </a:prstGeom>
          <a:ln w="25400">
            <a:solidFill>
              <a:srgbClr val="2D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74720" y="4800600"/>
            <a:ext cx="685800" cy="0"/>
          </a:xfrm>
          <a:prstGeom prst="line">
            <a:avLst/>
          </a:prstGeom>
          <a:ln w="25400">
            <a:solidFill>
              <a:srgbClr val="2D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0">
                <a:solidFill>
                  <a:srgbClr val="556377"/>
                </a:solidFill>
                <a:latin typeface="Calibri"/>
              </a:rPr>
              <a:t>Use the actual schema to confirm exact columns. This diagram is a learning map reconstructed from examples—not a complete DDL.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SELECT: choose columns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14-1-select-statement.txt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-- Explore carefully; avoid SELECT * in durable pipelines
SELECT
    product_id,      -- stable identifier
    product_name,    -- human-readable label
    unit_price       -- numeric measure
FROM products
ORDER BY product_id
LIMIT 10;            -- keep exploration small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Projection: which columns should appear in the result?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The source table. Add a schema qualifier when needed, such as public.products.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Useful for exploration; it does not guarantee which rows appear unless ORDER BY is explicit.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WHERE: filter rows before they reach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15-2-filter-where-clause-one-condition.txt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-- Numeric predicate
SELECT product_name, unit_price
FROM products
WHERE unit_price &gt; 100;
-- Text uses single quotes in PostgreSQL
SELECT order_id, order_status
FROM orders
WHERE order_status = 'delivered';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ROW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WHERE keeps rows whose condition evaluates to TRUE.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Practice =, &lt;&gt;, &gt;, &gt;=, &lt;, and &lt;=; choose the operator that matches the business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QUOTE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Use single quotes for string values. Double quotes identify SQL names in PostgreSQL.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AND, OR, and parentheses: make logic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16-3-filter-multiple-conditions-sort-limit.txt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 product_name, unit_price, units_in_stock
FROM products
WHERE unit_price &gt;= 50
  AND units_in_stock &gt; 0
  AND (category_id = 2 OR category_id = 3)
ORDER BY unit_price DESC
LIMIT 5;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Every connected condition must be true for a row to remain.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At least one connected condition must be true. Parentheses prevent ambiguity.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PREDICT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Say which rows you expect before running the query; then compare expectation with evidence.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Sort, limit, and comment with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16-3-filter-multiple-conditions-sort-limit.txt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ORDER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ASC is ascending; DESC is descending. Sort by a stable tie-breaker when reproducibility matters.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Returns at most N rows. Combine with ORDER BY for meaningful top-N questions.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READABILITY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--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 single-line note. Explain business intent, assumptions, or a non-obvious rule—not the obvious syntax.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READABILITY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/* ... */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 block comment spanning lines. Keep comments current when the query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Practice sprint 1: read → predict → run →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14-1-select-statement.txt • 15-2-filter-where-clause-one-condition.txt • 16-3-filter-multiple-conditions-sort-limit.txt • 17-4-are-you-finding-sql-difficult.txt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A •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Return product_name and unit_price only. Why is this safer than SELECT * for a downstream job?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EXERCISE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B •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Find in-stock products above a price you choose. Predict the row count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EXERCISE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C • TOP-N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Return the three highest-priced products with a deterministic sort.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MINDSET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D • REFLECT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If SQL feels difficult, reduce the problem to one clause and ask for an explanation—not just an answer.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Aggregate functions: one result from many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18-5-aggregations.txt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COUNT(*) AS product_rows,
    MIN(unit_price) AS min_price,
    MAX(unit_price) AS max_price,
    AVG(unit_price) AS avg_price,
    SUM(units_in_stock) AS units_available
FROM products;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BIG FIVE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COUNT, MIN, MAX, AVG, and SUM answer common summary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ALIAS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AS gives each output a business-readable column name.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IMPORTANT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COUNT(*) counts rows. It does not prove product names or any column are unique.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GROUP BY: one summary row per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18-5-aggregations.txt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category_id,
    COUNT(*) AS product_count,
    AVG(unit_price) AS avg_unit_price
FROM products
GROUP BY category_id
ORDER BY category_id;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Rows sharing category_id become one group for each aggregate.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SELECT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Selected non-aggregate columns must normally be represented in GROUP BY.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BUSINESS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Use the grouped result to compare categories—not individual products.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WHERE versus HAVING: filter at the right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18-5-aggregations.txt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category_id,
    AVG(unit_price) AS avg_unit_price
FROM products
WHERE units_in_stock &gt; 0       -- rows first
GROUP BY category_id
HAVING AVG(unit_price) &gt; 100   -- groups later
ORDER BY avg_unit_price DESC;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Removes source rows before grouping and aggregation.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Filters after groups are formed. It commonly contains an aggregate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INTERVIEW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Explain the processing stage and business effect—not merely ‘HAVING is used with GROUP BY.’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Think in logical processing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16-3-filter-multiple-conditions-sort-limit.txt • 18-5-aggregations.txt • 20-7-inner-join.txt • 21-8-left-join-and-coming-this-what-you-learnt-so-far.txt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FROM /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Build the source row set and match related tables.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Remove rows that do not meet row-level conditions.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GROUP / HAVING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Form groups, calculate aggregates, then remove unwanted groups.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SELECT → ORDER → LIMIT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Shape output, sort the result, and keep only the requested number of rows.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Typed order starts with SELECT, but logical reasoning often starts with FROM. This mental model makes complex queries easier to debug.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Data types and defaults protect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19-6-data-types-constraints-insert-records-default-values.txt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INTEGER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Whole-number IDs and counts. Choose a range appropriate for expected volume.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VARCHAR /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Character data such as names and statuses. Length and business rules still need validation.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NUMERIC(p,s)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Exact decimal values; useful for money-like fields where binary floating-point surprises are undesirable.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BOOLEAN / 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True/false flags and server-supplied values reduce missing data, but defaults must reflect real business intent.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Primary and foreign keys tell a relationship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19-6-data-types-constraints-insert-records-default-values.txt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3657600" cy="3429000"/>
          </a:xfrm>
          <a:prstGeom prst="roundRect">
            <a:avLst/>
          </a:prstGeom>
          <a:solidFill>
            <a:srgbClr val="E9F1FE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85800" y="1508760"/>
            <a:ext cx="73152" cy="342900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86968" y="1673351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60120" y="170992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29967"/>
            <a:ext cx="32186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68879"/>
            <a:ext cx="3218688" cy="2359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customer_id  PRIMARY KEY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customer_name  NOT NULL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One row per 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508760"/>
            <a:ext cx="3657600" cy="3429000"/>
          </a:xfrm>
          <a:prstGeom prst="roundRect">
            <a:avLst/>
          </a:prstGeom>
          <a:solidFill>
            <a:srgbClr val="F1ECFB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818120" y="1508760"/>
            <a:ext cx="73152" cy="342900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019288" y="1673351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92440" y="170992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CHILD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29967"/>
            <a:ext cx="32186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79"/>
            <a:ext cx="3218688" cy="2359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order_id  PRIMARY KEY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customer_id  FOREIGN KEY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Many orders may reference one customer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43400" y="2971800"/>
            <a:ext cx="3474720" cy="0"/>
          </a:xfrm>
          <a:prstGeom prst="line">
            <a:avLst/>
          </a:prstGeom>
          <a:ln w="38100">
            <a:solidFill>
              <a:srgbClr val="E1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2587752"/>
            <a:ext cx="822960" cy="283464"/>
          </a:xfrm>
          <a:prstGeom prst="roundRect">
            <a:avLst/>
          </a:prstGeom>
          <a:solidFill>
            <a:srgbClr val="FFF2E3"/>
          </a:solidFill>
          <a:ln w="10160">
            <a:solidFill>
              <a:srgbClr val="FF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690872" y="2624328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587752"/>
            <a:ext cx="914400" cy="283464"/>
          </a:xfrm>
          <a:prstGeom prst="roundRect">
            <a:avLst/>
          </a:prstGeom>
          <a:solidFill>
            <a:srgbClr val="FFF2E3"/>
          </a:solidFill>
          <a:ln w="10160">
            <a:solidFill>
              <a:srgbClr val="FF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702552" y="2624328"/>
            <a:ext cx="7680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MANY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4924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1">
                <a:solidFill>
                  <a:srgbClr val="14233E"/>
                </a:solidFill>
                <a:latin typeface="Calibri"/>
              </a:rPr>
              <a:t>NOT NULL blocks missing required values • PRIMARY KEY enforces row identity • FOREIGN KEY blocks orphan references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INSERT: learn from expected constraint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19-6-data-types-constraints-insert-records-default-values.txt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-- Valid only if customer_id 101 exists
INSERT INTO orders (customer_id, order_status)
VALUES (101, 'pending');
-- Expected failure: unknown customer reference
INSERT INTO orders (customer_id, order_status)
VALUES (999999, 'pending');
-- A duplicate explicit primary key should also 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VALID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Name columns explicitly; verify the target schema and use a training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FK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The database protects referential integrity when a child points to no parent.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PK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A duplicate identity is rejected. Read the error; do not disable constraints to hide bad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INNER JOIN: return only matching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20-7-inner-join.txt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p.product_name,
    c.category_name
FROM products AS p
INNER JOIN categories AS c
    ON p.category_id = c.category_id
ORDER BY p.product_name;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MATCH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Only products with a matching category survive the join.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ALIASES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p and c keep column references short while preserving meaning.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JOIN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ON describes the relationship. A missing or incorrect condition can multiply rows.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LEFT JOIN: preserve every row from the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21-8-left-join-and-coming-this-what-you-learnt-so-far.txt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3291840" cy="4251960"/>
          </a:xfrm>
          <a:prstGeom prst="roundRect">
            <a:avLst/>
          </a:prstGeom>
          <a:solidFill>
            <a:srgbClr val="E9F1FE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73152" cy="425196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59536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32688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KEEP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38528"/>
            <a:ext cx="2852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customers (left)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377440"/>
            <a:ext cx="2852928" cy="3182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1 • Asha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2 • Ben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3 • Chen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417320"/>
            <a:ext cx="3291840" cy="4251960"/>
          </a:xfrm>
          <a:prstGeom prst="roundRect">
            <a:avLst/>
          </a:prstGeom>
          <a:solidFill>
            <a:srgbClr val="F1ECFB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636007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09159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MATCH WHEN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938528"/>
            <a:ext cx="2852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orders (right)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377440"/>
            <a:ext cx="2852928" cy="3182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501 • customer 1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502 • customer 1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503 • customer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1417320"/>
            <a:ext cx="3291840" cy="4251960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8211312" y="1417320"/>
            <a:ext cx="73152" cy="425196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412480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85632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LEFT JOIN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1938528"/>
            <a:ext cx="2852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377440"/>
            <a:ext cx="2852928" cy="3182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Asha • 501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Asha • 502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Ben • NULL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Chen • 503</a:t>
            </a:r>
          </a:p>
        </p:txBody>
      </p:sp>
      <p:sp>
        <p:nvSpPr>
          <p:cNvPr id="28" name="Chevron 27"/>
          <p:cNvSpPr/>
          <p:nvPr/>
        </p:nvSpPr>
        <p:spPr>
          <a:xfrm>
            <a:off x="3931920" y="2971800"/>
            <a:ext cx="438912" cy="64008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Chevron 28"/>
          <p:cNvSpPr/>
          <p:nvPr/>
        </p:nvSpPr>
        <p:spPr>
          <a:xfrm>
            <a:off x="7708392" y="2971800"/>
            <a:ext cx="438912" cy="640080"/>
          </a:xfrm>
          <a:prstGeom prst="chevron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05840" y="5879592"/>
            <a:ext cx="10195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00" b="1">
                <a:solidFill>
                  <a:srgbClr val="14233E"/>
                </a:solidFill>
                <a:latin typeface="Calibri"/>
              </a:rPr>
              <a:t>The unmatched customer remains; columns from the right table become NULL. Table order therefore matters.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Build a multi-table query one join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20-7-inner-join.txt • 21-8-left-join-and-coming-this-what-you-learnt-so-far.txt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o.order_id,
    c.customer_name,
    p.product_name,
    oi.quantity
FROM orders AS o
JOIN customers AS c ON c.customer_id = o.customer_id
JOIN order_items AS oi ON oi.order_id = o.order_id
JOIN products AS p ON p.product_id = oi.product_id
WHERE o.order_status = 'delivered';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START 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Join two tables, inspect the row count and sample, then add the next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QUALIFY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Prefix ambiguous columns with their table alias.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ROW GRAIN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State what one output row represents. Here: one delivered order item.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Integrated pattern: customers plus order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18-5-aggregations.txt • 21-8-left-join-and-coming-this-what-you-learnt-so-far.txt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SELECT
    c.customer_id,
    c.customer_name,
    COUNT(o.order_id) AS order_count
FROM customers AS c
LEFT JOIN orders AS o
    ON o.customer_id = c.customer_id
GROUP BY c.customer_id, c.customer_name
HAVING COUNT(o.order_id) &gt;= 2
ORDER BY order_count DESC, c.customer_id;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WHY LEFT?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Begin with all customers, including those with no matching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WHY GROUP?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Collapse many order rows into one summary row per customer.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HAVING &gt;= 2 removes zero/one-order customers from the final result despite the LEFT JOIN.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Data quality: convert vague concern into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22-85-assignment-on-data-quality.txt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Unexpected NULLs in required business fields; compare missing rates by date/source.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UNIQUENESS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Duplicate business keys or event IDs; group and count values greater than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VALIDITY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Impossible status, range, format, or timestamp values; test against explicit accepted rules.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INTEGRITY + FRESHNESS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Orphans across tables and stale/missing loads; measure both relationship and arrival expectations.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Starter quality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22-85-assignment-on-data-quality.txt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53312"/>
            <a:ext cx="6629400" cy="4828032"/>
          </a:xfrm>
          <a:prstGeom prst="roundRect">
            <a:avLst/>
          </a:prstGeom>
          <a:solidFill>
            <a:srgbClr val="192231"/>
          </a:solidFill>
          <a:ln w="10160">
            <a:solidFill>
              <a:srgbClr val="19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59536" y="1673352"/>
            <a:ext cx="6071616" cy="4251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20" b="0">
                <a:solidFill>
                  <a:srgbClr val="E7EEF7"/>
                </a:solidFill>
                <a:latin typeface="Calibri"/>
              </a:rPr>
              <a:t>-- Duplicate business keys
SELECT order_id, COUNT(*) AS row_count
FROM orders
GROUP BY order_id
HAVING COUNT(*) &gt; 1;
-- Unexpected missing values
SELECT COUNT(*) AS missing_status_rows
FROM orders
WHERE order_status IS NULL;
-- Orphans (if constraints are absent or disabled)
SELECT o.order_id
FROM orders o LEFT JOIN customers c
  ON c.customer_id = o.customer_id
WHERE c.customer_id IS NULL;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371600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424927" y="1371600"/>
            <a:ext cx="73152" cy="141732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53527" y="1554480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1993391"/>
            <a:ext cx="3749039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Return counts and examples; do not stop at ‘data looks wrong.’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2944368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424927" y="2944368"/>
            <a:ext cx="73152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53527" y="3127248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566160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Define expected thresholds with analysts and data owners.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4517136"/>
            <a:ext cx="41879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424927" y="4517136"/>
            <a:ext cx="73152" cy="141732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37490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5138927"/>
            <a:ext cx="3749039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Describe what a failed check would break downstream.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SQL checkpoint and interview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17-4-are-you-finding-sql-difficult.txt • 18-5-aggregations.txt • 19-6-data-types-constraints-insert-records-default-values.txt • 20-7-inner-join.txt • 21-8-left-join-and-coming-this-what-you-learnt-so-far.txt • 22-85-assignment-on-data-quality.txt • 23-9-what-next.txt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WHERE vs HAVING; INNER vs LEFT JOIN; primary vs foreign key; row grain vs grouped grain.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Check source rows, join keys, row counts, NULL behavior, grouping columns, and sort determinism.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HABIT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Spend 15–30 focused minutes daily. Ask AI for hints/explanations, then type and verify the query yourself.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LIMIT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This is a skill booster—not full SQL coverage. DDL, windows, CTE depth, tuning, transactions, and security remain future study.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E"/>
          </a:solidFill>
          <a:ln>
            <a:solidFill>
              <a:srgbClr val="14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00" b="1">
                <a:solidFill>
                  <a:srgbClr val="714FB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Connect databases to real 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97480"/>
            <a:ext cx="987552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000" b="0">
                <a:solidFill>
                  <a:srgbClr val="C9D5E4"/>
                </a:solidFill>
                <a:latin typeface="Calibri"/>
              </a:rPr>
              <a:t>Separate operational and analytical workloads, understand managed services, and map the teams around a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224528"/>
            <a:ext cx="10652760" cy="1097280"/>
          </a:xfrm>
          <a:prstGeom prst="roundRect">
            <a:avLst/>
          </a:prstGeom>
          <a:solidFill>
            <a:srgbClr val="1C3050"/>
          </a:solidFill>
          <a:ln w="10160">
            <a:solidFill>
              <a:srgbClr val="1C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87552" y="44622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BEGINNER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370832"/>
            <a:ext cx="8138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Every concept is tied to a concrete action, query, or architecture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50" b="0">
                <a:solidFill>
                  <a:srgbClr val="ABBBD0"/>
                </a:solidFill>
                <a:latin typeface="Calibri"/>
              </a:rPr>
              <a:t>Sources: 25-1-database-vs-datawarehouse-vs-datalake-legacy-data-engineering.txt • 26-2-relational-database-service-aurora.txt • 27-3-real-world-rds.txt • 28-4-review-what-next.txt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ABBBD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Database vs warehouse vs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25-1-database-vs-datawarehouse-vs-datalake-legacy-data-engineering.txt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566160" cy="4434840"/>
          </a:xfrm>
          <a:prstGeom prst="roundRect">
            <a:avLst/>
          </a:prstGeom>
          <a:solidFill>
            <a:srgbClr val="E9F1FE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73152" cy="4434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49808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2959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SERVE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38528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Operational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3127248" cy="33649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Runs transactions (OLTP)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Current application state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Frequent small reads/writes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Examples: order entry, payments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417320"/>
            <a:ext cx="3566160" cy="4434840"/>
          </a:xfrm>
          <a:prstGeom prst="roundRect">
            <a:avLst/>
          </a:prstGeom>
          <a:solidFill>
            <a:srgbClr val="F1ECFB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315968" y="1417320"/>
            <a:ext cx="73152" cy="4434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517136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90288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ANSWER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938528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Data 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377440"/>
            <a:ext cx="3127248" cy="33649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Runs analytics (OLAP)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Integrated historical data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Large scans and aggregates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Example in course: Redshift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417320"/>
            <a:ext cx="3566160" cy="4434840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8083296" y="1417320"/>
            <a:ext cx="73152" cy="4434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284464" y="158191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357616" y="161848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FLEXIBLE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1938528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Data lake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377440"/>
            <a:ext cx="3127248" cy="336499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Stores data at broad scale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Multiple formats and stages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Schema/governance still matter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55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Example platform: object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71032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1">
                <a:solidFill>
                  <a:srgbClr val="14233E"/>
                </a:solidFill>
                <a:latin typeface="Calibri"/>
              </a:rPr>
              <a:t>Do not run heavy analytics blindly on the database serving customers; isolate workloads according to architecture and business needs.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Legacy data engineering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25-1-database-vs-datawarehouse-vs-datalake-legacy-data-engineering.txt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Operational Oracle, DB2, SQL Server, files, and other enterprise systems.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ETL / Sqoop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Tools extract data, transform it, and move relational records into the Hadoop ecosystem.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HDFS 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Distributed storage holds raw and processed datasets for large-scale computation.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Warehouse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Curated analytical structures—often dimensional—serve BI and reporting.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The transcript introduces this historical path conceptually. HDFS, data-lake internals, dimensional modeling, and Redshift implementation are outside this module.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Managed RDS changes who operates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26-2-relational-database-service-aurora.txt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53312"/>
            <a:ext cx="5166360" cy="4480560"/>
          </a:xfrm>
          <a:prstGeom prst="roundRect">
            <a:avLst/>
          </a:prstGeom>
          <a:solidFill>
            <a:srgbClr val="E9F1FE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58368" y="1353312"/>
            <a:ext cx="73152" cy="448056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59536" y="1517904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32688" y="1554480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874519"/>
            <a:ext cx="4727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You still 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313432"/>
            <a:ext cx="4727448" cy="34107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Data model and queries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Users, roles, and least privilege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Network intent and approved access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Backup/retention choices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Monitoring, budgets, and application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353312"/>
            <a:ext cx="5166360" cy="4480560"/>
          </a:xfrm>
          <a:prstGeom prst="roundRect">
            <a:avLst/>
          </a:prstGeom>
          <a:solidFill>
            <a:srgbClr val="F1ECFB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355080" y="1353312"/>
            <a:ext cx="73152" cy="448056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556248" y="1517904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629400" y="1554480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MANAGED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19"/>
            <a:ext cx="4727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AWS manages more 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13432"/>
            <a:ext cx="4727448" cy="34107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Underlying infrastructure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Managed database software operations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Service-integrated backups/maintenance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Availability features you configure</a:t>
            </a:r>
          </a:p>
          <a:p>
            <a:pPr>
              <a:lnSpc>
                <a:spcPct val="106000"/>
              </a:lnSpc>
              <a:spcAft>
                <a:spcPts val="700"/>
              </a:spcAft>
              <a:defRPr sz="1600">
                <a:solidFill>
                  <a:srgbClr val="14233E"/>
                </a:solidFill>
                <a:latin typeface="Calibri"/>
              </a:defRPr>
            </a:pPr>
            <a:r>
              <a:rPr>
                <a:latin typeface="Calibri"/>
              </a:rPr>
              <a:t>•  Replacement of failed service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25312"/>
            <a:ext cx="10378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1">
                <a:solidFill>
                  <a:srgbClr val="BE3D43"/>
                </a:solidFill>
                <a:latin typeface="Calibri"/>
              </a:rPr>
              <a:t>Managed does not mean unmanaged by you: bad permissions, public exposure, weak SQL, or forgotten resources remain your responsibility.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RDS, Aurora, and Aurora Serverless—choose by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26-2-relational-database-service-aurora.txt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RDS ENGINES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 managed family supporting multiple relational engines. Exact options vary by Region and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AURORA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AWS cloud-native relational engine compatible with PostgreSQL or MySQL interfaces; architecture differs from standard engines.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QUALIFIED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Capacity can adjust with demand. Cost still depends on configuration, minimums, storage, I/O, backups, and usage.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CURRENT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Evaluate compatibility, workload shape, availability, operational effort, performance evidence, and total cost—not marketing shorthand.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E17E2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Modern database safety and cost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CURRENT SAFETY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26-2-relational-database-service-aurora.txt • 27-3-real-world-rds.txt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CURRENT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PRIVATE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Avoid public database access. Place databases in approved private networks and allow only required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CURRENT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SECRET HYGIENE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Use managed secret references/rotation where applicable. Never commit passwords or embed them in notebooks and jobs.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CURRENT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LEAST PRIVILEGE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Separate admin, migration, ETL, and read-only roles. Grant only required actions and review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C1911A"/>
          </a:solidFill>
          <a:ln>
            <a:solidFill>
              <a:srgbClr val="C1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C1911A"/>
                </a:solidFill>
                <a:latin typeface="Calibri"/>
              </a:rPr>
              <a:t>CURRENT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C1911A"/>
                </a:solidFill>
                <a:latin typeface="Calibri"/>
              </a:rPr>
              <a:t>BUDGET + TEARDOWN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Tag resources, monitor spend, set alerts, define retention, and verify deletion after labs.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Three real-world RDS migration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27-3-real-world-rds.txt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LIFT AND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Move an existing engine such as Oracle with minimal application change to reduce data-center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OPEN-SOURCE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Later migrate toward PostgreSQL-compatible technology to reduce licensing cost—after compatibility and risk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SCENARIO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CLOUD-NATIVE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Design a new workload around managed/cloud-native capabilities from the start.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DATA ENGINEER’S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Understand source behavior, coordinate access, validate extraction, protect production, and land trustworthy analytical data.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Typical analytical path: RDS → Glue → S3 / Redshift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27-3-real-world-rds.txt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21488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22960" y="2148840"/>
            <a:ext cx="169164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96112" y="2185416"/>
            <a:ext cx="15453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14233E"/>
                </a:solidFill>
                <a:latin typeface="Calibri"/>
              </a:rPr>
              <a:t>Operational
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74519"/>
            <a:ext cx="21488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3474720" y="2148840"/>
            <a:ext cx="169164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547872" y="2185416"/>
            <a:ext cx="15453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AWS GLUE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8892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14233E"/>
                </a:solidFill>
                <a:latin typeface="Calibri"/>
              </a:rPr>
              <a:t>Extract +
transform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74519"/>
            <a:ext cx="21488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126480" y="2148840"/>
            <a:ext cx="169164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199632" y="2185416"/>
            <a:ext cx="15453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AMAZON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8892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14233E"/>
                </a:solidFill>
                <a:latin typeface="Calibri"/>
              </a:rPr>
              <a:t>Lake / staged
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1874519"/>
            <a:ext cx="21488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778240" y="2148840"/>
            <a:ext cx="169164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851392" y="2185416"/>
            <a:ext cx="15453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AMAZON REDSHIFT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78892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14233E"/>
                </a:solidFill>
                <a:latin typeface="Calibri"/>
              </a:rPr>
              <a:t>Warehouse +
analytics</a:t>
            </a:r>
          </a:p>
        </p:txBody>
      </p:sp>
      <p:sp>
        <p:nvSpPr>
          <p:cNvPr id="26" name="Chevron 25"/>
          <p:cNvSpPr/>
          <p:nvPr/>
        </p:nvSpPr>
        <p:spPr>
          <a:xfrm>
            <a:off x="2743200" y="2560320"/>
            <a:ext cx="384048" cy="658368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7" name="Chevron 26"/>
          <p:cNvSpPr/>
          <p:nvPr/>
        </p:nvSpPr>
        <p:spPr>
          <a:xfrm>
            <a:off x="5394960" y="2560320"/>
            <a:ext cx="384048" cy="658368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Chevron 27"/>
          <p:cNvSpPr/>
          <p:nvPr/>
        </p:nvSpPr>
        <p:spPr>
          <a:xfrm>
            <a:off x="8046720" y="2560320"/>
            <a:ext cx="384048" cy="658368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822960" y="4663440"/>
            <a:ext cx="10515600" cy="1051560"/>
          </a:xfrm>
          <a:prstGeom prst="roundRect">
            <a:avLst/>
          </a:prstGeom>
          <a:solidFill>
            <a:srgbClr val="F1ECFB"/>
          </a:solidFill>
          <a:ln w="10160">
            <a:solidFill>
              <a:srgbClr val="F1EC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78992" y="4882896"/>
            <a:ext cx="1001268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50" b="0">
                <a:solidFill>
                  <a:srgbClr val="14233E"/>
                </a:solidFill>
                <a:latin typeface="Calibri"/>
              </a:rPr>
              <a:t>Example transformation: filter sales to the required country before landing curated output. In production, use approved private connectivity, managed secrets, schema checks, idempotency, logging, and partitioned analytical files.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Environments, accounts, VPCs, and team handoffs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27-3-real-world-rds.txt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749808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Build and test the job with non-production data and environment-specific configuration.</a:t>
            </a:r>
          </a:p>
        </p:txBody>
      </p:sp>
      <p:sp>
        <p:nvSpPr>
          <p:cNvPr id="15" name="Chevron 14"/>
          <p:cNvSpPr/>
          <p:nvPr/>
        </p:nvSpPr>
        <p:spPr>
          <a:xfrm>
            <a:off x="3131820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69564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3552444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52444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0732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Test /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0732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Recreate equivalent infrastructure through approved automation; validate behavior and access.</a:t>
            </a:r>
          </a:p>
        </p:txBody>
      </p:sp>
      <p:sp>
        <p:nvSpPr>
          <p:cNvPr id="21" name="Chevron 20"/>
          <p:cNvSpPr/>
          <p:nvPr/>
        </p:nvSpPr>
        <p:spPr>
          <a:xfrm>
            <a:off x="5934456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172200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6355080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55080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Promote reviewed code/configuration with stricter controls, monitoring, and rollback plans.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37092" y="3044952"/>
            <a:ext cx="310896" cy="502920"/>
          </a:xfrm>
          <a:prstGeom prst="chevron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8974836" y="1828800"/>
            <a:ext cx="2638044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9157715" y="1490472"/>
            <a:ext cx="576072" cy="576072"/>
          </a:xfrm>
          <a:prstGeom prst="ellipse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57715" y="1581912"/>
            <a:ext cx="5760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6004" y="2057400"/>
            <a:ext cx="22357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Cross-account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004" y="2651760"/>
            <a:ext cx="22357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550" b="0">
                <a:solidFill>
                  <a:srgbClr val="14233E"/>
                </a:solidFill>
                <a:latin typeface="Calibri"/>
              </a:rPr>
              <a:t>When RDS is in another account/VPC, coordinate networking, DNS, ports, routes, and security—not public exposure.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21808"/>
            <a:ext cx="11045952" cy="7498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68096" y="550468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0">
                <a:solidFill>
                  <a:srgbClr val="556377"/>
                </a:solidFill>
                <a:latin typeface="Calibri"/>
              </a:rPr>
              <a:t>Roles vary by company: data engineers collaborate with cloud DBAs, infrastructure/platform engineers, security, analysts, and DevOps teams.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30915E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Hands-on capstone: complete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07-1-part-1-set-up-aurora-db.txt • 08-2-part-2-set-up-aurora-db.txt • 11-5-teardown-database.txt • 14-1-select-statement.txt • 18-5-aggregations.txt • 21-8-left-join-and-coming-this-what-you-learnt-so-far.txt • 22-85-assignment-on-data-quality.txt • 27-3-real-world-rds.txt • 28-4-review-what-next.txt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1 • SET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Create the disposable database only if you possess and have inspected the intended lesson assets. Capture no secrets.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2 •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Write one filtered top-N query, one grouped query, and one LEFT JOIN. Explain row grain for each.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3 •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Test duplicates, NULLs, and one relationship condition; state business impact of a failure.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BE3D43"/>
          </a:solidFill>
          <a:ln>
            <a:solidFill>
              <a:srgbClr val="BE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BE3D43"/>
                </a:solidFill>
                <a:latin typeface="Calibri"/>
              </a:rPr>
              <a:t>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BE3D43"/>
                </a:solidFill>
                <a:latin typeface="Calibri"/>
              </a:rPr>
              <a:t>4 • TEAR 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Delete the lab resources, verify independently, and record what remains and why.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1911A"/>
          </a:solidFill>
          <a:ln>
            <a:solidFill>
              <a:srgbClr val="C1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C1911A"/>
                </a:solidFill>
                <a:latin typeface="Calibri"/>
              </a:rPr>
              <a:t>INTERVIEW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Turn this module into an interview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C1911A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05-0-sql-rds-fundamentals-intro.txt • 18-5-aggregations.txt • 25-1-database-vs-datawarehouse-vs-datalake-legacy-data-engineering.txt • 26-2-relational-database-service-aurora.txt • 27-3-real-world-rds.txt • 28-4-review-what-next.txt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I needed a safe relational practice environment and a clear mental model for operational-to-analytical data 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009191"/>
                </a:solidFill>
                <a:latin typeface="Calibri"/>
              </a:rPr>
              <a:t>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Provision, query, validate, and remove a managed database while protecting credentials and controlling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STAR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I used filtering, aggregation, constraints, joins, and quality checks; then mapped RDS extraction into an analytical architecture.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STAR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556377"/>
                </a:solidFill>
                <a:latin typeface="Calibri"/>
              </a:rPr>
              <a:t>Learner-specific measured evidence required: queries written, checks passed, teardown verified, and observed cost window.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987552"/>
            <a:ext cx="8686800" cy="283464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Bef>
                <a:spcPts val="0"/>
              </a:spcBef>
              <a:spcAft>
                <a:spcPts val="0"/>
              </a:spcAft>
              <a:defRPr>
                <a:latin typeface="Calibri"/>
              </a:defRPr>
            </a:pPr>
            <a:r>
              <a:rPr sz="1019" b="1">
                <a:solidFill>
                  <a:srgbClr val="FFFFFF"/>
                </a:solidFill>
                <a:latin typeface="Calibri"/>
              </a:rPr>
              <a:t>TEMPLATE — use only after you personally complete and can evidence the lab.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30915E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Module summary and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251460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23682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23-9-what-next.txt • 28-4-review-what-next.txt • Current safety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566928" y="1325880"/>
            <a:ext cx="73152" cy="2148840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68096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41247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2D69CD"/>
                </a:solidFill>
                <a:latin typeface="Calibri"/>
              </a:rPr>
              <a:t>YOU CAN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Navigate a relational model; write beginner SQL; reason about keys, joins, aggregates, and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327648" y="1490472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1527048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47088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714FB5"/>
                </a:solidFill>
                <a:latin typeface="Calibri"/>
              </a:rPr>
              <a:t>YOU CAN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02920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Database vs warehouse vs lake; RDS responsibility; Aurora choices; environments and team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73152" cy="2148840"/>
          </a:xfrm>
          <a:prstGeom prst="rect">
            <a:avLst/>
          </a:prstGeom>
          <a:solidFill>
            <a:srgbClr val="E17E28"/>
          </a:solidFill>
          <a:ln>
            <a:solidFill>
              <a:srgbClr val="E1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768096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41247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E17E28"/>
                </a:solidFill>
                <a:latin typeface="Calibri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E17E28"/>
                </a:solidFill>
                <a:latin typeface="Calibri"/>
              </a:rPr>
              <a:t>YOU CAN 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Apply least privilege, secret hygiene, private access, budget awareness, and verified teardown.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22191"/>
            <a:ext cx="54681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126480" y="3822191"/>
            <a:ext cx="73152" cy="2148840"/>
          </a:xfrm>
          <a:prstGeom prst="rect">
            <a:avLst/>
          </a:prstGeom>
          <a:solidFill>
            <a:srgbClr val="30915E"/>
          </a:solidFill>
          <a:ln>
            <a:solidFill>
              <a:srgbClr val="30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327648" y="3986783"/>
            <a:ext cx="1554480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59"/>
            <a:ext cx="14081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30915E"/>
                </a:solidFill>
                <a:latin typeface="Calibri"/>
              </a:rPr>
              <a:t>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029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700" b="1">
                <a:solidFill>
                  <a:srgbClr val="30915E"/>
                </a:solidFill>
                <a:latin typeface="Calibri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782312"/>
            <a:ext cx="5029200" cy="1078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600" b="0">
                <a:solidFill>
                  <a:srgbClr val="14233E"/>
                </a:solidFill>
                <a:latin typeface="Calibri"/>
              </a:rPr>
              <a:t>Continue to Python and Lambda, while keeping a short daily SQL practice habit. Depth comes through repetition and later projects.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009191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Source index 1/3 — setup and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TXT TRANSCRIPTS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05-0-sql-rds-fundamentals-intro.txt • 07-1-part-1-set-up-aurora-db.txt • 08-2-part-2-set-up-aurora-db.txt • 09-3-install-pgadmin-if-you-are-able-to.txt • 10-4-set-up-pgadmin-if-you-are-able-to-optional.txt • 11-5-teardown-database.txt • 12-6-reconnect-to-a-new-instance-of-aurora.txt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53312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68680" y="1444752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41832" y="1481328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444752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05-0-sql-rds-fundamentals-intro.txt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75104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68680" y="2066544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1832" y="2103120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066544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07-1-part-1-set-up-aurora-db.txt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84832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596896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68680" y="2688336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41832" y="2724912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688336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08-2-part-2-set-up-aurora-db.txt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06624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218688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68680" y="3310128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41832" y="3346704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310128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09-3-install-pgadmin-if-you-are-able-to.txt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28416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840480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868680" y="3931920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41832" y="3968496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931920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10-4-set-up-pgadmin-if-you-are-able-to-optional.txt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950208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462272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868680" y="4553712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41832" y="4590288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553712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11-5-teardown-database.txt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572000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084064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868680" y="5175503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941832" y="5212079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009191"/>
                </a:solidFill>
                <a:latin typeface="Calibri"/>
              </a:rPr>
              <a:t>T07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175503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12-6-reconnect-to-a-new-instance-of-aurora.txt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93792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009191"/>
                </a:solidFill>
                <a:latin typeface="Calibri"/>
              </a:rPr>
              <a:t>SETUP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69CD"/>
          </a:solidFill>
          <a:ln>
            <a:solidFill>
              <a:srgbClr val="2D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2D69CD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Source index 2/3 — SQL skill booster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TXT TRANSCRIPTS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14-1-select-statement.txt • 15-2-filter-where-clause-one-condition.txt • 16-3-filter-multiple-conditions-sort-limit.txt • 17-4-are-you-finding-sql-difficult.txt • 18-5-aggregations.txt • 19-6-data-types-constraints-insert-records-default-values.txt • 20-7-inner-join.txt • 21-8-left-join-and-coming-this-what-you-learnt-so-far.txt • 22-85-assignment-on-data-quality.txt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53312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68680" y="1444752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41832" y="1481328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444752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14-1-select-statement.txt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865376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68680" y="1956816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1832" y="1993392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1956816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15-2-filter-where-clause-one-condition.txt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75104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77440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68680" y="2468880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41832" y="2505456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468880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16-3-filter-multiple-conditions-sort-limit.txt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87168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889504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68680" y="2980944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41832" y="3017520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80944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17-4-are-you-finding-sql-difficult.txt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99232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401568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868680" y="3493008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41832" y="3529584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493008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18-5-aggregations.txt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11296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913632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868680" y="4005072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41832" y="4041648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005072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19-6-data-types-constraints-insert-records-default-values.txt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23360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425696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868680" y="4517136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941832" y="4553712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4517136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20-7-inner-join.txt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35424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937760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868680" y="5029200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941832" y="5065776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029200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21-8-left-join-and-coming-this-what-you-learnt-so-far.txt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47488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449824"/>
            <a:ext cx="10835640" cy="448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51" name="Rounded Rectangle 50"/>
          <p:cNvSpPr/>
          <p:nvPr/>
        </p:nvSpPr>
        <p:spPr>
          <a:xfrm>
            <a:off x="868680" y="5541264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941832" y="5577840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2D69CD"/>
                </a:solidFill>
                <a:latin typeface="Calibri"/>
              </a:rPr>
              <a:t>T16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541264"/>
            <a:ext cx="6858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22-85-assignment-on-data-quality.txt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559552"/>
            <a:ext cx="192024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2D69CD"/>
                </a:solidFill>
                <a:latin typeface="Calibri"/>
              </a:rPr>
              <a:t>SQL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14FB5"/>
          </a:solidFill>
          <a:ln>
            <a:solidFill>
              <a:srgbClr val="714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00" b="1">
                <a:solidFill>
                  <a:srgbClr val="714FB5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2800" b="1">
                <a:solidFill>
                  <a:srgbClr val="14233E"/>
                </a:solidFill>
                <a:latin typeface="Calibri"/>
              </a:rPr>
              <a:t>Source index 3/3 — architecture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200" b="1">
                <a:solidFill>
                  <a:srgbClr val="556377"/>
                </a:solidFill>
                <a:latin typeface="Calibri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256032"/>
            <a:ext cx="1874519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31352" y="292608"/>
            <a:ext cx="1728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TXT TRANSCRIPTS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0126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Sources: 23-9-what-next.txt • 25-1-database-vs-datawarehouse-vs-datalake-legacy-data-engineering.txt • 26-2-relational-database-service-aurora.txt • 27-3-real-world-rds.txt • 28-4-review-what-next.txt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10528"/>
            <a:ext cx="1097280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730" b="0">
                <a:solidFill>
                  <a:srgbClr val="556377"/>
                </a:solidFill>
                <a:latin typeface="Calibri"/>
              </a:rPr>
              <a:t>SQL &amp; RDS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53312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68680" y="1444752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41832" y="1481328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444752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23-9-what-next.txt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714FB5"/>
                </a:solidFill>
                <a:latin typeface="Calibri"/>
              </a:rPr>
              <a:t>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75104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68680" y="2066544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1832" y="2103120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066544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25-1-database-vs-datawarehouse-vs-datalake-legacy-data-engineering.txt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84832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714FB5"/>
                </a:solidFill>
                <a:latin typeface="Calibri"/>
              </a:rPr>
              <a:t>RDS /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596896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68680" y="2688336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41832" y="2724912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688336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26-2-relational-database-service-aurora.txt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06624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714FB5"/>
                </a:solidFill>
                <a:latin typeface="Calibri"/>
              </a:rPr>
              <a:t>RDS /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218688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68680" y="3310128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41832" y="3346704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310128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27-3-real-world-rds.txt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328416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714FB5"/>
                </a:solidFill>
                <a:latin typeface="Calibri"/>
              </a:rPr>
              <a:t>RDS /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840480"/>
            <a:ext cx="1083564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868680" y="3931920"/>
            <a:ext cx="658368" cy="2834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41832" y="3968496"/>
            <a:ext cx="51206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850" b="1">
                <a:solidFill>
                  <a:srgbClr val="714FB5"/>
                </a:solidFill>
                <a:latin typeface="Calibri"/>
              </a:rPr>
              <a:t>T21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931920"/>
            <a:ext cx="68580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350" b="1">
                <a:solidFill>
                  <a:srgbClr val="14233E"/>
                </a:solidFill>
                <a:latin typeface="Calibri"/>
              </a:rPr>
              <a:t>28-4-review-what-next.txt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950208"/>
            <a:ext cx="192024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050" b="1">
                <a:solidFill>
                  <a:srgbClr val="714FB5"/>
                </a:solidFill>
                <a:latin typeface="Calibri"/>
              </a:rPr>
              <a:t>RDS /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937760"/>
            <a:ext cx="10835640" cy="1005840"/>
          </a:xfrm>
          <a:prstGeom prst="roundRect">
            <a:avLst/>
          </a:prstGeom>
          <a:solidFill>
            <a:srgbClr val="FCF6E1"/>
          </a:solidFill>
          <a:ln w="10160">
            <a:solidFill>
              <a:srgbClr val="FCF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14400" y="5212080"/>
            <a:ext cx="10378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>
                <a:latin typeface="Calibri"/>
              </a:defRPr>
            </a:pPr>
            <a:r>
              <a:rPr sz="1400" b="1">
                <a:solidFill>
                  <a:srgbClr val="14233E"/>
                </a:solidFill>
                <a:latin typeface="Calibri"/>
              </a:rPr>
              <a:t>Resource boundary: transcript-mentioned setup/teardown scripts, assignments, solutions, PDFs, and external links were not present and were not read. VTT files were ignored as requested.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&amp; RDS Foundations — Detailed Beginner Presentation</dc:title>
  <dc:subject>RADE Phase 1 Module 03</dc:subject>
  <dc:creator>RADE learning workspace</dc:creator>
  <cp:keywords>SQL, AWS RDS, Aurora, PostgreSQL, data engineering</cp:keywords>
  <dc:description>Built from all 21 local TXT transcripts; matching VTT files ignored.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