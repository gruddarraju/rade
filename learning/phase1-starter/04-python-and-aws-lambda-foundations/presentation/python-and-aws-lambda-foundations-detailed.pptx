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73736" y="0"/>
            <a:ext cx="64008" cy="6858000"/>
          </a:xfrm>
          <a:prstGeom prst="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67512"/>
            <a:ext cx="5394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009B96"/>
                </a:solidFill>
                <a:latin typeface="Aptos"/>
              </a:defRPr>
            </a:pPr>
            <a:r>
              <a:t>MODULE 04 · DETAILED LEARNING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234440"/>
            <a:ext cx="6949440" cy="1645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700" b="1">
                <a:solidFill>
                  <a:srgbClr val="FFFFFF"/>
                </a:solidFill>
                <a:latin typeface="Aptos"/>
              </a:defRPr>
            </a:pPr>
            <a:r>
              <a:t>Python &amp; AWS Lambda</a:t>
            </a:r>
            <a:br/>
            <a: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630936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0">
                <a:solidFill>
                  <a:srgbClr val="D8E5F0"/>
                </a:solidFill>
                <a:latin typeface="Aptos"/>
              </a:defRPr>
            </a:pPr>
            <a:r>
              <a:t>A beginner-friendly path from Python syntax to event-driven, production-aware serverless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727448"/>
            <a:ext cx="1328166" cy="758952"/>
          </a:xfrm>
          <a:prstGeom prst="roundRect">
            <a:avLst/>
          </a:prstGeom>
          <a:solidFill>
            <a:srgbClr val="12364A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4855464"/>
            <a:ext cx="116357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05406" y="4983480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34006" y="4727448"/>
            <a:ext cx="1328166" cy="758952"/>
          </a:xfrm>
          <a:prstGeom prst="roundRect">
            <a:avLst/>
          </a:prstGeom>
          <a:solidFill>
            <a:srgbClr val="12364A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6302" y="4855464"/>
            <a:ext cx="116357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9604" y="4983480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18204" y="4727448"/>
            <a:ext cx="1328166" cy="758952"/>
          </a:xfrm>
          <a:prstGeom prst="roundRect">
            <a:avLst/>
          </a:prstGeom>
          <a:solidFill>
            <a:srgbClr val="12364A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00500" y="4855464"/>
            <a:ext cx="116357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73802" y="4983480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02402" y="4727448"/>
            <a:ext cx="1328166" cy="758952"/>
          </a:xfrm>
          <a:prstGeom prst="roundRect">
            <a:avLst/>
          </a:prstGeom>
          <a:solidFill>
            <a:srgbClr val="12364A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4698" y="4855464"/>
            <a:ext cx="116357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18" name="Oval 17"/>
          <p:cNvSpPr/>
          <p:nvPr/>
        </p:nvSpPr>
        <p:spPr>
          <a:xfrm>
            <a:off x="8321040" y="1024128"/>
            <a:ext cx="2487168" cy="2487168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33104" y="1581912"/>
            <a:ext cx="1463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029968"/>
            <a:ext cx="548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496312"/>
            <a:ext cx="1572768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handler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81344"/>
            <a:ext cx="7680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A9BAC8"/>
                </a:solidFill>
                <a:latin typeface="Aptos"/>
              </a:defRPr>
            </a:pPr>
            <a:r>
              <a:t>Based on all 17 available local .txt transcripts · .vtt files excluded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6144768"/>
            <a:ext cx="23317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000" b="1">
                <a:solidFill>
                  <a:srgbClr val="A9BAC8"/>
                </a:solidFill>
                <a:latin typeface="Aptos"/>
              </a:defRPr>
            </a:pPr>
            <a:r>
              <a:t>RADE · Phase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How to read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C66DC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Synthesis / navigation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429000" cy="3419856"/>
          </a:xfrm>
          <a:prstGeom prst="roundRect">
            <a:avLst/>
          </a:prstGeom>
          <a:solidFill>
            <a:srgbClr val="EAF0FD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82296" cy="3419856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9992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C66DC"/>
                </a:solidFill>
                <a:latin typeface="Aptos"/>
              </a:defRPr>
            </a:pPr>
            <a:r>
              <a:t>TRANSCRIPT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41448"/>
            <a:ext cx="2999232" cy="2670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Ideas demonstrated or stated in the 17 local lesson transcripts.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Each content slide names its source transcript filename in the footer.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Code is synthesized for teaching; it is not a verbatim transcript dump.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28800"/>
            <a:ext cx="3429000" cy="3419856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1828800"/>
            <a:ext cx="82296" cy="3419856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011680"/>
            <a:ext cx="29992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CURRENT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41448"/>
            <a:ext cx="2999232" cy="2670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Production cautions are visually labeled as current guidance.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These include least privilege, secrets, logging, idempotency, retries, cost, and teardown.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They supplement—not overwrite—the course narrative.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828800"/>
            <a:ext cx="3429000" cy="3419856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47304" y="1828800"/>
            <a:ext cx="82296" cy="3419856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2011680"/>
            <a:ext cx="29992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SOURCE 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441448"/>
            <a:ext cx="2999232" cy="2670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T01–T17 are compact source IDs.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The final source index maps every ID to its exact filename.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Missing numbered pages and unread material are never inferred.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5577840"/>
            <a:ext cx="9546336" cy="530352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7048" y="5742431"/>
            <a:ext cx="9144000" cy="21945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Goal: understand the code, explain the AWS behavior, and practice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Roadmap: syntax → serverless → production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C66DC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Synthesis / navigation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1962302" cy="75895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066544"/>
            <a:ext cx="179771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C66DC"/>
                </a:solidFill>
                <a:latin typeface="Aptos"/>
              </a:defRPr>
            </a:pPr>
            <a:r>
              <a:t>1  Python</a:t>
            </a:r>
            <a:br/>
            <a:r>
              <a:t>mental model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48102" y="2194560"/>
            <a:ext cx="182880" cy="237744"/>
          </a:xfrm>
          <a:prstGeom prst="rightArrow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6702" y="1938528"/>
            <a:ext cx="1962302" cy="75895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8998" y="2066544"/>
            <a:ext cx="179771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C66DC"/>
                </a:solidFill>
                <a:latin typeface="Aptos"/>
              </a:defRPr>
            </a:pPr>
            <a:r>
              <a:t>2  Core</a:t>
            </a:r>
            <a:br/>
            <a:r>
              <a:t>syntax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66436" y="2194560"/>
            <a:ext cx="182880" cy="237744"/>
          </a:xfrm>
          <a:prstGeom prst="rightArrow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5036" y="1938528"/>
            <a:ext cx="1962302" cy="75895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7332" y="2066544"/>
            <a:ext cx="179771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C66DC"/>
                </a:solidFill>
                <a:latin typeface="Aptos"/>
              </a:defRPr>
            </a:pPr>
            <a:r>
              <a:t>3  Lambda</a:t>
            </a:r>
            <a:br/>
            <a:r>
              <a:t>mechanics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84771" y="2194560"/>
            <a:ext cx="182880" cy="237744"/>
          </a:xfrm>
          <a:prstGeom prst="rightArrow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3371" y="1938528"/>
            <a:ext cx="1962302" cy="75895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5667" y="2066544"/>
            <a:ext cx="179771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C66DC"/>
                </a:solidFill>
                <a:latin typeface="Aptos"/>
              </a:defRPr>
            </a:pPr>
            <a:r>
              <a:t>4  AWS</a:t>
            </a:r>
            <a:br/>
            <a:r>
              <a:t>connections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03105" y="2194560"/>
            <a:ext cx="182880" cy="237744"/>
          </a:xfrm>
          <a:prstGeom prst="rightArrow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31705" y="1938528"/>
            <a:ext cx="1962302" cy="75895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4001" y="2066544"/>
            <a:ext cx="179771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C66DC"/>
                </a:solidFill>
                <a:latin typeface="Aptos"/>
              </a:defRPr>
            </a:pPr>
            <a:r>
              <a:t>5  Practice</a:t>
            </a:r>
            <a:br/>
            <a:r>
              <a:t>&amp; 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27248"/>
            <a:ext cx="3319272" cy="2121408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3127248"/>
            <a:ext cx="82296" cy="212140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10128"/>
            <a:ext cx="288950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PART A · PYTHON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739896"/>
            <a:ext cx="2889504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Variables and types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Collections and control flow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Functions, strings, exceptions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25696" y="3127248"/>
            <a:ext cx="3319272" cy="2121408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25696" y="3127248"/>
            <a:ext cx="82296" cy="212140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54296" y="3310128"/>
            <a:ext cx="288950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PART B · LAMBDA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4296" y="3739896"/>
            <a:ext cx="2889504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Serverless mental model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Handler, event, context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Deploy, test, observe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4" y="3127248"/>
            <a:ext cx="3319272" cy="2121408"/>
          </a:xfrm>
          <a:prstGeom prst="roundRect">
            <a:avLst/>
          </a:prstGeom>
          <a:solidFill>
            <a:srgbClr val="E8F5EE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93024" y="3127248"/>
            <a:ext cx="82296" cy="2121408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3310128"/>
            <a:ext cx="288950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A9160"/>
                </a:solidFill>
                <a:latin typeface="Aptos"/>
              </a:defRPr>
            </a:pPr>
            <a:r>
              <a:t>PART C · APPLY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3739896"/>
            <a:ext cx="2889504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IAM, logs, ARNs, Boto3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Reliability and cost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Mini-project and interview review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54480" y="5559552"/>
            <a:ext cx="9098280" cy="53035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55648" y="5724144"/>
            <a:ext cx="8695944" cy="21945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Learning loop: read → predict → edit → deploy → test → inspect → explain.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Course lab setup: what the transcript asks you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C66DC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T01 03-1-set-up-lambdas-for-learning.txt · T13 16-2-set-up-lambdas-for-learning.txt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5532120" cy="3246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816"/>
              </a:spcAft>
              <a:defRPr sz="1700">
                <a:solidFill>
                  <a:srgbClr val="172B3A"/>
                </a:solidFill>
                <a:latin typeface="Aptos"/>
              </a:defRPr>
            </a:pPr>
            <a:r>
              <a:t>• Open AWS CloudShell and upload the supplied setup Python file(s).</a:t>
            </a:r>
          </a:p>
          <a:p>
            <a:pPr>
              <a:lnSpc>
                <a:spcPct val="112000"/>
              </a:lnSpc>
              <a:spcAft>
                <a:spcPts val="816"/>
              </a:spcAft>
              <a:defRPr sz="1700">
                <a:solidFill>
                  <a:srgbClr val="172B3A"/>
                </a:solidFill>
                <a:latin typeface="Aptos"/>
              </a:defRPr>
            </a:pPr>
            <a:r>
              <a:t>• Run the setup command to create ten lesson Lambda functions.</a:t>
            </a:r>
          </a:p>
          <a:p>
            <a:pPr>
              <a:lnSpc>
                <a:spcPct val="112000"/>
              </a:lnSpc>
              <a:spcAft>
                <a:spcPts val="816"/>
              </a:spcAft>
              <a:defRPr sz="1700">
                <a:solidFill>
                  <a:srgbClr val="172B3A"/>
                </a:solidFill>
                <a:latin typeface="Aptos"/>
              </a:defRPr>
            </a:pPr>
            <a:r>
              <a:t>• Open the Variables lesson function and create a test event.</a:t>
            </a:r>
          </a:p>
          <a:p>
            <a:pPr>
              <a:lnSpc>
                <a:spcPct val="112000"/>
              </a:lnSpc>
              <a:spcAft>
                <a:spcPts val="816"/>
              </a:spcAft>
              <a:defRPr sz="1700">
                <a:solidFill>
                  <a:srgbClr val="172B3A"/>
                </a:solidFill>
                <a:latin typeface="Aptos"/>
              </a:defRPr>
            </a:pPr>
            <a:r>
              <a:t>• Invoke the function and focus first on Python output, not every Lambda metric.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11112" y="2075688"/>
            <a:ext cx="102412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2203704"/>
            <a:ext cx="85953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CloudShell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62672" y="2331720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91272" y="2075688"/>
            <a:ext cx="102412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2203704"/>
            <a:ext cx="85953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Setup script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942832" y="2331720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71432" y="2075688"/>
            <a:ext cx="102412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53728" y="2203704"/>
            <a:ext cx="85953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10 Lambdas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222992" y="2331720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451592" y="2075688"/>
            <a:ext cx="102412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33888" y="2203704"/>
            <a:ext cx="85953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Test event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11112" y="3429000"/>
            <a:ext cx="4864608" cy="107899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3557016"/>
            <a:ext cx="44988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C66DC"/>
                </a:solidFill>
                <a:latin typeface="Aptos"/>
              </a:defRPr>
            </a:pPr>
            <a:r>
              <a:t>COVERAGE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3877056"/>
            <a:ext cx="4498848" cy="51206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Transcript note: T01 and T13 describe substantially the same setup workflow in two course sections.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1112" y="4782312"/>
            <a:ext cx="4864608" cy="914400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4910328"/>
            <a:ext cx="44988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E07736"/>
                </a:solidFill>
                <a:latin typeface="Aptos"/>
              </a:defRPr>
            </a:pPr>
            <a:r>
              <a:t>LOCAL-ASSET 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5230368"/>
            <a:ext cx="44988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The referenced upload files are not stored in this module. This deck does not claim to have read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The edit–deploy–test learning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C66DC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T01 03-1-set-up-lambdas-for-learning.txt · T02 04-2-variables.txt · T13 16-2-set-up-lambdas-for-learning.txt · T14 17-3-create-a-lambda-from-scratch.txt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103120"/>
            <a:ext cx="195315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178856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Edit code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75534" y="235915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4134" y="2103120"/>
            <a:ext cx="195315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6430" y="2231136"/>
            <a:ext cx="178856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84724" y="235915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13324" y="2103120"/>
            <a:ext cx="195315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5620" y="2231136"/>
            <a:ext cx="178856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Configure test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93915" y="235915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22515" y="2103120"/>
            <a:ext cx="195315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4811" y="2231136"/>
            <a:ext cx="178856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Invoke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03105" y="235915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31705" y="2103120"/>
            <a:ext cx="195315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4001" y="2231136"/>
            <a:ext cx="178856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Inspect output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3337560"/>
            <a:ext cx="5047488" cy="1874519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3337560"/>
            <a:ext cx="82296" cy="1874519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3520440"/>
            <a:ext cx="46177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WHY DEPLOY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3968496"/>
            <a:ext cx="4617720" cy="10881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50" b="0">
                <a:solidFill>
                  <a:srgbClr val="172B3A"/>
                </a:solidFill>
                <a:latin typeface="Aptos"/>
              </a:defRPr>
            </a:pPr>
            <a:r>
              <a:t>The console editor can contain changes that are not yet the active function version. Deploy before testing the new code.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9904" y="3337560"/>
            <a:ext cx="5394960" cy="1874519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089904" y="3337560"/>
            <a:ext cx="82296" cy="1874519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3520440"/>
            <a:ext cx="49651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BEGINNER HABIT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3968496"/>
            <a:ext cx="4965192" cy="10881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50" b="0">
                <a:solidFill>
                  <a:srgbClr val="172B3A"/>
                </a:solidFill>
                <a:latin typeface="Aptos"/>
              </a:defRPr>
            </a:pPr>
            <a:r>
              <a:t>Change one value or branch at a time. Predict the output before invoking, then compare your prediction with the result.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5532120"/>
            <a:ext cx="9784080" cy="53035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89888" y="5696712"/>
            <a:ext cx="9381744" cy="21945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Observation is part of coding: the response, printed logs, errors, duration, and memory all tell a 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Python mental model: values flow through names and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T02 04-2-variables.txt · T03 05-3-data-types-data-structures.txt · T06 08-6-functions.txt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65960"/>
            <a:ext cx="2471166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2093976"/>
            <a:ext cx="230657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Input values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8406" y="2221991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7006" y="1965960"/>
            <a:ext cx="2471166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9301" y="2093976"/>
            <a:ext cx="230657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Variables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75604" y="2221991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4204" y="1965960"/>
            <a:ext cx="2471166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2093976"/>
            <a:ext cx="230657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Transformations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02802" y="2221991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31402" y="1965960"/>
            <a:ext cx="2471166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3698" y="2093976"/>
            <a:ext cx="230657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Returned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163824"/>
            <a:ext cx="4910328" cy="221284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300984"/>
            <a:ext cx="45079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639312"/>
            <a:ext cx="4507992" cy="160934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name = "Asha"</a:t>
            </a:r>
            <a:br/>
            <a:r>
              <a:t>age = 28</a:t>
            </a:r>
            <a:br/>
            <a:r>
              <a:t>message = f"{name} is {age}"</a:t>
            </a:r>
            <a:br/>
            <a:r>
              <a:t>print(message)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16752" y="3163824"/>
            <a:ext cx="5385816" cy="2212848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16752" y="3163824"/>
            <a:ext cx="82296" cy="221284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3346704"/>
            <a:ext cx="495604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READ IT ALOUD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776472"/>
            <a:ext cx="4956048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Store the string Asha in the name variable.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Store the integer 28 in age.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Build a formatted string using both values.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Print the final message.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Variables: names that point to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T02 04-2-variables.txt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5266944" cy="2505456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11679"/>
            <a:ext cx="4864607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50008"/>
            <a:ext cx="4864607" cy="19019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name = "Maya"          # str</a:t>
            </a:r>
            <a:br/>
            <a:r>
              <a:t>age = 30               # int</a:t>
            </a:r>
            <a:br/>
            <a:r>
              <a:t>salary = 85000.50     # float</a:t>
            </a:r>
            <a:br/>
            <a:r>
              <a:t>certified = True       # bool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74519"/>
            <a:ext cx="5230368" cy="2505456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91072" y="1874519"/>
            <a:ext cx="82296" cy="2505456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057400"/>
            <a:ext cx="48006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487168"/>
            <a:ext cx="4800600" cy="1755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Left side: the variable name.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= means assign, not mathematical equality.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Right side: the value Python stores.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Names should communicate meaning.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73168"/>
            <a:ext cx="10863072" cy="822960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901183"/>
            <a:ext cx="10497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A9160"/>
                </a:solidFill>
                <a:latin typeface="Aptos"/>
              </a:defRPr>
            </a:pPr>
            <a:r>
              <a:t>HANDS-ON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221224"/>
            <a:ext cx="1049731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Try it: change name, age, salary, and certified. Predict the f-string output before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Core data types: shape determines valid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T02 04-2-variables.txt · T03 05-3-data-types-data-structures.txt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2487168" cy="1947672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82296" cy="194767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29968"/>
            <a:ext cx="20574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009B96"/>
                </a:solidFill>
                <a:latin typeface="Aptos"/>
              </a:defRPr>
            </a:pPr>
            <a:r>
              <a:t>str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9736"/>
            <a:ext cx="2057400" cy="11978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"s3://bucket/file.csv"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847088"/>
            <a:ext cx="2487168" cy="1947672"/>
          </a:xfrm>
          <a:prstGeom prst="roundRect">
            <a:avLst/>
          </a:prstGeom>
          <a:solidFill>
            <a:srgbClr val="EAF0FD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19856" y="1847088"/>
            <a:ext cx="82296" cy="1947672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2029968"/>
            <a:ext cx="20574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2C66DC"/>
                </a:solidFill>
                <a:latin typeface="Aptos"/>
              </a:defRPr>
            </a:pPr>
            <a:r>
              <a:t>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2459736"/>
            <a:ext cx="2057400" cy="11978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42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Whole number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847088"/>
            <a:ext cx="2487168" cy="1947672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847088"/>
            <a:ext cx="82296" cy="194767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2029968"/>
            <a:ext cx="20574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6F52B8"/>
                </a:solidFill>
                <a:latin typeface="Aptos"/>
              </a:defRPr>
            </a:pPr>
            <a:r>
              <a:t>float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459736"/>
            <a:ext cx="2057400" cy="11978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98.6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Decimal number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1847088"/>
            <a:ext cx="2487168" cy="1947672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42832" y="1847088"/>
            <a:ext cx="82296" cy="194767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2029968"/>
            <a:ext cx="20574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900" b="1">
                <a:solidFill>
                  <a:srgbClr val="E07736"/>
                </a:solidFill>
                <a:latin typeface="Aptos"/>
              </a:defRPr>
            </a:pPr>
            <a:r>
              <a:t>bool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459736"/>
            <a:ext cx="2057400" cy="11978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True / False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Decision flag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343400"/>
            <a:ext cx="10241280" cy="749808"/>
          </a:xfrm>
          <a:prstGeom prst="roundRect">
            <a:avLst/>
          </a:prstGeom>
          <a:solidFill>
            <a:srgbClr val="FBECEB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471416"/>
            <a:ext cx="9875519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C4473D"/>
                </a:solidFill>
                <a:latin typeface="Aptos"/>
              </a:defRPr>
            </a:pPr>
            <a:r>
              <a:t>COMMON 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791456"/>
            <a:ext cx="9875519" cy="18287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Type mismatch is a common beginner bug: you cannot safely add text and numbers without an explicit conversion.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30752" y="5285232"/>
            <a:ext cx="4727448" cy="84124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5422392"/>
            <a:ext cx="4325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C66DC"/>
                </a:solidFill>
                <a:latin typeface="Aptos"/>
              </a:defRPr>
            </a:pPr>
            <a:r>
              <a:t>EXPLICIT CONVERSION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760720"/>
            <a:ext cx="432511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records = int("25")</a:t>
            </a:r>
            <a:br/>
            <a:r>
              <a:t>message = "records=" + str(records)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Collections: group related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T03 05-3-data-types-data-structures.txt · T08 10-8-dictionaries.txt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212080" cy="3273552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82296" cy="32735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48256"/>
            <a:ext cx="478231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LIST · ORDERED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78024"/>
            <a:ext cx="4782312" cy="2523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services = ["S3", "Lambda", "Glue"]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Use zero-based numeric positions.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Best when order or repetition matters.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Example: services[0] returns S3.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1865376"/>
            <a:ext cx="5294376" cy="3273552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7064" y="1865376"/>
            <a:ext cx="82296" cy="32735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048256"/>
            <a:ext cx="4864608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DICTIONARY · NAMED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78024"/>
            <a:ext cx="4864608" cy="2523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job = {"name": "daily_load", "active": True}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Use keys instead of positions.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Best for records, settings, and event payloads.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Example: job["name"] returns daily_load.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38528" y="5504688"/>
            <a:ext cx="8321040" cy="548640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39696" y="5669279"/>
            <a:ext cx="7918704" cy="23774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Choose the structure that makes the next operation easiest to explain.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Lists and indexing: positions start at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T03 05-3-data-types-data-structures.txt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56231"/>
            <a:ext cx="5074920" cy="248716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93391"/>
            <a:ext cx="4672583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31720"/>
            <a:ext cx="4672583" cy="18836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services = ["S3", "Lambda", "Glue"]</a:t>
            </a:r>
            <a:br/>
            <a:br/>
            <a:r>
              <a:t>first = services[0]   # "S3"</a:t>
            </a:r>
            <a:br/>
            <a:r>
              <a:t>third = services[2]   # "Glue"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993392"/>
            <a:ext cx="1615440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121408"/>
            <a:ext cx="1450848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0</a:t>
            </a:r>
            <a:br/>
            <a:r>
              <a:t>S3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96784" y="2249424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25384" y="1993392"/>
            <a:ext cx="1615440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7680" y="2121408"/>
            <a:ext cx="1450848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1</a:t>
            </a:r>
            <a:br/>
            <a:r>
              <a:t>Lambda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668256" y="2249424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96856" y="1993392"/>
            <a:ext cx="1615440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79152" y="2121408"/>
            <a:ext cx="1450848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2</a:t>
            </a:r>
            <a:br/>
            <a:r>
              <a:t>Glue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2" y="3319272"/>
            <a:ext cx="5358384" cy="1078992"/>
          </a:xfrm>
          <a:prstGeom prst="roundRect">
            <a:avLst/>
          </a:prstGeom>
          <a:solidFill>
            <a:srgbClr val="FBECEB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447288"/>
            <a:ext cx="499262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C4473D"/>
                </a:solidFill>
                <a:latin typeface="Aptos"/>
              </a:defRPr>
            </a:pPr>
            <a:r>
              <a:t>COMMON 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767328"/>
            <a:ext cx="4992624" cy="51206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IndexError means the requested position does not exist. For three items, valid indexes are 0, 1, and 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01184"/>
            <a:ext cx="10853928" cy="694944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5029200"/>
            <a:ext cx="10488167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A9160"/>
                </a:solidFill>
                <a:latin typeface="Aptos"/>
              </a:defRPr>
            </a:pPr>
            <a:r>
              <a:t>TRY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349240"/>
            <a:ext cx="10488167" cy="12801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Practice: replace one service, append another, then print the final item.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Dictionaries: keys make data self-describing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T03 05-3-data-types-data-structures.txt · T08 10-8-dictionaries.txt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56231"/>
            <a:ext cx="5102352" cy="3200400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93391"/>
            <a:ext cx="470001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31720"/>
            <a:ext cx="4700016" cy="2596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pipeline = {</a:t>
            </a:r>
            <a:br/>
            <a:r>
              <a:t>    "name": "orders",</a:t>
            </a:r>
            <a:br/>
            <a:r>
              <a:t>    "active": True,</a:t>
            </a:r>
            <a:br/>
            <a:r>
              <a:t>    "retries": 3</a:t>
            </a:r>
            <a:br/>
            <a:r>
              <a:t>}</a:t>
            </a:r>
            <a:br/>
            <a:br/>
            <a:r>
              <a:t>print(pipeline["name"])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856231"/>
            <a:ext cx="5367528" cy="3200400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44768" y="1856231"/>
            <a:ext cx="82296" cy="3200400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39112"/>
            <a:ext cx="493776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DICTIONARY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68879"/>
            <a:ext cx="4937760" cy="245059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Read: pipeline["name"]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Update: pipeline["retries"] = 5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Add: pipeline["owner"] = "data-team"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Check: "owner" in pipeline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Inspect: .keys(), .values(), .items()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0704" y="5440680"/>
            <a:ext cx="10058400" cy="62179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61872" y="5605272"/>
            <a:ext cx="9656064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Interview signal: dictionaries appear everywhere—API payloads, configuration, JSON-like events, and metadata.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Nested dictionaries: follow one key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T08 10-8-dictionaries.txt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705856" cy="3895344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65960"/>
            <a:ext cx="530352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04288"/>
            <a:ext cx="5303520" cy="32918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event = {</a:t>
            </a:r>
            <a:br/>
            <a:r>
              <a:t>    "detail": {</a:t>
            </a:r>
            <a:br/>
            <a:r>
              <a:t>        "bucket": {"name": "raw-zone"},</a:t>
            </a:r>
            <a:br/>
            <a:r>
              <a:t>        "object": {"key": "orders.csv"}</a:t>
            </a:r>
            <a:br/>
            <a:r>
              <a:t>    }</a:t>
            </a:r>
            <a:br/>
            <a:r>
              <a:t>}</a:t>
            </a:r>
            <a:br/>
            <a:br/>
            <a:r>
              <a:t>key = event["detail"]["object"]["key"]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408" y="1828800"/>
            <a:ext cx="4809744" cy="2130552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3408" y="1828800"/>
            <a:ext cx="82296" cy="21305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8" y="2011680"/>
            <a:ext cx="437997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TRACE THE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2441448"/>
            <a:ext cx="4379976" cy="138074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Start at event.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Open detail.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Open object.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Read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93408" y="4288536"/>
            <a:ext cx="4809744" cy="1115568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4416552"/>
            <a:ext cx="4443983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009B96"/>
                </a:solidFill>
                <a:latin typeface="Aptos"/>
              </a:defRPr>
            </a:pPr>
            <a:r>
              <a:t>BEGINNER TIP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4736592"/>
            <a:ext cx="4443983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Draw the braces as boxes if the nesting feels confusing. The access expression mirrors the 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Conditional execution: choose exactly one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T04 06-4-conditional-execution.txt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4992624" cy="2788920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84248"/>
            <a:ext cx="459028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22576"/>
            <a:ext cx="4590288" cy="21854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if score &gt;= 90:</a:t>
            </a:r>
            <a:br/>
            <a:r>
              <a:t>    grade = "A"</a:t>
            </a:r>
            <a:br/>
            <a:r>
              <a:t>elif score &gt;= 75:</a:t>
            </a:r>
            <a:br/>
            <a:r>
              <a:t>    grade = "B"</a:t>
            </a:r>
            <a:br/>
            <a:r>
              <a:t>else:</a:t>
            </a:r>
            <a:br/>
            <a:r>
              <a:t>    grade = "Needs review"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847088"/>
            <a:ext cx="5468112" cy="2788920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44184" y="1847088"/>
            <a:ext cx="82296" cy="2788920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2029968"/>
            <a:ext cx="503834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HOW PYTHON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2459736"/>
            <a:ext cx="5038344" cy="20391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Conditions are checked from top to bottom.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The first True branch runs.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Remaining elif/else branches are skipped.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Indentation defines each branch body.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047488"/>
            <a:ext cx="9994392" cy="658368"/>
          </a:xfrm>
          <a:prstGeom prst="roundRect">
            <a:avLst/>
          </a:prstGeom>
          <a:solidFill>
            <a:srgbClr val="FBECEB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5175503"/>
            <a:ext cx="9628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C4473D"/>
                </a:solidFill>
                <a:latin typeface="Aptos"/>
              </a:defRPr>
            </a:pPr>
            <a:r>
              <a:t>COMMON LOGIC 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95544"/>
            <a:ext cx="9628632" cy="914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Order matters: test the most specific or highest threshold before broader conditions.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Nested conditions and membership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T04 06-4-conditional-execution.txt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65376"/>
            <a:ext cx="5413248" cy="3154680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02536"/>
            <a:ext cx="50109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40864"/>
            <a:ext cx="5010912" cy="2551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if active:</a:t>
            </a:r>
            <a:br/>
            <a:r>
              <a:t>    if "S3" in services:</a:t>
            </a:r>
            <a:br/>
            <a:r>
              <a:t>        message = "Ready to ingest"</a:t>
            </a:r>
            <a:br/>
            <a:r>
              <a:t>    else:</a:t>
            </a:r>
            <a:br/>
            <a:r>
              <a:t>        message = "Add an S3 source"</a:t>
            </a:r>
            <a:br/>
            <a:r>
              <a:t>else:</a:t>
            </a:r>
            <a:br/>
            <a:r>
              <a:t>    message = "Pipeline disabled"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37376" y="1865376"/>
            <a:ext cx="5074920" cy="3154680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37376" y="1865376"/>
            <a:ext cx="82296" cy="3154680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5976" y="2048256"/>
            <a:ext cx="464515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READABILITY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2478024"/>
            <a:ext cx="4645152" cy="24048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Use in to test membership.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Use booleans directly: if active.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Keep nesting shallow when possible.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Give each branch an observable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5440680"/>
            <a:ext cx="8439912" cy="566928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8" y="5605272"/>
            <a:ext cx="8037576" cy="25603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Practice all paths: active/S3, active/no S3, and inactive.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Loops: repeat a transformation over a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T05 07-5-looping.txt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422392" cy="3822191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65960"/>
            <a:ext cx="5020055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04288"/>
            <a:ext cx="5020055" cy="32186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for service in services:</a:t>
            </a:r>
            <a:br/>
            <a:r>
              <a:t>    print(service)</a:t>
            </a:r>
            <a:br/>
            <a:br/>
            <a:r>
              <a:t>for number in range(1, 4):</a:t>
            </a:r>
            <a:br/>
            <a:r>
              <a:t>    print(number)</a:t>
            </a:r>
            <a:br/>
            <a:br/>
            <a:r>
              <a:t>for key, value in pipeline.items():</a:t>
            </a:r>
            <a:br/>
            <a:r>
              <a:t>    print(key, value)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1828800"/>
            <a:ext cx="5084064" cy="2011680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28232" y="1828800"/>
            <a:ext cx="82296" cy="2011680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011680"/>
            <a:ext cx="465429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THREE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441448"/>
            <a:ext cx="4654296" cy="12618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List iteration → each value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range(start, stop) → generated numbers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.items() → dictionary key/value pairs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8232" y="4169663"/>
            <a:ext cx="5084064" cy="1060704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4297679"/>
            <a:ext cx="4718303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C66DC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4617720"/>
            <a:ext cx="4718303" cy="4937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range(1, 4) produces 1, 2, 3. The stop value is excluded.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Functions: package reusable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T06 08-6-functions.txt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797296" cy="321868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65960"/>
            <a:ext cx="5394959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04288"/>
            <a:ext cx="5394959" cy="2615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def build_s3_uri(bucket, key="input.csv"):</a:t>
            </a:r>
            <a:br/>
            <a:r>
              <a:t>    """Return a complete S3 URI."""</a:t>
            </a:r>
            <a:br/>
            <a:r>
              <a:t>    return f"s3://{bucket}/{key}"</a:t>
            </a:r>
            <a:br/>
            <a:br/>
            <a:r>
              <a:t>uri = build_s3_uri("raw-zone", "orders.csv")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03136" y="1828800"/>
            <a:ext cx="4709160" cy="3218688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03136" y="1828800"/>
            <a:ext cx="82296" cy="321868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1736" y="2011680"/>
            <a:ext cx="42793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FUNCTION 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441448"/>
            <a:ext cx="4279392" cy="2468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def creates the function.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Parameters are named inputs.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Arguments are values passed in.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A default makes an argument optional.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return sends a result to the caller.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5568" y="5431536"/>
            <a:ext cx="9939528" cy="566928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6736" y="5596128"/>
            <a:ext cx="9537192" cy="25603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A function should do one explainable job and have a name that reveals its intent.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From ordinary function to Lambda handler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T06 08-6-functions.txt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56231"/>
            <a:ext cx="5779008" cy="2962656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93391"/>
            <a:ext cx="53766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6F52B8"/>
                </a:solidFill>
                <a:latin typeface="Aptos"/>
              </a:defRPr>
            </a:pPr>
            <a:r>
              <a:t>LAMBDA HANDLER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31720"/>
            <a:ext cx="5376672" cy="2359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def lambda_handler(event, context):</a:t>
            </a:r>
            <a:br/>
            <a:r>
              <a:t>    record_count = event["record_count"]</a:t>
            </a:r>
            <a:br/>
            <a:r>
              <a:t>    print(f"received={record_count}")</a:t>
            </a:r>
            <a:br/>
            <a:r>
              <a:t>    return {"statusCode": 200, "count": record_count}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93992" y="1856231"/>
            <a:ext cx="4709160" cy="2962656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93992" y="1856231"/>
            <a:ext cx="82296" cy="2962656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2039112"/>
            <a:ext cx="42793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TWO OUTPUT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468879"/>
            <a:ext cx="4279392" cy="22128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return → result sent to the invoker.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print → diagnostic output written to logs.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event/context → Lambda-provided arguments.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Handler → configured entry 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9848" y="5230368"/>
            <a:ext cx="10021824" cy="640080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1016" y="5394959"/>
            <a:ext cx="9619488" cy="32918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Do not confuse a returned response with printed log output; they serve different consumers.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String operations for data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T07 09-7-string-operations.txt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37943"/>
            <a:ext cx="5852160" cy="309067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75103"/>
            <a:ext cx="5449824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13432"/>
            <a:ext cx="5449824" cy="2487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raw = "  ORDERS_2025.CSV  "</a:t>
            </a:r>
            <a:br/>
            <a:r>
              <a:t>clean = raw.strip().lower()</a:t>
            </a:r>
            <a:br/>
            <a:r>
              <a:t>valid = clean.startswith("orders_") and clean.endswith(".csv")</a:t>
            </a:r>
            <a:br/>
            <a:r>
              <a:t>renamed = clean.replace("orders_", "sales_")</a:t>
            </a:r>
            <a:br/>
            <a:r>
              <a:t>parts = clean.split("_")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48856" y="1837943"/>
            <a:ext cx="4672584" cy="3090672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48856" y="1837943"/>
            <a:ext cx="82296" cy="309067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7456" y="2020824"/>
            <a:ext cx="424281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METHOD TOOLBOX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2450591"/>
            <a:ext cx="4242816" cy="23408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upper / lower / title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strip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startswith / endswith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replace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split → 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1" y="5294376"/>
            <a:ext cx="10085832" cy="640080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16151" y="5422392"/>
            <a:ext cx="9720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E07736"/>
                </a:solidFill>
                <a:latin typeface="Aptos"/>
              </a:defRPr>
            </a:pPr>
            <a:r>
              <a:t>BEGINNER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1" y="5742432"/>
            <a:ext cx="9720072" cy="7315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Strings are immutable: methods produce new values, so save the result when you need it later.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A tiny filename validation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T07 09-7-string-operations.txt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971446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" y="2048256"/>
            <a:ext cx="180685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Receive name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38958" y="2176272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67558" y="1920240"/>
            <a:ext cx="1971446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9854" y="2048256"/>
            <a:ext cx="180685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strip + lower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66436" y="2176272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5036" y="1920240"/>
            <a:ext cx="1971446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7332" y="2048256"/>
            <a:ext cx="180685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check prefix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93915" y="2176272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22515" y="1920240"/>
            <a:ext cx="1971446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4811" y="2048256"/>
            <a:ext cx="180685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check .csv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21393" y="2176272"/>
            <a:ext cx="182880" cy="237744"/>
          </a:xfrm>
          <a:prstGeom prst="rightArrow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49993" y="1920240"/>
            <a:ext cx="1971446" cy="758952"/>
          </a:xfrm>
          <a:prstGeom prst="roundRect">
            <a:avLst/>
          </a:prstGeom>
          <a:solidFill>
            <a:srgbClr val="E5F6F4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2289" y="2048256"/>
            <a:ext cx="1806854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09B96"/>
                </a:solidFill>
                <a:latin typeface="Aptos"/>
              </a:defRPr>
            </a:pPr>
            <a:r>
              <a:t>accept / reject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200400"/>
            <a:ext cx="5358384" cy="1965960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337560"/>
            <a:ext cx="4956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3675887"/>
            <a:ext cx="4956048" cy="136245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def is_orders_csv(filename):</a:t>
            </a:r>
            <a:br/>
            <a:r>
              <a:t>    clean = filename.strip().lower()</a:t>
            </a:r>
            <a:br/>
            <a:r>
              <a:t>    return clean.startswith("orders_") and clean.endswith(".csv")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5936" y="3200400"/>
            <a:ext cx="5175504" cy="1965960"/>
          </a:xfrm>
          <a:prstGeom prst="roundRect">
            <a:avLst/>
          </a:prstGeom>
          <a:solidFill>
            <a:srgbClr val="E8F5EE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45936" y="3200400"/>
            <a:ext cx="82296" cy="1965960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3383280"/>
            <a:ext cx="474573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A9160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3813048"/>
            <a:ext cx="4745736" cy="12161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"orders_01.csv" → True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" ORDERS_02.CSV " → True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"customers.csv" → False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"orders_03.json" → False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" y="5522976"/>
            <a:ext cx="10213848" cy="566928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576" y="5687568"/>
            <a:ext cx="9811512" cy="25603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The edge cases teach more than the happy path: spaces, letter case, wrong prefix, and wrong extension.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Exception handling: fail deliberately, not mysteriously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T10 12-10-exception-handling.txt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37943"/>
            <a:ext cx="5760720" cy="3511296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75103"/>
            <a:ext cx="5358383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13432"/>
            <a:ext cx="5358383" cy="290779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try:</a:t>
            </a:r>
            <a:br/>
            <a:r>
              <a:t>    count = int(event["record_count"])</a:t>
            </a:r>
            <a:br/>
            <a:r>
              <a:t>except (KeyError, ValueError) as exc:</a:t>
            </a:r>
            <a:br/>
            <a:r>
              <a:t>    print(f"invalid_input type={type(exc).__name__}")</a:t>
            </a:r>
            <a:br/>
            <a:r>
              <a:t>    raise</a:t>
            </a:r>
            <a:br/>
            <a:r>
              <a:t>finally:</a:t>
            </a:r>
            <a:br/>
            <a:r>
              <a:t>    print("validation_finished")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84848" y="1837943"/>
            <a:ext cx="4727448" cy="3511296"/>
          </a:xfrm>
          <a:prstGeom prst="roundRect">
            <a:avLst/>
          </a:prstGeom>
          <a:solidFill>
            <a:srgbClr val="FBECE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84848" y="1837943"/>
            <a:ext cx="82296" cy="3511296"/>
          </a:xfrm>
          <a:prstGeom prst="roundRect">
            <a:avLst/>
          </a:prstGeom>
          <a:solidFill>
            <a:srgbClr val="C4473D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2020824"/>
            <a:ext cx="42976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C4473D"/>
                </a:solidFill>
                <a:latin typeface="Aptos"/>
              </a:defRPr>
            </a:pPr>
            <a:r>
              <a:t>CONTROL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450591"/>
            <a:ext cx="4297680" cy="2761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try: code that may fail.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except: handle a known failure.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finally: always runs.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If no error occurs, except is skipped.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Avoid silently hiding an error.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43584" y="5650992"/>
            <a:ext cx="9692640" cy="502920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44752" y="5815583"/>
            <a:ext cx="9290304" cy="1920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Catch specific exceptions you understand; a broad except can hide the real defect.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Common Python errors: translate the symptom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09B96"/>
                </a:solidFill>
                <a:latin typeface="Aptos"/>
              </a:defRPr>
            </a:pPr>
            <a:r>
              <a:t>21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T03 05-3-data-types-data-structures.txt · T04 06-4-conditional-execution.txt · T05 07-5-looping.txt · T08 10-8-dictionaries.txt · T10 12-10-exception-handling.txt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64792"/>
            <a:ext cx="10844784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01952"/>
            <a:ext cx="15361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1">
                <a:solidFill>
                  <a:srgbClr val="C4473D"/>
                </a:solidFill>
                <a:latin typeface="Aptos"/>
              </a:defRPr>
            </a:pPr>
            <a:r>
              <a:t>SyntaxError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5456" y="1901952"/>
            <a:ext cx="3785615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Python cannot parse the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92807"/>
            <a:ext cx="3291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5368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1901952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1">
                <a:solidFill>
                  <a:srgbClr val="2A9160"/>
                </a:solidFill>
                <a:latin typeface="Aptos"/>
              </a:defRPr>
            </a:pPr>
            <a:r>
              <a:t>Check colons, quotes, brackets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78608"/>
            <a:ext cx="10844784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715768"/>
            <a:ext cx="15361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1">
                <a:solidFill>
                  <a:srgbClr val="C4473D"/>
                </a:solidFill>
                <a:latin typeface="Aptos"/>
              </a:defRPr>
            </a:pPr>
            <a:r>
              <a:t>IndentationError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2715768"/>
            <a:ext cx="3785615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A block is misaligned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706624"/>
            <a:ext cx="3291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5368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2715768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1">
                <a:solidFill>
                  <a:srgbClr val="2A9160"/>
                </a:solidFill>
                <a:latin typeface="Aptos"/>
              </a:defRPr>
            </a:pPr>
            <a:r>
              <a:t>Align code under if/for/def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92424"/>
            <a:ext cx="10844784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529584"/>
            <a:ext cx="15361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1">
                <a:solidFill>
                  <a:srgbClr val="C4473D"/>
                </a:solidFill>
                <a:latin typeface="Aptos"/>
              </a:defRPr>
            </a:pPr>
            <a:r>
              <a:t>KeyError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5456" y="3529584"/>
            <a:ext cx="3785615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Dictionary key is absent or misspelled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520440"/>
            <a:ext cx="3291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5368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529584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1">
                <a:solidFill>
                  <a:srgbClr val="2A9160"/>
                </a:solidFill>
                <a:latin typeface="Aptos"/>
              </a:defRPr>
            </a:pPr>
            <a:r>
              <a:t>Inspect keys and letter case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06240"/>
            <a:ext cx="10844784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343400"/>
            <a:ext cx="15361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1">
                <a:solidFill>
                  <a:srgbClr val="C4473D"/>
                </a:solidFill>
                <a:latin typeface="Aptos"/>
              </a:defRPr>
            </a:pPr>
            <a:r>
              <a:t>IndexError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5456" y="4343400"/>
            <a:ext cx="3785615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List position does not exist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4334255"/>
            <a:ext cx="3291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5368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343400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1">
                <a:solidFill>
                  <a:srgbClr val="2A9160"/>
                </a:solidFill>
                <a:latin typeface="Aptos"/>
              </a:defRPr>
            </a:pPr>
            <a:r>
              <a:t>Check length and zero indexing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020056"/>
            <a:ext cx="10844784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5157216"/>
            <a:ext cx="15361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50" b="1">
                <a:solidFill>
                  <a:srgbClr val="C4473D"/>
                </a:solidFill>
                <a:latin typeface="Aptos"/>
              </a:defRPr>
            </a:pPr>
            <a:r>
              <a:t>TypeError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5456" y="5157216"/>
            <a:ext cx="3785615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Operation does not fit the value 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5148072"/>
            <a:ext cx="32918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53687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5157216"/>
            <a:ext cx="4343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1">
                <a:solidFill>
                  <a:srgbClr val="2A9160"/>
                </a:solidFill>
                <a:latin typeface="Aptos"/>
              </a:defRPr>
            </a:pPr>
            <a:r>
              <a:t>Inspect and convert deliberately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6152" y="5961888"/>
            <a:ext cx="9729216" cy="402336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6126479"/>
            <a:ext cx="9326880" cy="914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Debugging question: What value and type did the program actually receive at the failure point?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Python practice lab: classify incoming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A9160"/>
                </a:solidFill>
                <a:latin typeface="Aptos"/>
              </a:defRPr>
            </a:pPr>
            <a:r>
              <a:t>22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T04 06-4-conditional-execution.txt · T05 07-5-looping.txt · T06 08-6-functions.txt · T07 09-7-string-operations.txt · T08 10-8-dictionaries.txt · T10 12-10-exception-handling.txt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37943"/>
            <a:ext cx="3346704" cy="3511296"/>
          </a:xfrm>
          <a:prstGeom prst="roundRect">
            <a:avLst/>
          </a:prstGeom>
          <a:solidFill>
            <a:srgbClr val="E8F5EE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37943"/>
            <a:ext cx="82296" cy="3511296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20824"/>
            <a:ext cx="291693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A916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0591"/>
            <a:ext cx="2916936" cy="2761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A list of file names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Expected prefix: orders_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Expected suffix: .csv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Some values may be invalid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837943"/>
            <a:ext cx="3346704" cy="3511296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25696" y="1837943"/>
            <a:ext cx="82296" cy="3511296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4296" y="2020824"/>
            <a:ext cx="291693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450591"/>
            <a:ext cx="2916936" cy="2761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Loop through each name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Strip and lowercase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Use a helper function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Catch known conversion/access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837943"/>
            <a:ext cx="3346704" cy="3511296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74736" y="1837943"/>
            <a:ext cx="82296" cy="3511296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2020824"/>
            <a:ext cx="291693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450591"/>
            <a:ext cx="2916936" cy="2761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valid_files list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rejected_files list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Counts returned in a dictionary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Explain every branch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9848" y="5660136"/>
            <a:ext cx="10076688" cy="521207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71016" y="5824728"/>
            <a:ext cx="9674352" cy="21031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Stretch: turn the classifier into lambda_handler(event, context) and pass filenames in the test event.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ORIENT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What next after the Python primer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C66DC"/>
                </a:solidFill>
                <a:latin typeface="Aptos"/>
              </a:defRPr>
            </a:pPr>
            <a:r>
              <a:t>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T11 13-11-what-next.txt · T16 20-6-help-me-help-you.txt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37943"/>
            <a:ext cx="6565392" cy="3639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77"/>
              </a:spcAft>
              <a:defRPr sz="1620">
                <a:solidFill>
                  <a:srgbClr val="172B3A"/>
                </a:solidFill>
                <a:latin typeface="Aptos"/>
              </a:defRPr>
            </a:pPr>
            <a:r>
              <a:t>• The transcript positions this section as an intentionally shallow introduction—not complete Python mastery.</a:t>
            </a:r>
          </a:p>
          <a:p>
            <a:pPr>
              <a:lnSpc>
                <a:spcPct val="112000"/>
              </a:lnSpc>
              <a:spcAft>
                <a:spcPts val="777"/>
              </a:spcAft>
              <a:defRPr sz="1620">
                <a:solidFill>
                  <a:srgbClr val="172B3A"/>
                </a:solidFill>
                <a:latin typeface="Aptos"/>
              </a:defRPr>
            </a:pPr>
            <a:r>
              <a:t>• Next uses include file processing, data transformation, AWS automation with Boto3, and distributed processing with PySpark.</a:t>
            </a:r>
          </a:p>
          <a:p>
            <a:pPr>
              <a:lnSpc>
                <a:spcPct val="112000"/>
              </a:lnSpc>
              <a:spcAft>
                <a:spcPts val="777"/>
              </a:spcAft>
              <a:defRPr sz="1620">
                <a:solidFill>
                  <a:srgbClr val="172B3A"/>
                </a:solidFill>
                <a:latin typeface="Aptos"/>
              </a:defRPr>
            </a:pPr>
            <a:r>
              <a:t>• Use AI as a tutor: ask for explanations, variants, edge cases, and practice—not blind copy/paste.</a:t>
            </a:r>
          </a:p>
          <a:p>
            <a:pPr>
              <a:lnSpc>
                <a:spcPct val="112000"/>
              </a:lnSpc>
              <a:spcAft>
                <a:spcPts val="777"/>
              </a:spcAft>
              <a:defRPr sz="1620">
                <a:solidFill>
                  <a:srgbClr val="172B3A"/>
                </a:solidFill>
                <a:latin typeface="Aptos"/>
              </a:defRPr>
            </a:pPr>
            <a:r>
              <a:t>• The course invites feedback through a form so unclear topics and improvement ideas can be reported.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6096" y="1837943"/>
            <a:ext cx="3886200" cy="3639312"/>
          </a:xfrm>
          <a:prstGeom prst="roundRect">
            <a:avLst/>
          </a:prstGeom>
          <a:solidFill>
            <a:srgbClr val="E8F5EE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26096" y="1837943"/>
            <a:ext cx="82296" cy="3639312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4696" y="2020824"/>
            <a:ext cx="34564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A9160"/>
                </a:solidFill>
                <a:latin typeface="Aptos"/>
              </a:defRPr>
            </a:pPr>
            <a:r>
              <a:t>YOUR LEARNING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2450591"/>
            <a:ext cx="3456432" cy="28895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Type examples yourself.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Change inputs.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Predict before running.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Explain failures.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Record questions and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43584" y="5815584"/>
            <a:ext cx="9710928" cy="402336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5980176"/>
            <a:ext cx="9308592" cy="914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Transcript coverage: T16 contains the feedback request; no technical lesson is invented for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Serverless mental model: run code without managing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24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T12 15-1-lambda-necessary-background.txt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011680"/>
            <a:ext cx="2500884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139696"/>
            <a:ext cx="2336291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32403" y="226771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1003" y="2011680"/>
            <a:ext cx="2500884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3299" y="2139696"/>
            <a:ext cx="2336291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226771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19" y="2011680"/>
            <a:ext cx="2500884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5" y="2139696"/>
            <a:ext cx="2336291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Managed runtime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46235" y="226771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74835" y="2011680"/>
            <a:ext cx="2500884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7131" y="2139696"/>
            <a:ext cx="2336291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Result +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3319272"/>
            <a:ext cx="5129784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4088" y="3319272"/>
            <a:ext cx="82296" cy="193852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502152"/>
            <a:ext cx="470001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TRADITIONAL LOCAL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931920"/>
            <a:ext cx="4700016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You provide CPU, memory, storage, operating system, Python, and an IDE/runtime environment.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319272"/>
            <a:ext cx="5276088" cy="1938528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3319272"/>
            <a:ext cx="82296" cy="193852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3502152"/>
            <a:ext cx="48463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LAMBDA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931920"/>
            <a:ext cx="4846320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AWS manages the underlying execution environment; you provide code, configuration, and permissions.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25296" y="5623560"/>
            <a:ext cx="9756648" cy="53035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6464" y="5788152"/>
            <a:ext cx="9354312" cy="21945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Serverless does not mean no servers—it means the provider manages them for you.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Compute choices: match the service to the workload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T12 15-1-lambda-necessary-background.txt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3401568" cy="3538728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82296" cy="353872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29968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B1F33"/>
                </a:solidFill>
                <a:latin typeface="Aptos"/>
              </a:defRPr>
            </a:pPr>
            <a:r>
              <a:t>EC2 · IaaS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9736"/>
            <a:ext cx="2971800" cy="2788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You manage the instance and operating environment.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Good for persistent/custom compute.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Can run continuously and incur idle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847088"/>
            <a:ext cx="3401568" cy="3538728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8264" y="1847088"/>
            <a:ext cx="82296" cy="3538728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29968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88EB4"/>
                </a:solidFill>
                <a:latin typeface="Aptos"/>
              </a:defRPr>
            </a:pPr>
            <a:r>
              <a:t>MANAGED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459736"/>
            <a:ext cx="2971800" cy="2788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Example from transcript: RDS.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Provider manages more of the platform.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You focus on configuration and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847088"/>
            <a:ext cx="3401568" cy="3538728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19872" y="1847088"/>
            <a:ext cx="82296" cy="353872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029968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LAMBDA · FaaS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59736"/>
            <a:ext cx="2971800" cy="2788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Short, event-driven code execution.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Multiple supported runtimes.</a:t>
            </a:r>
          </a:p>
          <a:p>
            <a:pPr>
              <a:lnSpc>
                <a:spcPct val="112000"/>
              </a:lnSpc>
              <a:spcAft>
                <a:spcPts val="686"/>
              </a:spcAft>
              <a:defRPr sz="1430">
                <a:solidFill>
                  <a:srgbClr val="172B3A"/>
                </a:solidFill>
                <a:latin typeface="Aptos"/>
              </a:defRPr>
            </a:pPr>
            <a:r>
              <a:t>• Not the default for every data workload.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5669280"/>
            <a:ext cx="10305288" cy="530352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5833872"/>
            <a:ext cx="9902952" cy="21945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Decision factors: execution duration, scaling pattern, dependencies, orchestration, and operational control.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Lambda anatomy: five pieces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Oval 8"/>
          <p:cNvSpPr/>
          <p:nvPr/>
        </p:nvSpPr>
        <p:spPr>
          <a:xfrm>
            <a:off x="1298448" y="1874519"/>
            <a:ext cx="621792" cy="621792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6464" y="1993392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97480"/>
            <a:ext cx="1901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6F52B8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163824"/>
            <a:ext cx="190195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80" b="0">
                <a:solidFill>
                  <a:srgbClr val="172B3A"/>
                </a:solidFill>
                <a:latin typeface="Aptos"/>
              </a:defRPr>
            </a:pPr>
            <a:r>
              <a:t>Python version and execution environment</a:t>
            </a:r>
          </a:p>
        </p:txBody>
      </p:sp>
      <p:sp>
        <p:nvSpPr>
          <p:cNvPr id="13" name="Oval 12"/>
          <p:cNvSpPr/>
          <p:nvPr/>
        </p:nvSpPr>
        <p:spPr>
          <a:xfrm>
            <a:off x="3483864" y="1874519"/>
            <a:ext cx="621792" cy="621792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993392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2697480"/>
            <a:ext cx="1901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6F52B8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3784" y="3163824"/>
            <a:ext cx="190195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80" b="0">
                <a:solidFill>
                  <a:srgbClr val="172B3A"/>
                </a:solidFill>
                <a:latin typeface="Aptos"/>
              </a:defRPr>
            </a:pPr>
            <a:r>
              <a:t>index.py or another configured file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1874519"/>
            <a:ext cx="621792" cy="621792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97296" y="1993392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97480"/>
            <a:ext cx="1901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6F52B8"/>
                </a:solidFill>
                <a:latin typeface="Aptos"/>
              </a:defRPr>
            </a:pPr>
            <a:r>
              <a:t>Handler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163824"/>
            <a:ext cx="190195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80" b="0">
                <a:solidFill>
                  <a:srgbClr val="172B3A"/>
                </a:solidFill>
                <a:latin typeface="Aptos"/>
              </a:defRPr>
            </a:pPr>
            <a:r>
              <a:t>Entry-point function name</a:t>
            </a:r>
          </a:p>
        </p:txBody>
      </p:sp>
      <p:sp>
        <p:nvSpPr>
          <p:cNvPr id="21" name="Oval 20"/>
          <p:cNvSpPr/>
          <p:nvPr/>
        </p:nvSpPr>
        <p:spPr>
          <a:xfrm>
            <a:off x="7854696" y="1874519"/>
            <a:ext cx="621792" cy="621792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2712" y="1993392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2697480"/>
            <a:ext cx="1901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6F52B8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6" y="3163824"/>
            <a:ext cx="190195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80" b="0">
                <a:solidFill>
                  <a:srgbClr val="172B3A"/>
                </a:solidFill>
                <a:latin typeface="Aptos"/>
              </a:defRPr>
            </a:pPr>
            <a:r>
              <a:t>AWS permissions used at runtime</a:t>
            </a:r>
          </a:p>
        </p:txBody>
      </p:sp>
      <p:sp>
        <p:nvSpPr>
          <p:cNvPr id="25" name="Oval 24"/>
          <p:cNvSpPr/>
          <p:nvPr/>
        </p:nvSpPr>
        <p:spPr>
          <a:xfrm>
            <a:off x="10040112" y="1874519"/>
            <a:ext cx="621792" cy="621792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68128" y="1993392"/>
            <a:ext cx="3657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697480"/>
            <a:ext cx="1901952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6F52B8"/>
                </a:solidFill>
                <a:latin typeface="Aptos"/>
              </a:defRPr>
            </a:pPr>
            <a:r>
              <a:t>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163824"/>
            <a:ext cx="190195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80" b="0">
                <a:solidFill>
                  <a:srgbClr val="172B3A"/>
                </a:solidFill>
                <a:latin typeface="Aptos"/>
              </a:defRPr>
            </a:pPr>
            <a:r>
              <a:t>Memory, timeout, environment, triggers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25296" y="4727448"/>
            <a:ext cx="9738360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08176" y="4855464"/>
            <a:ext cx="9372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6F52B8"/>
                </a:solidFill>
                <a:latin typeface="Aptos"/>
              </a:defRPr>
            </a:pPr>
            <a:r>
              <a:t>HANDLER NOTATION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8176" y="5175504"/>
            <a:ext cx="9372600" cy="19202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Configured handler example: index.lambda_handler means function lambda_handler inside index.py.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25296" y="5650992"/>
            <a:ext cx="9738360" cy="475488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26464" y="5815583"/>
            <a:ext cx="9336024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Memory configuration also affects available CPU; more memory can change runtime behavior and cost.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Create a Lambda function from scratch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T14 17-3-create-a-lambda-from-scratch.txt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737360"/>
            <a:ext cx="548640" cy="548640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883664"/>
            <a:ext cx="3566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810512"/>
            <a:ext cx="20574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6F52B8"/>
                </a:solidFill>
                <a:latin typeface="Aptos"/>
              </a:defRPr>
            </a:pPr>
            <a:r>
              <a:t>Open Lambda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810512"/>
            <a:ext cx="71140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Search the AWS console for Lambda.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2569464"/>
            <a:ext cx="548640" cy="548640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715768"/>
            <a:ext cx="3566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2642616"/>
            <a:ext cx="20574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6F52B8"/>
                </a:solidFill>
                <a:latin typeface="Aptos"/>
              </a:defRPr>
            </a:pPr>
            <a:r>
              <a:t>Create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42616"/>
            <a:ext cx="71140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Choose author from scratch and name it.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3401568"/>
            <a:ext cx="548640" cy="548640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547872"/>
            <a:ext cx="3566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474720"/>
            <a:ext cx="20574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6F52B8"/>
                </a:solidFill>
                <a:latin typeface="Aptos"/>
              </a:defRPr>
            </a:pPr>
            <a:r>
              <a:t>Choose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474720"/>
            <a:ext cx="71140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Select an appropriate Python runtime.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4233672"/>
            <a:ext cx="548640" cy="548640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379976"/>
            <a:ext cx="3566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4306824"/>
            <a:ext cx="20574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6F52B8"/>
                </a:solidFill>
                <a:latin typeface="Aptos"/>
              </a:defRPr>
            </a:pPr>
            <a:r>
              <a:t>Attach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306824"/>
            <a:ext cx="71140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Use the provided execution role.</a:t>
            </a:r>
          </a:p>
        </p:txBody>
      </p:sp>
      <p:sp>
        <p:nvSpPr>
          <p:cNvPr id="25" name="Oval 24"/>
          <p:cNvSpPr/>
          <p:nvPr/>
        </p:nvSpPr>
        <p:spPr>
          <a:xfrm>
            <a:off x="713232" y="5065776"/>
            <a:ext cx="548640" cy="548640"/>
          </a:xfrm>
          <a:prstGeom prst="ellipse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212080"/>
            <a:ext cx="35661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5138928"/>
            <a:ext cx="20574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6F52B8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138928"/>
            <a:ext cx="71140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Review, create, then inspect boilerplate.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97864" y="5916168"/>
            <a:ext cx="9802368" cy="384048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9032" y="6080759"/>
            <a:ext cx="9400032" cy="731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Console screens evolve. Focus on the durable concepts: runtime, handler, role, configuration, test, and logs.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Configure memory, timeout, and execution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28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T14 17-3-create-a-lambda-from-scratch.txt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37943"/>
            <a:ext cx="3410712" cy="3364992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37943"/>
            <a:ext cx="82296" cy="336499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20824"/>
            <a:ext cx="298094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0591"/>
            <a:ext cx="2980944" cy="2615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Controls available memory.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Also changes CPU allocation.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Observe max memory used in reports.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Tune with real measurements.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837943"/>
            <a:ext cx="3410712" cy="3364992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8264" y="1837943"/>
            <a:ext cx="82296" cy="336499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020824"/>
            <a:ext cx="298094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TIMEOUT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450591"/>
            <a:ext cx="2980944" cy="2615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Caps execution duration.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Lambda maximum: 15 minutes.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Choose less than the max when possible.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A timeout is a failure, not a retry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837943"/>
            <a:ext cx="3410712" cy="3364992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19872" y="1837943"/>
            <a:ext cx="82296" cy="3364992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020824"/>
            <a:ext cx="298094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88EB4"/>
                </a:solidFill>
                <a:latin typeface="Aptos"/>
              </a:defRPr>
            </a:pPr>
            <a:r>
              <a:t>EXECUTION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50591"/>
            <a:ext cx="2980944" cy="2615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Identity assumed by the function.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Controls AWS API access.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Attach only required actions/resources.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Permissions are not business logic.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78992" y="5550408"/>
            <a:ext cx="10076688" cy="566928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5678424"/>
            <a:ext cx="971092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E07736"/>
                </a:solidFill>
                <a:latin typeface="Aptos"/>
              </a:defRPr>
            </a:pPr>
            <a:r>
              <a:t>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5998464"/>
            <a:ext cx="9710928" cy="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Current production guidance is expanded later; this slide separates transcript mechanics from safer operating practices.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Deploy and test: know what each panel tells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29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T14 17-3-create-a-lambda-from-scratch.txt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196778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04825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Edit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3588" y="217627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2188" y="1920240"/>
            <a:ext cx="196778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4484" y="204825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Deploy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7409" y="217627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06009" y="1920240"/>
            <a:ext cx="196778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8305" y="204825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Select event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1230" y="217627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29830" y="1920240"/>
            <a:ext cx="196778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2126" y="204825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25051" y="2176272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53651" y="1920240"/>
            <a:ext cx="1967788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5947" y="204825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91256"/>
            <a:ext cx="3401568" cy="1956816"/>
          </a:xfrm>
          <a:prstGeom prst="roundRect">
            <a:avLst/>
          </a:prstGeom>
          <a:solidFill>
            <a:srgbClr val="E8F5EE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3191256"/>
            <a:ext cx="82296" cy="1956816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74136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A9160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822191"/>
            <a:ext cx="2971800" cy="11704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Aptos"/>
              </a:defRPr>
            </a:pPr>
            <a:r>
              <a:t>The value returned by lambda_handler to the invoker.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98264" y="3191256"/>
            <a:ext cx="3401568" cy="1956816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98264" y="3191256"/>
            <a:ext cx="82296" cy="1956816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3374136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88EB4"/>
                </a:solidFill>
                <a:latin typeface="Aptos"/>
              </a:defRPr>
            </a:pPr>
            <a:r>
              <a:t>FUNCTION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3822191"/>
            <a:ext cx="2971800" cy="11704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Aptos"/>
              </a:defRPr>
            </a:pPr>
            <a:r>
              <a:t>Printed output, error details, and runtime messages.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2" y="3191256"/>
            <a:ext cx="3401568" cy="1956816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19872" y="3191256"/>
            <a:ext cx="82296" cy="1956816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3374136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3822191"/>
            <a:ext cx="2971800" cy="11704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Aptos"/>
              </a:defRPr>
            </a:pPr>
            <a:r>
              <a:t>Duration, billed duration, configured memory, and max memory used.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9848" y="5522976"/>
            <a:ext cx="10076688" cy="566928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71016" y="5687568"/>
            <a:ext cx="9674352" cy="25603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A successful test means this input worked—not that every input and retry scenario is safe.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CloudWatch logs: turn invocation details into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88EB4"/>
                </a:solidFill>
                <a:latin typeface="Aptos"/>
              </a:defRPr>
            </a:pPr>
            <a:r>
              <a:t>30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T06 08-6-functions.txt ·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1967788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00253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Invocation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3588" y="2130552"/>
            <a:ext cx="182880" cy="237744"/>
          </a:xfrm>
          <a:prstGeom prst="rightArrow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2188" y="1874519"/>
            <a:ext cx="1967788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4484" y="200253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print / runtime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7409" y="2130552"/>
            <a:ext cx="182880" cy="237744"/>
          </a:xfrm>
          <a:prstGeom prst="rightArrow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06009" y="1874519"/>
            <a:ext cx="1967788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8305" y="200253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Log group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1230" y="2130552"/>
            <a:ext cx="182880" cy="237744"/>
          </a:xfrm>
          <a:prstGeom prst="rightArrow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29830" y="1874519"/>
            <a:ext cx="1967788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2126" y="200253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Log stream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25051" y="2130552"/>
            <a:ext cx="182880" cy="237744"/>
          </a:xfrm>
          <a:prstGeom prst="rightArrow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53651" y="1874519"/>
            <a:ext cx="1967788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5947" y="2002536"/>
            <a:ext cx="1803196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Search + diagnose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54680"/>
            <a:ext cx="5166360" cy="1984248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3154680"/>
            <a:ext cx="82296" cy="1984248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37560"/>
            <a:ext cx="473659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88EB4"/>
                </a:solidFill>
                <a:latin typeface="Aptos"/>
              </a:defRPr>
            </a:pPr>
            <a:r>
              <a:t>WHAT TO LOOK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3767328"/>
            <a:ext cx="4736592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Start/end/request ID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Your diagnostic messages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Stack trace and error type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Duration and memory report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154680"/>
            <a:ext cx="5321808" cy="1984248"/>
          </a:xfrm>
          <a:prstGeom prst="roundRect">
            <a:avLst/>
          </a:prstGeom>
          <a:solidFill>
            <a:srgbClr val="EAF0FD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99632" y="3154680"/>
            <a:ext cx="82296" cy="1984248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3337560"/>
            <a:ext cx="489204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C66DC"/>
                </a:solidFill>
                <a:latin typeface="Aptos"/>
              </a:defRPr>
            </a:pPr>
            <a:r>
              <a:t>DEBUGGING SEQUENCE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3767328"/>
            <a:ext cx="489204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Identify the failing request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Find the earliest meaningful error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Inspect sanitized inputs and branches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Reproduce with a focused test event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8136" y="5532120"/>
            <a:ext cx="10058400" cy="530352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9304" y="5696712"/>
            <a:ext cx="9656064" cy="21945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Logs are operational data. Current guidance on structure and sensitive data appears on slide 40.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event: the invocation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31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T09 11-9-event-and-context.txt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56231"/>
            <a:ext cx="5532120" cy="267004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93391"/>
            <a:ext cx="5129783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6F52B8"/>
                </a:solidFill>
                <a:latin typeface="Aptos"/>
              </a:defRPr>
            </a:pPr>
            <a:r>
              <a:t>EVENT AS A DICTIONARY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31720"/>
            <a:ext cx="5129783" cy="2066543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def lambda_handler(event, context):</a:t>
            </a:r>
            <a:br/>
            <a:r>
              <a:t>    bucket = event["bucket"]</a:t>
            </a:r>
            <a:br/>
            <a:r>
              <a:t>    key = event["key"]</a:t>
            </a:r>
            <a:br/>
            <a:r>
              <a:t>    return {"s3_uri": f"s3://{bucket}/{key}"}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6248" y="1856231"/>
            <a:ext cx="4956048" cy="2670048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56248" y="1856231"/>
            <a:ext cx="82296" cy="267004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2039112"/>
            <a:ext cx="45262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MENTAL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468879"/>
            <a:ext cx="4526280" cy="1920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event carries invocation-specific data.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Its shape depends on the trigger/source.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Keys are case-sensitive.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Validate before trusting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19472"/>
            <a:ext cx="10853928" cy="777240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5047488"/>
            <a:ext cx="10488167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C66DC"/>
                </a:solidFill>
                <a:latin typeface="Aptos"/>
              </a:defRPr>
            </a:pPr>
            <a:r>
              <a:t>TRANSCRIPT COVERAGE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367528"/>
            <a:ext cx="10488167" cy="21031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T09 only defers Event &amp; Context to the next section; the substantive explanation comes from T15.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Read an event payload like a nested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32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92224"/>
            <a:ext cx="6446520" cy="427939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29384"/>
            <a:ext cx="6044183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6F52B8"/>
                </a:solidFill>
                <a:latin typeface="Aptos"/>
              </a:defRPr>
            </a:pPr>
            <a:r>
              <a:t>SIMPLIFIED S3-STYLE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67712"/>
            <a:ext cx="6044183" cy="367588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event = {</a:t>
            </a:r>
            <a:br/>
            <a:r>
              <a:t>  "Records": [{</a:t>
            </a:r>
            <a:br/>
            <a:r>
              <a:t>    "s3": {</a:t>
            </a:r>
            <a:br/>
            <a:r>
              <a:t>      "bucket": {"name": "raw-zone"},</a:t>
            </a:r>
            <a:br/>
            <a:r>
              <a:t>      "object": {"key": "orders/2025-01-01.csv"}</a:t>
            </a:r>
            <a:br/>
            <a:r>
              <a:t>    }</a:t>
            </a:r>
            <a:br/>
            <a:r>
              <a:t>  }]</a:t>
            </a:r>
            <a:br/>
            <a:r>
              <a:t>}</a:t>
            </a:r>
            <a:br/>
            <a:br/>
            <a:r>
              <a:t>bucket = event["Records"][0]["s3"]["bucket"]["name"]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34072" y="1792224"/>
            <a:ext cx="4078224" cy="2212848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34072" y="1792224"/>
            <a:ext cx="82296" cy="221284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62672" y="1975104"/>
            <a:ext cx="364845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2404872"/>
            <a:ext cx="3648456" cy="1463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Records → first item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s3 → bucket</a:t>
            </a:r>
          </a:p>
          <a:p>
            <a:pPr>
              <a:lnSpc>
                <a:spcPct val="112000"/>
              </a:lnSpc>
              <a:spcAft>
                <a:spcPts val="672"/>
              </a:spcAft>
              <a:defRPr sz="1400">
                <a:solidFill>
                  <a:srgbClr val="172B3A"/>
                </a:solidFill>
                <a:latin typeface="Aptos"/>
              </a:defRPr>
            </a:pPr>
            <a:r>
              <a:t>• name → raw-zone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4072" y="4315968"/>
            <a:ext cx="4078224" cy="1243584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4443983"/>
            <a:ext cx="3712463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E07736"/>
                </a:solidFill>
                <a:latin typeface="Aptos"/>
              </a:defRPr>
            </a:pPr>
            <a:r>
              <a:t>CURRENT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4764024"/>
            <a:ext cx="3712463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Real event schemas vary. Capture a representative event and inspect its shape before coding paths.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context: metadata about this invocation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33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T09 11-9-event-and-context.txt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37943"/>
            <a:ext cx="5184648" cy="3410712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37943"/>
            <a:ext cx="82296" cy="341071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20824"/>
            <a:ext cx="47548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WHAT CONTEXT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0591"/>
            <a:ext cx="4754880" cy="26609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A Lambda-provided object alongside event.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Contains runtime/invocation metadata.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Useful for request identity and remaining time.</a:t>
            </a:r>
          </a:p>
          <a:p>
            <a:pPr>
              <a:lnSpc>
                <a:spcPct val="112000"/>
              </a:lnSpc>
              <a:spcAft>
                <a:spcPts val="719"/>
              </a:spcAft>
              <a:defRPr sz="1500">
                <a:solidFill>
                  <a:srgbClr val="172B3A"/>
                </a:solidFill>
                <a:latin typeface="Aptos"/>
              </a:defRPr>
            </a:pPr>
            <a:r>
              <a:t>• Not the business payload.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837943"/>
            <a:ext cx="5303520" cy="341071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975103"/>
            <a:ext cx="4901183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6F52B8"/>
                </a:solidFill>
                <a:latin typeface="Aptos"/>
              </a:defRPr>
            </a:pPr>
            <a:r>
              <a:t>CONTEXT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313432"/>
            <a:ext cx="4901183" cy="28072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def lambda_handler(event, context):</a:t>
            </a:r>
            <a:br/>
            <a:r>
              <a:t>    request_id = context.aws_request_id</a:t>
            </a:r>
            <a:br/>
            <a:r>
              <a:t>    remaining_ms = context.get_remaining_time_in_millis()</a:t>
            </a:r>
            <a:br/>
            <a:r>
              <a:t>    print(f"request_id={request_id} remaining_ms={remaining_ms}")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5614416"/>
            <a:ext cx="10287000" cy="557784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5742431"/>
            <a:ext cx="99212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E07736"/>
                </a:solidFill>
                <a:latin typeface="Aptos"/>
              </a:defRPr>
            </a:pPr>
            <a:r>
              <a:t>CURRENT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6062472"/>
            <a:ext cx="9921240" cy="-91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Use remaining time to stop safely before a hard timeout when partial work could create inconsistent results.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Handler + event + context: the complete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34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T06 08-6-functions.txt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38528"/>
            <a:ext cx="1964131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66544"/>
            <a:ext cx="179953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9075" y="2194560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1938528"/>
            <a:ext cx="1964131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9971" y="2066544"/>
            <a:ext cx="179953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event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9238" y="2194560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07838" y="1938528"/>
            <a:ext cx="1964131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0134" y="2066544"/>
            <a:ext cx="179953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lambda_handler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99401" y="2194560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28001" y="1938528"/>
            <a:ext cx="1964131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0297" y="2066544"/>
            <a:ext cx="179953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return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19564" y="2194560"/>
            <a:ext cx="182880" cy="237744"/>
          </a:xfrm>
          <a:prstGeom prst="rightArrow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48164" y="1938528"/>
            <a:ext cx="1964131" cy="758952"/>
          </a:xfrm>
          <a:prstGeom prst="roundRect">
            <a:avLst/>
          </a:prstGeom>
          <a:solidFill>
            <a:srgbClr val="F0ECFA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0460" y="2066544"/>
            <a:ext cx="179953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6F52B8"/>
                </a:solidFill>
                <a:latin typeface="Aptos"/>
              </a:defRPr>
            </a:pPr>
            <a:r>
              <a:t>invoker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788152" y="2898648"/>
            <a:ext cx="502920" cy="502920"/>
          </a:xfrm>
          <a:prstGeom prst="downArrow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31336" y="3529584"/>
            <a:ext cx="4416552" cy="1481328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31336" y="3529584"/>
            <a:ext cx="82296" cy="1481328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9936" y="3712463"/>
            <a:ext cx="398678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88EB4"/>
                </a:solidFill>
                <a:latin typeface="Aptos"/>
              </a:defRPr>
            </a:pPr>
            <a:r>
              <a:t>context travels alongside 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6" y="4160520"/>
            <a:ext cx="3986784" cy="6949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Invocation metadata is available inside the same handler call.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" y="5422392"/>
            <a:ext cx="10241280" cy="685800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52144" y="5550407"/>
            <a:ext cx="9875519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A9160"/>
                </a:solidFill>
                <a:latin typeface="Aptos"/>
              </a:defRPr>
            </a:pPr>
            <a:r>
              <a:t>30-SECOND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5870448"/>
            <a:ext cx="9875519" cy="1188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Say it in an interview: The configured handler is Lambda's entry point; event carries trigger data; context carries invocation metadata.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Event-driven orchestration: S3 arrival triggers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88EB4"/>
                </a:solidFill>
                <a:latin typeface="Aptos"/>
              </a:defRPr>
            </a:pPr>
            <a:r>
              <a:t>35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" y="1901952"/>
            <a:ext cx="1973275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029968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File lands in S3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49931" y="2157984"/>
            <a:ext cx="182880" cy="237744"/>
          </a:xfrm>
          <a:prstGeom prst="rightArrow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8531" y="1901952"/>
            <a:ext cx="1973275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0827" y="2029968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S3 event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9238" y="2157984"/>
            <a:ext cx="182880" cy="237744"/>
          </a:xfrm>
          <a:prstGeom prst="rightArrow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07838" y="1901952"/>
            <a:ext cx="1973275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0134" y="2029968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Lambda runs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8545" y="2157984"/>
            <a:ext cx="182880" cy="237744"/>
          </a:xfrm>
          <a:prstGeom prst="rightArrow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7145" y="1901952"/>
            <a:ext cx="1973275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9441" y="2029968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Validate metadata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37852" y="2157984"/>
            <a:ext cx="182880" cy="237744"/>
          </a:xfrm>
          <a:prstGeom prst="rightArrow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66452" y="1901952"/>
            <a:ext cx="1973275" cy="758952"/>
          </a:xfrm>
          <a:prstGeom prst="roundRect">
            <a:avLst/>
          </a:prstGeom>
          <a:solidFill>
            <a:srgbClr val="E7F4F8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8748" y="2029968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88EB4"/>
                </a:solidFill>
                <a:latin typeface="Aptos"/>
              </a:defRPr>
            </a:pPr>
            <a:r>
              <a:t>Call next 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" y="3236976"/>
            <a:ext cx="5230368" cy="1965960"/>
          </a:xfrm>
          <a:prstGeom prst="roundRect">
            <a:avLst/>
          </a:prstGeom>
          <a:solidFill>
            <a:srgbClr val="E8F5EE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" y="3236976"/>
            <a:ext cx="82296" cy="1965960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419856"/>
            <a:ext cx="48006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A9160"/>
                </a:solidFill>
                <a:latin typeface="Aptos"/>
              </a:defRPr>
            </a:pPr>
            <a:r>
              <a:t>GOOD LAMBDA RESPONSIBILITIES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849624"/>
            <a:ext cx="4800600" cy="12161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Validate trigger metadata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Route/orchestrate small tasks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Write concise status metadata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Start a service suited to heavy work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3236976"/>
            <a:ext cx="5285232" cy="1965960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54496" y="3236976"/>
            <a:ext cx="82296" cy="1965960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419856"/>
            <a:ext cx="485546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WATCH FOR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3849624"/>
            <a:ext cx="4855464" cy="121615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Duplicate events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Out-of-order events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Large/long-running processing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Partial downstream failures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568696"/>
            <a:ext cx="10277856" cy="512064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" y="5733288"/>
            <a:ext cx="98755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The transcript frames Lambda as an orchestration trigger—not automatically the place for every data transformation.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Case sensitivity and KeyError: debug the payload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36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5495544" cy="3328416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84248"/>
            <a:ext cx="5093207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C4473D"/>
                </a:solidFill>
                <a:latin typeface="Aptos"/>
              </a:defRPr>
            </a:pPr>
            <a:r>
              <a:t>KEYERROR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22576"/>
            <a:ext cx="5093207" cy="2724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event = {"Bucket": "raw-zone"}</a:t>
            </a:r>
            <a:br/>
            <a:br/>
            <a:r>
              <a:t># Fails: keys are case-sensitive</a:t>
            </a:r>
            <a:br/>
            <a:r>
              <a:t>bucket = event["bucket"]  # KeyError</a:t>
            </a:r>
            <a:br/>
            <a:br/>
            <a:r>
              <a:t># Safer diagnostic</a:t>
            </a:r>
            <a:br/>
            <a:r>
              <a:t>print(sorted(event.keys()))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28816" y="1847088"/>
            <a:ext cx="4983480" cy="3328416"/>
          </a:xfrm>
          <a:prstGeom prst="roundRect">
            <a:avLst/>
          </a:prstGeom>
          <a:solidFill>
            <a:srgbClr val="FBECE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28816" y="1847088"/>
            <a:ext cx="82296" cy="3328416"/>
          </a:xfrm>
          <a:prstGeom prst="roundRect">
            <a:avLst/>
          </a:prstGeom>
          <a:solidFill>
            <a:srgbClr val="C4473D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57416" y="2029968"/>
            <a:ext cx="455371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C4473D"/>
                </a:solidFill>
                <a:latin typeface="Aptos"/>
              </a:defRPr>
            </a:pPr>
            <a:r>
              <a:t>DEBUG IN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2459736"/>
            <a:ext cx="4553712" cy="2578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1. Read the exact error key.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2. Inspect available keys.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3. Compare spelling and case.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4. Verify nesting and list indexes.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5. Add intentional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4712" y="5559552"/>
            <a:ext cx="9966960" cy="521207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7592" y="5687568"/>
            <a:ext cx="9601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E07736"/>
                </a:solidFill>
                <a:latin typeface="Aptos"/>
              </a:defRPr>
            </a:pPr>
            <a:r>
              <a:t>CURRENT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6007608"/>
            <a:ext cx="9601200" cy="-45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Do not log the complete production event blindly; it may contain sensitive or excessive data.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ARNs: globally meaningful resource identifiers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88EB4"/>
                </a:solidFill>
                <a:latin typeface="Aptos"/>
              </a:defRPr>
            </a:pPr>
            <a:r>
              <a:t>37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38528"/>
            <a:ext cx="10853928" cy="841248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075688"/>
            <a:ext cx="104515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88EB4"/>
                </a:solidFill>
                <a:latin typeface="Aptos"/>
              </a:defRPr>
            </a:pPr>
            <a:r>
              <a:t>ARN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14016"/>
            <a:ext cx="104515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arn:aws:lambda:us-east-1:123456789012:function:orders-router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27248"/>
            <a:ext cx="1609344" cy="1554480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127248"/>
            <a:ext cx="82296" cy="1554480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310128"/>
            <a:ext cx="117957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88EB4"/>
                </a:solidFill>
                <a:latin typeface="Aptos"/>
              </a:defRPr>
            </a:pPr>
            <a:r>
              <a:t>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758183"/>
            <a:ext cx="117957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172B3A"/>
                </a:solidFill>
                <a:latin typeface="Aptos"/>
              </a:defRPr>
            </a:pPr>
            <a:r>
              <a:t>identifier scheme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3127248"/>
            <a:ext cx="1609344" cy="1554480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68880" y="3127248"/>
            <a:ext cx="82296" cy="1554480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3310128"/>
            <a:ext cx="117957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88EB4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758183"/>
            <a:ext cx="117957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172B3A"/>
                </a:solidFill>
                <a:latin typeface="Aptos"/>
              </a:defRPr>
            </a:pPr>
            <a:r>
              <a:t>partition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127248"/>
            <a:ext cx="1609344" cy="1554480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79392" y="3127248"/>
            <a:ext cx="82296" cy="1554480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310128"/>
            <a:ext cx="117957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88EB4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758183"/>
            <a:ext cx="117957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172B3A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9903" y="3127248"/>
            <a:ext cx="1609344" cy="1554480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89903" y="3127248"/>
            <a:ext cx="82296" cy="1554480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3" y="3310128"/>
            <a:ext cx="117957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88EB4"/>
                </a:solidFill>
                <a:latin typeface="Aptos"/>
              </a:defRPr>
            </a:pPr>
            <a:r>
              <a:t>us-east-1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3" y="3758183"/>
            <a:ext cx="117957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172B3A"/>
                </a:solidFill>
                <a:latin typeface="Aptos"/>
              </a:defRPr>
            </a:pPr>
            <a:r>
              <a:t>region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0416" y="3127248"/>
            <a:ext cx="1609344" cy="1554480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00416" y="3127248"/>
            <a:ext cx="82296" cy="1554480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29016" y="3310128"/>
            <a:ext cx="117957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88EB4"/>
                </a:solidFill>
                <a:latin typeface="Aptos"/>
              </a:defRPr>
            </a:pPr>
            <a:r>
              <a:t>123...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3758183"/>
            <a:ext cx="117957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172B3A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10928" y="3127248"/>
            <a:ext cx="1609344" cy="1554480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10928" y="3127248"/>
            <a:ext cx="82296" cy="1554480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39528" y="3310128"/>
            <a:ext cx="117957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88EB4"/>
                </a:solidFill>
                <a:latin typeface="Aptos"/>
              </a:defRPr>
            </a:pPr>
            <a:r>
              <a:t>function:...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528" y="3758183"/>
            <a:ext cx="1179576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172B3A"/>
                </a:solidFill>
                <a:latin typeface="Aptos"/>
              </a:defRPr>
            </a:pPr>
            <a:r>
              <a:t>resource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3856" y="5212080"/>
            <a:ext cx="9930384" cy="630936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5024" y="5376672"/>
            <a:ext cx="9528048" cy="32003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ARNs appear in IAM policies, event configuration, logs, SDK responses, and infrastructure definitions.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Boto3 and STS: Python calls AWS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88EB4"/>
                </a:solidFill>
                <a:latin typeface="Aptos"/>
              </a:defRPr>
            </a:pPr>
            <a:r>
              <a:t>38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T11 13-11-what-next.txt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37943"/>
            <a:ext cx="5358384" cy="3374136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975103"/>
            <a:ext cx="4956048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88EB4"/>
                </a:solidFill>
                <a:latin typeface="Aptos"/>
              </a:defRPr>
            </a:pPr>
            <a:r>
              <a:t>BOTO3 / 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313432"/>
            <a:ext cx="4956048" cy="2770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import boto3</a:t>
            </a:r>
            <a:br/>
            <a:br/>
            <a:r>
              <a:t>sts = boto3.client("sts")</a:t>
            </a:r>
            <a:br/>
            <a:r>
              <a:t>identity = sts.get_caller_identity()</a:t>
            </a:r>
            <a:br/>
            <a:br/>
            <a:r>
              <a:t>print(identity["Account"])</a:t>
            </a:r>
            <a:br/>
            <a:r>
              <a:t>print(identity["Arn"])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837943"/>
            <a:ext cx="5129784" cy="3374136"/>
          </a:xfrm>
          <a:prstGeom prst="roundRect">
            <a:avLst/>
          </a:prstGeom>
          <a:solidFill>
            <a:srgbClr val="E7F4F8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1837943"/>
            <a:ext cx="82296" cy="3374136"/>
          </a:xfrm>
          <a:prstGeom prst="roundRect">
            <a:avLst/>
          </a:prstGeom>
          <a:solidFill>
            <a:srgbClr val="288EB4"/>
          </a:solidFill>
          <a:ln>
            <a:solidFill>
              <a:srgbClr val="288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020824"/>
            <a:ext cx="470001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88EB4"/>
                </a:solidFill>
                <a:latin typeface="Aptos"/>
              </a:defRPr>
            </a:pPr>
            <a:r>
              <a:t>WHAT THIS TEACHES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450591"/>
            <a:ext cx="4700016" cy="26243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boto3 is the AWS SDK for Python.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A client targets an AWS service API.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STS can reveal the caller identity.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Responses behave like dictionaries.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The role determines allowed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596128"/>
            <a:ext cx="10287000" cy="521207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5760720"/>
            <a:ext cx="9884664" cy="21031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The transcript also demonstrates Boto3-driven Lambda creation; automate only after permissions and cleanup are understood.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Current guidance: least-privilege IAM and secret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E07736"/>
                </a:solidFill>
                <a:latin typeface="Aptos"/>
              </a:defRPr>
            </a:pPr>
            <a:r>
              <a:t>39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10853928" cy="512064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104515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CURRENT PRODUCTION GUIDANCE · supplements transcript mechanics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05456"/>
            <a:ext cx="5212080" cy="2862072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505456"/>
            <a:ext cx="82296" cy="286207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688336"/>
            <a:ext cx="478231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LEAST 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118104"/>
            <a:ext cx="4782312" cy="21122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Allow only required API actions.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Scope access to specific resources where practical.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Separate roles by workload/environment.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Review unused permissions and failures.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505456"/>
            <a:ext cx="5276088" cy="2862072"/>
          </a:xfrm>
          <a:prstGeom prst="roundRect">
            <a:avLst/>
          </a:prstGeom>
          <a:solidFill>
            <a:srgbClr val="FBECE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6208" y="2505456"/>
            <a:ext cx="82296" cy="2862072"/>
          </a:xfrm>
          <a:prstGeom prst="roundRect">
            <a:avLst/>
          </a:prstGeom>
          <a:solidFill>
            <a:srgbClr val="C4473D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688336"/>
            <a:ext cx="484632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C4473D"/>
                </a:solidFill>
                <a:latin typeface="Aptos"/>
              </a:defRPr>
            </a:pPr>
            <a:r>
              <a:t>NEVER HARDCODE SECRETS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118104"/>
            <a:ext cx="4846320" cy="21122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Do not place keys/passwords in code or events.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Use IAM roles for AWS access.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Use an approved secret store for application secrets.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Do not print secret values to logs.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27048" y="5687568"/>
            <a:ext cx="9107424" cy="457200"/>
          </a:xfrm>
          <a:prstGeom prst="roundRect">
            <a:avLst/>
          </a:prstGeom>
          <a:solidFill>
            <a:srgbClr val="FBECEB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28216" y="5852159"/>
            <a:ext cx="8705088" cy="14630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A function that 'works' with excessive permissions is not production-ready.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Current guidance: structured logs without sensitive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E07736"/>
                </a:solidFill>
                <a:latin typeface="Aptos"/>
              </a:defRPr>
            </a:pPr>
            <a:r>
              <a:t>40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T06 08-6-functions.txt ·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10853928" cy="512064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104515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CURRENT PRODUCTION GUIDANCE · transcript teaches CloudWatch; this slide adds safer logging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05456"/>
            <a:ext cx="5285232" cy="3209544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42616"/>
            <a:ext cx="488289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88EB4"/>
                </a:solidFill>
                <a:latin typeface="Aptos"/>
              </a:defRPr>
            </a:pPr>
            <a:r>
              <a:t>STRUCTURED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980944"/>
            <a:ext cx="4882896" cy="2606039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FFFFFF"/>
                </a:solidFill>
                <a:latin typeface="Consolas"/>
              </a:defRPr>
            </a:pPr>
            <a:r>
              <a:t>import json</a:t>
            </a:r>
            <a:br/>
            <a:br/>
            <a:r>
              <a:t>print(json.dumps({</a:t>
            </a:r>
            <a:br/>
            <a:r>
              <a:t>    "level": "INFO",</a:t>
            </a:r>
            <a:br/>
            <a:r>
              <a:t>    "action": "validate_file",</a:t>
            </a:r>
            <a:br/>
            <a:r>
              <a:t>    "request_id": context.aws_request_id,</a:t>
            </a:r>
            <a:br/>
            <a:r>
              <a:t>    "bucket": bucket,</a:t>
            </a:r>
            <a:br/>
            <a:r>
              <a:t>    "result": "accepted"</a:t>
            </a:r>
            <a:br/>
            <a:r>
              <a:t>}))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2505456"/>
            <a:ext cx="5193792" cy="3209544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18504" y="2505456"/>
            <a:ext cx="82296" cy="3209544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688336"/>
            <a:ext cx="476402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LOG SAFELY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118104"/>
            <a:ext cx="4764024" cy="2459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Use consistent field names and levels.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Include request/correlation IDs.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Log outcomes and sanitized identifiers.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Exclude tokens, passwords, personal data, and full payloads.</a:t>
            </a:r>
          </a:p>
          <a:p>
            <a:pPr>
              <a:lnSpc>
                <a:spcPct val="112000"/>
              </a:lnSpc>
              <a:spcAft>
                <a:spcPts val="662"/>
              </a:spcAft>
              <a:defRPr sz="1380">
                <a:solidFill>
                  <a:srgbClr val="172B3A"/>
                </a:solidFill>
                <a:latin typeface="Aptos"/>
              </a:defRPr>
            </a:pPr>
            <a:r>
              <a:t>• Set retention and monitor volume.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Current guidance: idempotency, timeouts, and retries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E07736"/>
                </a:solidFill>
                <a:latin typeface="Aptos"/>
              </a:defRPr>
            </a:pPr>
            <a:r>
              <a:t>41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00784"/>
            <a:ext cx="10853928" cy="512064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865376"/>
            <a:ext cx="10451592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CURRENT PRODUCTION GUIDANCE · event systems may deliver duplicates and retries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78024"/>
            <a:ext cx="3401568" cy="3054096"/>
          </a:xfrm>
          <a:prstGeom prst="roundRect">
            <a:avLst/>
          </a:prstGeom>
          <a:solidFill>
            <a:srgbClr val="E8F5EE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478024"/>
            <a:ext cx="82296" cy="3054096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660904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A9160"/>
                </a:solidFill>
                <a:latin typeface="Aptos"/>
              </a:defRPr>
            </a:pPr>
            <a:r>
              <a:t>IDEMPOTENCY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90672"/>
            <a:ext cx="2971800" cy="23042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Same event, same safe outcome.</a:t>
            </a:r>
          </a:p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Derive a stable event/object key.</a:t>
            </a:r>
          </a:p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Record completed work or use conditional writes.</a:t>
            </a:r>
          </a:p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Avoid duplicate side effects.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2478024"/>
            <a:ext cx="3401568" cy="3054096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98264" y="2478024"/>
            <a:ext cx="82296" cy="3054096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660904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TIMEOUTS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3090672"/>
            <a:ext cx="2971800" cy="23042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Set realistic function and SDK timeouts.</a:t>
            </a:r>
          </a:p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Check remaining execution time.</a:t>
            </a:r>
          </a:p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Stop before forced termination.</a:t>
            </a:r>
          </a:p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Move long work to a suitable service.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2478024"/>
            <a:ext cx="3401568" cy="3054096"/>
          </a:xfrm>
          <a:prstGeom prst="roundRect">
            <a:avLst/>
          </a:prstGeom>
          <a:solidFill>
            <a:srgbClr val="FBECE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19872" y="2478024"/>
            <a:ext cx="82296" cy="3054096"/>
          </a:xfrm>
          <a:prstGeom prst="roundRect">
            <a:avLst/>
          </a:prstGeom>
          <a:solidFill>
            <a:srgbClr val="C4473D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660904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C4473D"/>
                </a:solidFill>
                <a:latin typeface="Aptos"/>
              </a:defRPr>
            </a:pPr>
            <a:r>
              <a:t>RETRIES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090672"/>
            <a:ext cx="2971800" cy="23042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Retry transient failures only.</a:t>
            </a:r>
          </a:p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Use bounded exponential backoff with jitter.</a:t>
            </a:r>
          </a:p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Plan a failure destination/dead-letter path.</a:t>
            </a:r>
          </a:p>
          <a:p>
            <a:pPr>
              <a:lnSpc>
                <a:spcPct val="112000"/>
              </a:lnSpc>
              <a:spcAft>
                <a:spcPts val="657"/>
              </a:spcAft>
              <a:defRPr sz="1370">
                <a:solidFill>
                  <a:srgbClr val="172B3A"/>
                </a:solidFill>
                <a:latin typeface="Aptos"/>
              </a:defRPr>
            </a:pPr>
            <a:r>
              <a:t>• Alert on repeated failure.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48256" y="5824728"/>
            <a:ext cx="8083296" cy="365760"/>
          </a:xfrm>
          <a:prstGeom prst="roundRect">
            <a:avLst/>
          </a:prstGeom>
          <a:solidFill>
            <a:srgbClr val="FBECEB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9424" y="5989320"/>
            <a:ext cx="7680960" cy="548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Retries without idempotency can multiply data and cost.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Limits and cost: know when Lambda is the wrong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E07736"/>
                </a:solidFill>
                <a:latin typeface="Aptos"/>
              </a:defRPr>
            </a:pPr>
            <a:r>
              <a:t>42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37943"/>
            <a:ext cx="5148072" cy="3410712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37943"/>
            <a:ext cx="82296" cy="341071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20824"/>
            <a:ext cx="471830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TRANSCRIPT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50591"/>
            <a:ext cx="4718304" cy="26609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Lambda execution is capped at 15 minutes.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Variable-volume data processing can exceed that ceiling.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The transcript suggests Glue Python Shell as one alternative.</a:t>
            </a:r>
          </a:p>
          <a:p>
            <a:pPr>
              <a:lnSpc>
                <a:spcPct val="112000"/>
              </a:lnSpc>
              <a:spcAft>
                <a:spcPts val="696"/>
              </a:spcAft>
              <a:defRPr sz="1450">
                <a:solidFill>
                  <a:srgbClr val="172B3A"/>
                </a:solidFill>
                <a:latin typeface="Aptos"/>
              </a:defRPr>
            </a:pPr>
            <a:r>
              <a:t>• Service choice should follow workload shape.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837943"/>
            <a:ext cx="5330952" cy="3410712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1344" y="1837943"/>
            <a:ext cx="82296" cy="341071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2020824"/>
            <a:ext cx="490118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CURRENT COST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450591"/>
            <a:ext cx="4901184" cy="266090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Monitor invocations, duration, errors, throttles, and concurrency.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Set budgets/alerts and log retention deliberately.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Right-size memory using measurements.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Prevent runaway triggers and retry storms.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06424" y="5614416"/>
            <a:ext cx="9985248" cy="539496"/>
          </a:xfrm>
          <a:prstGeom prst="roundRect">
            <a:avLst/>
          </a:prstGeom>
          <a:solidFill>
            <a:srgbClr val="FBECEB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07592" y="5779007"/>
            <a:ext cx="9582912" cy="22859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Cheap per invocation does not guarantee a cheap system; event volume and retries dominate quickly.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Production-aware Lambda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E07736"/>
                </a:solidFill>
                <a:latin typeface="Aptos"/>
              </a:defRPr>
            </a:pPr>
            <a:r>
              <a:t>43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T14 17-3-create-a-lambda-from-scratch.txt · T15 19-5-event-arn-real-world-practice.txt · T17 21-7-teardown-lambdas.txt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1792224"/>
            <a:ext cx="429768" cy="429768"/>
          </a:xfrm>
          <a:prstGeom prst="ellipse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1865376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1746504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A9160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746504"/>
            <a:ext cx="34107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Small handler; clear helpers; specific exceptions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770632"/>
            <a:ext cx="429768" cy="429768"/>
          </a:xfrm>
          <a:prstGeom prst="ellipse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843784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2724912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A916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724912"/>
            <a:ext cx="34107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Validate event shape, types, required keys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749039"/>
            <a:ext cx="429768" cy="429768"/>
          </a:xfrm>
          <a:prstGeom prst="ellipse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3822191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3703320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A9160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703320"/>
            <a:ext cx="34107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Least-privilege role; no hardcoded secrets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727448"/>
            <a:ext cx="429768" cy="429768"/>
          </a:xfrm>
          <a:prstGeom prst="ellipse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4800600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4681728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A9160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4681728"/>
            <a:ext cx="34107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Idempotency; bounded retries; timeout plan</a:t>
            </a:r>
          </a:p>
        </p:txBody>
      </p:sp>
      <p:sp>
        <p:nvSpPr>
          <p:cNvPr id="25" name="Oval 24"/>
          <p:cNvSpPr/>
          <p:nvPr/>
        </p:nvSpPr>
        <p:spPr>
          <a:xfrm>
            <a:off x="6172200" y="1792224"/>
            <a:ext cx="429768" cy="429768"/>
          </a:xfrm>
          <a:prstGeom prst="ellipse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1865376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1746504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A9160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1746504"/>
            <a:ext cx="34107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Structured sanitized logs; alarms; metrics</a:t>
            </a:r>
          </a:p>
        </p:txBody>
      </p:sp>
      <p:sp>
        <p:nvSpPr>
          <p:cNvPr id="29" name="Oval 28"/>
          <p:cNvSpPr/>
          <p:nvPr/>
        </p:nvSpPr>
        <p:spPr>
          <a:xfrm>
            <a:off x="6172200" y="2770632"/>
            <a:ext cx="429768" cy="429768"/>
          </a:xfrm>
          <a:prstGeom prst="ellipse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2843784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724912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A9160"/>
                </a:solidFill>
                <a:latin typeface="Aptos"/>
              </a:defRPr>
            </a:pPr>
            <a:r>
              <a:t>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724912"/>
            <a:ext cx="34107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Budgets; retention; concurrency; right-sizing</a:t>
            </a:r>
          </a:p>
        </p:txBody>
      </p:sp>
      <p:sp>
        <p:nvSpPr>
          <p:cNvPr id="33" name="Oval 32"/>
          <p:cNvSpPr/>
          <p:nvPr/>
        </p:nvSpPr>
        <p:spPr>
          <a:xfrm>
            <a:off x="6172200" y="3749039"/>
            <a:ext cx="429768" cy="429768"/>
          </a:xfrm>
          <a:prstGeom prst="ellipse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3822191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703320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2A9160"/>
                </a:solidFill>
                <a:latin typeface="Aptos"/>
              </a:defRPr>
            </a:pPr>
            <a:r>
              <a:t>CLEANUP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703320"/>
            <a:ext cx="34107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20" b="0">
                <a:solidFill>
                  <a:srgbClr val="172B3A"/>
                </a:solidFill>
                <a:latin typeface="Aptos"/>
              </a:defRPr>
            </a:pPr>
            <a:r>
              <a:t>Teardown temporary functions and environments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71600" y="5870448"/>
            <a:ext cx="9418320" cy="393192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72768" y="6035040"/>
            <a:ext cx="9015984" cy="82295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Use this as a pre-deployment review—not as proof that testing is complete.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Hands-on mini-project: S3 file gatekeeper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A9160"/>
                </a:solidFill>
                <a:latin typeface="Aptos"/>
              </a:defRPr>
            </a:pPr>
            <a:r>
              <a:t>44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T07 09-7-string-operations.txt · T08 10-8-dictionaries.txt · T10 12-10-exception-handling.txt ·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" y="1837943"/>
            <a:ext cx="1973275" cy="758952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1965960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A9160"/>
                </a:solidFill>
                <a:latin typeface="Aptos"/>
              </a:defRPr>
            </a:pPr>
            <a:r>
              <a:t>S3-style event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49931" y="2093976"/>
            <a:ext cx="182880" cy="237744"/>
          </a:xfrm>
          <a:prstGeom prst="rightArrow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78531" y="1837943"/>
            <a:ext cx="1973275" cy="758952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0827" y="1965960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A9160"/>
                </a:solidFill>
                <a:latin typeface="Aptos"/>
              </a:defRPr>
            </a:pPr>
            <a:r>
              <a:t>Parse bucket/key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79238" y="2093976"/>
            <a:ext cx="182880" cy="237744"/>
          </a:xfrm>
          <a:prstGeom prst="rightArrow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07838" y="1837943"/>
            <a:ext cx="1973275" cy="758952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0134" y="1965960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A9160"/>
                </a:solidFill>
                <a:latin typeface="Aptos"/>
              </a:defRPr>
            </a:pPr>
            <a:r>
              <a:t>Validate .csv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8545" y="2093976"/>
            <a:ext cx="182880" cy="237744"/>
          </a:xfrm>
          <a:prstGeom prst="rightArrow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7145" y="1837943"/>
            <a:ext cx="1973275" cy="758952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9441" y="1965960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A9160"/>
                </a:solidFill>
                <a:latin typeface="Aptos"/>
              </a:defRPr>
            </a:pPr>
            <a:r>
              <a:t>Return decision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37852" y="2093976"/>
            <a:ext cx="182880" cy="237744"/>
          </a:xfrm>
          <a:prstGeom prst="rightArrow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66452" y="1837943"/>
            <a:ext cx="1973275" cy="758952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8748" y="1965960"/>
            <a:ext cx="1808683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2A9160"/>
                </a:solidFill>
                <a:latin typeface="Aptos"/>
              </a:defRPr>
            </a:pPr>
            <a:r>
              <a:t>Inspect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" y="3099816"/>
            <a:ext cx="3401568" cy="2139696"/>
          </a:xfrm>
          <a:prstGeom prst="roundRect">
            <a:avLst/>
          </a:prstGeom>
          <a:solidFill>
            <a:srgbClr val="E8F5EE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" y="3099816"/>
            <a:ext cx="82296" cy="2139696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282696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A9160"/>
                </a:solidFill>
                <a:latin typeface="Aptos"/>
              </a:defRPr>
            </a:pPr>
            <a:r>
              <a:t>MUST HAVE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712464"/>
            <a:ext cx="2971800" cy="1389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Handler with event/context</a:t>
            </a:r>
          </a:p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Nested dictionary access</a:t>
            </a:r>
          </a:p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String cleanup and validation</a:t>
            </a:r>
          </a:p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Specific error handling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98264" y="3099816"/>
            <a:ext cx="3401568" cy="2139696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98264" y="3099816"/>
            <a:ext cx="82296" cy="2139696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6864" y="3282696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TEST EVENTS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864" y="3712464"/>
            <a:ext cx="2971800" cy="1389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Valid CSV</a:t>
            </a:r>
          </a:p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Wrong extension</a:t>
            </a:r>
          </a:p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Missing key</a:t>
            </a:r>
          </a:p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Unexpected letter case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9016" y="3099816"/>
            <a:ext cx="3401568" cy="2139696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29016" y="3099816"/>
            <a:ext cx="82296" cy="2139696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3282696"/>
            <a:ext cx="297180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3712464"/>
            <a:ext cx="2971800" cy="13898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Why each branch runs</a:t>
            </a:r>
          </a:p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What is returned vs logged</a:t>
            </a:r>
          </a:p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Where KeyError can occur</a:t>
            </a:r>
          </a:p>
          <a:p>
            <a:pPr>
              <a:lnSpc>
                <a:spcPct val="112000"/>
              </a:lnSpc>
              <a:spcAft>
                <a:spcPts val="652"/>
              </a:spcAft>
              <a:defRPr sz="1360">
                <a:solidFill>
                  <a:srgbClr val="172B3A"/>
                </a:solidFill>
                <a:latin typeface="Aptos"/>
              </a:defRPr>
            </a:pPr>
            <a:r>
              <a:t>• How duplicates stay safe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52728" y="5623560"/>
            <a:ext cx="9683496" cy="521207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35608" y="5751576"/>
            <a:ext cx="9317736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E07736"/>
                </a:solidFill>
                <a:latin typeface="Aptos"/>
              </a:defRPr>
            </a:pPr>
            <a:r>
              <a:t>SAFE SEQUENCE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35608" y="6071616"/>
            <a:ext cx="9317736" cy="-45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Do not connect a real trigger until isolated test events pass and permissions are scoped.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Common Lambda errors: diagnose by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6F52B8"/>
                </a:solidFill>
                <a:latin typeface="Aptos"/>
              </a:defRPr>
            </a:pPr>
            <a:r>
              <a:t>45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28216"/>
            <a:ext cx="1085392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856231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6F52B8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856231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C4473D"/>
                </a:solidFill>
                <a:latin typeface="Aptos"/>
              </a:defRPr>
            </a:pPr>
            <a:r>
              <a:t>Handler not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1856231"/>
            <a:ext cx="5559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0">
                <a:solidFill>
                  <a:srgbClr val="172B3A"/>
                </a:solidFill>
                <a:latin typeface="Aptos"/>
              </a:defRPr>
            </a:pPr>
            <a:r>
              <a:t>Check file.function setting and spelling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32304"/>
            <a:ext cx="10853928" cy="557784"/>
          </a:xfrm>
          <a:prstGeom prst="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560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6F52B8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560320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C4473D"/>
                </a:solidFill>
                <a:latin typeface="Aptos"/>
              </a:defRPr>
            </a:pPr>
            <a:r>
              <a:t>KeyError / wrong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560320"/>
            <a:ext cx="5559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0">
                <a:solidFill>
                  <a:srgbClr val="172B3A"/>
                </a:solidFill>
                <a:latin typeface="Aptos"/>
              </a:defRPr>
            </a:pPr>
            <a:r>
              <a:t>Inspect sanitized event shape and 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36391"/>
            <a:ext cx="1085392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264408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6F52B8"/>
                </a:solidFill>
                <a:latin typeface="Aptos"/>
              </a:defRPr>
            </a:pPr>
            <a:r>
              <a:t>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264408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C4473D"/>
                </a:solidFill>
                <a:latin typeface="Aptos"/>
              </a:defRPr>
            </a:pPr>
            <a:r>
              <a:t>AccessDenied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264408"/>
            <a:ext cx="5559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0">
                <a:solidFill>
                  <a:srgbClr val="172B3A"/>
                </a:solidFill>
                <a:latin typeface="Aptos"/>
              </a:defRPr>
            </a:pPr>
            <a:r>
              <a:t>Identify API call; narrow/add required permission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840480"/>
            <a:ext cx="10853928" cy="557784"/>
          </a:xfrm>
          <a:prstGeom prst="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968496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6F52B8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968496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C4473D"/>
                </a:solidFill>
                <a:latin typeface="Aptos"/>
              </a:defRPr>
            </a:pPr>
            <a:r>
              <a:t>Timeout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968496"/>
            <a:ext cx="5559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0">
                <a:solidFill>
                  <a:srgbClr val="172B3A"/>
                </a:solidFill>
                <a:latin typeface="Aptos"/>
              </a:defRPr>
            </a:pPr>
            <a:r>
              <a:t>Find slow dependency; reduce work or move 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544568"/>
            <a:ext cx="10853928" cy="5577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672583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6F52B8"/>
                </a:solidFill>
                <a:latin typeface="Aptos"/>
              </a:defRPr>
            </a:pPr>
            <a:r>
              <a:t>Dependency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672583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C4473D"/>
                </a:solidFill>
                <a:latin typeface="Aptos"/>
              </a:defRPr>
            </a:pPr>
            <a:r>
              <a:t>Module not found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672583"/>
            <a:ext cx="5559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0">
                <a:solidFill>
                  <a:srgbClr val="172B3A"/>
                </a:solidFill>
                <a:latin typeface="Aptos"/>
              </a:defRPr>
            </a:pPr>
            <a:r>
              <a:t>Package dependencies for the runtime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248656"/>
            <a:ext cx="10853928" cy="557784"/>
          </a:xfrm>
          <a:prstGeom prst="rect">
            <a:avLst/>
          </a:prstGeom>
          <a:solidFill>
            <a:srgbClr val="EEF3F7"/>
          </a:solidFill>
          <a:ln>
            <a:solidFill>
              <a:srgbClr val="EE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5376672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6F52B8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5376672"/>
            <a:ext cx="290779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1">
                <a:solidFill>
                  <a:srgbClr val="C4473D"/>
                </a:solidFill>
                <a:latin typeface="Aptos"/>
              </a:defRPr>
            </a:pPr>
            <a:r>
              <a:t>Repeated duplicates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5376672"/>
            <a:ext cx="55595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0">
                <a:solidFill>
                  <a:srgbClr val="172B3A"/>
                </a:solidFill>
                <a:latin typeface="Aptos"/>
              </a:defRPr>
            </a:pPr>
            <a:r>
              <a:t>Add idempotency and retry controls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44168" y="6053328"/>
            <a:ext cx="9491472" cy="310896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45336" y="6217920"/>
            <a:ext cx="9089136" cy="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Debug the first failing layer. Later symptoms may be consequences, not root causes.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Interview takeaways: concise answers that show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B1F33"/>
                </a:solidFill>
                <a:latin typeface="Aptos"/>
              </a:defRPr>
            </a:pPr>
            <a:r>
              <a:t>46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T06 08-6-functions.txt · T08 10-8-dictionaries.txt · T12 15-1-lambda-necessary-background.txt ·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09928"/>
            <a:ext cx="2240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0B1F33"/>
                </a:solidFill>
                <a:latin typeface="Aptos"/>
              </a:defRPr>
            </a:pPr>
            <a:r>
              <a:t>What is Lambda?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1709928"/>
            <a:ext cx="81381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Event-driven managed function execution; good for bounded, short-lived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42032"/>
            <a:ext cx="2240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0B1F33"/>
                </a:solidFill>
                <a:latin typeface="Aptos"/>
              </a:defRPr>
            </a:pPr>
            <a:r>
              <a:t>event vs context?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542032"/>
            <a:ext cx="81381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event is trigger/input data; context is invocation/runtime metadata.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374136"/>
            <a:ext cx="2240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0B1F33"/>
                </a:solidFill>
                <a:latin typeface="Aptos"/>
              </a:defRPr>
            </a:pPr>
            <a:r>
              <a:t>What is the handler?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3374136"/>
            <a:ext cx="81381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The configured entry-point function Lambda invokes first.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06240"/>
            <a:ext cx="2240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0B1F33"/>
                </a:solidFill>
                <a:latin typeface="Aptos"/>
              </a:defRPr>
            </a:pPr>
            <a:r>
              <a:t>Why dictionaries?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4206240"/>
            <a:ext cx="81381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They model named fields in events, API responses, and configuration.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38344"/>
            <a:ext cx="2240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0B1F33"/>
                </a:solidFill>
                <a:latin typeface="Aptos"/>
              </a:defRPr>
            </a:pPr>
            <a:r>
              <a:t>How do you make it safe?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5038344"/>
            <a:ext cx="813816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Least privilege, validation, idempotency, bounded retries, sanitized observability.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5925312"/>
            <a:ext cx="9628632" cy="374904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6089904"/>
            <a:ext cx="9226296" cy="64007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Strong answers include a trade-off: when you would not choose Lambda.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Practice checklist: prove each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2A9160"/>
                </a:solidFill>
                <a:latin typeface="Aptos"/>
              </a:defRPr>
            </a:pPr>
            <a:r>
              <a:t>47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T02 04-2-variables.txt · T03 05-3-data-types-data-structures.txt · T04 06-4-conditional-execution.txt · T05 07-5-looping.txt · T06 08-6-functions.txt · T07 09-7-string-operations.txt · T08 10-8-dictionaries.txt · T10 12-10-exception-handling.txt · T14 17-3-create-a-lambda-from-scratch.txt · T15 19-5-event-arn-real-world-practice.txt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257800" cy="3621024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82296" cy="3621024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011680"/>
            <a:ext cx="48280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PYTHON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41448"/>
            <a:ext cx="4828032" cy="2871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Create variables using str, int, float, bool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Read/update list and dictionary values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Write if/elif/else and membership checks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Loop over lists, ranges, and .items()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Write a function with default + return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Clean and validate a filename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257800" cy="3621024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82296" cy="3621024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8280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LAMBDA 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41448"/>
            <a:ext cx="4828032" cy="287121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Handle a known exception intentionally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Create, deploy, and test a Lambda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Explain response vs logs vs report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Parse nested event fields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Explain event, context, handler, ARN</a:t>
            </a:r>
          </a:p>
          <a:p>
            <a:pPr>
              <a:lnSpc>
                <a:spcPct val="112000"/>
              </a:lnSpc>
              <a:spcAft>
                <a:spcPts val="643"/>
              </a:spcAft>
              <a:defRPr sz="1340">
                <a:solidFill>
                  <a:srgbClr val="172B3A"/>
                </a:solidFill>
                <a:latin typeface="Aptos"/>
              </a:defRPr>
            </a:pPr>
            <a:r>
              <a:t>• □ Describe IAM, idempotency, retries, cost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9576" y="5760720"/>
            <a:ext cx="9820656" cy="429768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80744" y="5925312"/>
            <a:ext cx="9418320" cy="11887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Completion test: demonstrate each item without copying, then explain one mistake you fixed.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Teardown: remove temporary learning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E07736"/>
                </a:solidFill>
                <a:latin typeface="Aptos"/>
              </a:defRPr>
            </a:pPr>
            <a:r>
              <a:t>48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T17 21-7-teardown-lambdas.txt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956816"/>
            <a:ext cx="2519172" cy="758952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84832"/>
            <a:ext cx="235457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E07736"/>
                </a:solidFill>
                <a:latin typeface="Aptos"/>
              </a:defRPr>
            </a:pPr>
            <a:r>
              <a:t>Open CloudShell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14115" y="2212848"/>
            <a:ext cx="182880" cy="237744"/>
          </a:xfrm>
          <a:prstGeom prst="rightArrow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42716" y="1956816"/>
            <a:ext cx="2519172" cy="758952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5012" y="2084832"/>
            <a:ext cx="235457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E07736"/>
                </a:solidFill>
                <a:latin typeface="Aptos"/>
              </a:defRPr>
            </a:pPr>
            <a:r>
              <a:t>Run teardown script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2212848"/>
            <a:ext cx="182880" cy="237744"/>
          </a:xfrm>
          <a:prstGeom prst="rightArrow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956816"/>
            <a:ext cx="2519172" cy="758952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2084832"/>
            <a:ext cx="235457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E07736"/>
                </a:solidFill>
                <a:latin typeface="Aptos"/>
              </a:defRPr>
            </a:pPr>
            <a:r>
              <a:t>Verify 10 Lambdas deleted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64524" y="2212848"/>
            <a:ext cx="182880" cy="237744"/>
          </a:xfrm>
          <a:prstGeom prst="rightArrow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93124" y="1956816"/>
            <a:ext cx="2519172" cy="758952"/>
          </a:xfrm>
          <a:prstGeom prst="roundRect">
            <a:avLst/>
          </a:prstGeom>
          <a:solidFill>
            <a:srgbClr val="FCEFE7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5420" y="2084832"/>
            <a:ext cx="2354579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E07736"/>
                </a:solidFill>
                <a:latin typeface="Aptos"/>
              </a:defRPr>
            </a:pPr>
            <a:r>
              <a:t>Delete CloudShell environment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" y="3300984"/>
            <a:ext cx="5193792" cy="1847088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3300984"/>
            <a:ext cx="82296" cy="184708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483864"/>
            <a:ext cx="476402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TRANSCRIPT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913632"/>
            <a:ext cx="4764024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Use the supplied teardown Python script.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Confirm all lesson functions are gone.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Delete the CloudShell environment.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7064" y="3300984"/>
            <a:ext cx="5285232" cy="1847088"/>
          </a:xfrm>
          <a:prstGeom prst="roundRect">
            <a:avLst/>
          </a:prstGeom>
          <a:solidFill>
            <a:srgbClr val="FBECEB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27064" y="3300984"/>
            <a:ext cx="82296" cy="1847088"/>
          </a:xfrm>
          <a:prstGeom prst="roundRect">
            <a:avLst/>
          </a:prstGeom>
          <a:solidFill>
            <a:srgbClr val="C4473D"/>
          </a:solidFill>
          <a:ln>
            <a:solidFill>
              <a:srgbClr val="C4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3483864"/>
            <a:ext cx="4855464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C4473D"/>
                </a:solidFill>
                <a:latin typeface="Aptos"/>
              </a:defRPr>
            </a:pPr>
            <a:r>
              <a:t>CURRENT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913632"/>
            <a:ext cx="4855464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Also verify logs, triggers, test objects, roles/policies, and other temporary resources created during practice.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5532120"/>
            <a:ext cx="10149840" cy="548640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5660136"/>
            <a:ext cx="9784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1">
                <a:solidFill>
                  <a:srgbClr val="2C66DC"/>
                </a:solidFill>
                <a:latin typeface="Aptos"/>
              </a:defRPr>
            </a:pPr>
            <a:r>
              <a:t>ASSET LIMITATION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5980176"/>
            <a:ext cx="9784080" cy="-182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172B3A"/>
                </a:solidFill>
                <a:latin typeface="Aptos"/>
              </a:defRPr>
            </a:pPr>
            <a:r>
              <a:t>The teardown script itself is not present locally; this deck does not claim to have read or validated it.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Module summary: one connected mental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0B1F33"/>
                </a:solidFill>
                <a:latin typeface="Aptos"/>
              </a:defRPr>
            </a:pPr>
            <a:r>
              <a:t>49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T02 04-2-variables.txt · T06 08-6-functions.txt · T12 15-1-lambda-necessary-background.txt · T14 17-3-create-a-lambda-from-scratch.txt · T15 19-5-event-arn-real-world-practice.txt · T17 21-7-teardown-lambdas.txt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47088"/>
            <a:ext cx="1597152" cy="758952"/>
          </a:xfrm>
          <a:prstGeom prst="roundRect">
            <a:avLst/>
          </a:prstGeom>
          <a:solidFill>
            <a:srgbClr val="E9EEF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975104"/>
            <a:ext cx="14325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B1F33"/>
                </a:solidFill>
                <a:latin typeface="Aptos"/>
              </a:defRPr>
            </a:pPr>
            <a:r>
              <a:t>Model data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82952" y="2103120"/>
            <a:ext cx="182880" cy="237744"/>
          </a:xfrm>
          <a:prstGeom prst="rightArrow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1552" y="1847088"/>
            <a:ext cx="1597152" cy="758952"/>
          </a:xfrm>
          <a:prstGeom prst="roundRect">
            <a:avLst/>
          </a:prstGeom>
          <a:solidFill>
            <a:srgbClr val="E9EEF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3848" y="1975104"/>
            <a:ext cx="14325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B1F33"/>
                </a:solidFill>
                <a:latin typeface="Aptos"/>
              </a:defRPr>
            </a:pPr>
            <a:r>
              <a:t>Write logic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36136" y="2103120"/>
            <a:ext cx="182880" cy="237744"/>
          </a:xfrm>
          <a:prstGeom prst="rightArrow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4736" y="1847088"/>
            <a:ext cx="1597152" cy="758952"/>
          </a:xfrm>
          <a:prstGeom prst="roundRect">
            <a:avLst/>
          </a:prstGeom>
          <a:solidFill>
            <a:srgbClr val="E9EEF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7032" y="1975104"/>
            <a:ext cx="14325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B1F33"/>
                </a:solidFill>
                <a:latin typeface="Aptos"/>
              </a:defRPr>
            </a:pPr>
            <a:r>
              <a:t>Package handler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9320" y="2103120"/>
            <a:ext cx="182880" cy="237744"/>
          </a:xfrm>
          <a:prstGeom prst="rightArrow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847088"/>
            <a:ext cx="1597152" cy="758952"/>
          </a:xfrm>
          <a:prstGeom prst="roundRect">
            <a:avLst/>
          </a:prstGeom>
          <a:solidFill>
            <a:srgbClr val="E9EEF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975104"/>
            <a:ext cx="14325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B1F33"/>
                </a:solidFill>
                <a:latin typeface="Aptos"/>
              </a:defRPr>
            </a:pPr>
            <a:r>
              <a:t>React to event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42504" y="2103120"/>
            <a:ext cx="182880" cy="237744"/>
          </a:xfrm>
          <a:prstGeom prst="rightArrow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71104" y="1847088"/>
            <a:ext cx="1597152" cy="758952"/>
          </a:xfrm>
          <a:prstGeom prst="roundRect">
            <a:avLst/>
          </a:prstGeom>
          <a:solidFill>
            <a:srgbClr val="E9EEF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3400" y="1975104"/>
            <a:ext cx="14325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B1F33"/>
                </a:solidFill>
                <a:latin typeface="Aptos"/>
              </a:defRPr>
            </a:pPr>
            <a:r>
              <a:t>Observe safely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95688" y="2103120"/>
            <a:ext cx="182880" cy="237744"/>
          </a:xfrm>
          <a:prstGeom prst="rightArrow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24288" y="1847088"/>
            <a:ext cx="1597152" cy="758952"/>
          </a:xfrm>
          <a:prstGeom prst="roundRect">
            <a:avLst/>
          </a:prstGeom>
          <a:solidFill>
            <a:srgbClr val="E9EEF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6584" y="1975104"/>
            <a:ext cx="14325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350" b="1">
                <a:solidFill>
                  <a:srgbClr val="0B1F33"/>
                </a:solidFill>
                <a:latin typeface="Aptos"/>
              </a:defRPr>
            </a:pPr>
            <a:r>
              <a:t>Clean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099816"/>
            <a:ext cx="3392424" cy="2075688"/>
          </a:xfrm>
          <a:prstGeom prst="roundRect">
            <a:avLst/>
          </a:prstGeom>
          <a:solidFill>
            <a:srgbClr val="E5F6F4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3099816"/>
            <a:ext cx="82296" cy="2075688"/>
          </a:xfrm>
          <a:prstGeom prst="roundRect">
            <a:avLst/>
          </a:prstGeom>
          <a:solidFill>
            <a:srgbClr val="009B96"/>
          </a:solidFill>
          <a:ln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282696"/>
            <a:ext cx="296265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009B9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3730752"/>
            <a:ext cx="2962656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0">
                <a:solidFill>
                  <a:srgbClr val="172B3A"/>
                </a:solidFill>
                <a:latin typeface="Aptos"/>
              </a:defRPr>
            </a:pPr>
            <a:r>
              <a:t>Variables hold values. Collections organize them. Control flow chooses. Functions reuse. Exceptions clarify failure.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98264" y="3099816"/>
            <a:ext cx="3392424" cy="2075688"/>
          </a:xfrm>
          <a:prstGeom prst="roundRect">
            <a:avLst/>
          </a:prstGeom>
          <a:solidFill>
            <a:srgbClr val="F0ECFA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98264" y="3099816"/>
            <a:ext cx="82296" cy="2075688"/>
          </a:xfrm>
          <a:prstGeom prst="roundRect">
            <a:avLst/>
          </a:prstGeom>
          <a:solidFill>
            <a:srgbClr val="6F52B8"/>
          </a:solidFill>
          <a:ln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3282696"/>
            <a:ext cx="296265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6F52B8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6864" y="3730752"/>
            <a:ext cx="2962656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0">
                <a:solidFill>
                  <a:srgbClr val="172B3A"/>
                </a:solidFill>
                <a:latin typeface="Aptos"/>
              </a:defRPr>
            </a:pPr>
            <a:r>
              <a:t>A configured handler receives event and context, returns a result, and emits operational evidence.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3099816"/>
            <a:ext cx="3392424" cy="2075688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19872" y="3099816"/>
            <a:ext cx="82296" cy="2075688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3282696"/>
            <a:ext cx="2962656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3730752"/>
            <a:ext cx="2962656" cy="1289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20" b="0">
                <a:solidFill>
                  <a:srgbClr val="172B3A"/>
                </a:solidFill>
                <a:latin typeface="Aptos"/>
              </a:defRPr>
            </a:pPr>
            <a:r>
              <a:t>Permissions, secrets, logs, idempotency, retries, limits, cost, and teardown are design concerns.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" y="5550408"/>
            <a:ext cx="10259568" cy="539496"/>
          </a:xfrm>
          <a:prstGeom prst="roundRect">
            <a:avLst/>
          </a:prstGeom>
          <a:solidFill>
            <a:srgbClr val="E8F5EE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5715000"/>
            <a:ext cx="9857232" cy="22859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Ready for the next step: build a small event-driven function, test edge cases, and tell the architecture story.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536878"/>
          </a:solidFill>
          <a:ln>
            <a:solidFill>
              <a:srgbClr val="53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Coverage notes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536878"/>
                </a:solidFill>
                <a:latin typeface="Aptos"/>
              </a:defRPr>
            </a:pPr>
            <a:r>
              <a:t>50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T01 03-1-set-up-lambdas-for-learning.txt · T09 11-9-event-and-context.txt · T13 16-2-set-up-lambdas-for-learning.txt · T16 20-6-help-me-help-you.txt · T17 21-7-teardown-lambdas.txt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92224"/>
            <a:ext cx="3429000" cy="3749039"/>
          </a:xfrm>
          <a:prstGeom prst="roundRect">
            <a:avLst/>
          </a:prstGeom>
          <a:solidFill>
            <a:srgbClr val="E8F5EE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792224"/>
            <a:ext cx="82296" cy="3749039"/>
          </a:xfrm>
          <a:prstGeom prst="roundRect">
            <a:avLst/>
          </a:prstGeom>
          <a:solidFill>
            <a:srgbClr val="2A9160"/>
          </a:solidFill>
          <a:ln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975104"/>
            <a:ext cx="29992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A9160"/>
                </a:solidFill>
                <a:latin typeface="Aptos"/>
              </a:defRPr>
            </a:pPr>
            <a:r>
              <a:t>AVAILABLE &amp; 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04872"/>
            <a:ext cx="2999232" cy="2999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17 local .txt transcripts were read.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All 17 are mapped in the source index.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.vtt twins were intentionally ignored.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Technical and nontechnical transcripts are represented.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92224"/>
            <a:ext cx="3429000" cy="3749039"/>
          </a:xfrm>
          <a:prstGeom prst="roundRect">
            <a:avLst/>
          </a:prstGeom>
          <a:solidFill>
            <a:srgbClr val="EAF0FD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1792224"/>
            <a:ext cx="82296" cy="3749039"/>
          </a:xfrm>
          <a:prstGeom prst="roundRect">
            <a:avLst/>
          </a:prstGeom>
          <a:solidFill>
            <a:srgbClr val="2C66DC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75104"/>
            <a:ext cx="29992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2C66DC"/>
                </a:solidFill>
                <a:latin typeface="Aptos"/>
              </a:defRPr>
            </a:pPr>
            <a:r>
              <a:t>SPECIAL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04872"/>
            <a:ext cx="2999232" cy="2999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T01/T13 duplicate setup workflows.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T09 defers Event/Context; T15 teaches it.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T16 is feedback-only.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T17 references an unavailable teardown script.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792224"/>
            <a:ext cx="3429000" cy="3749039"/>
          </a:xfrm>
          <a:prstGeom prst="roundRect">
            <a:avLst/>
          </a:prstGeom>
          <a:solidFill>
            <a:srgbClr val="FCEFE7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3" y="1792224"/>
            <a:ext cx="82296" cy="3749039"/>
          </a:xfrm>
          <a:prstGeom prst="roundRect">
            <a:avLst/>
          </a:prstGeom>
          <a:solidFill>
            <a:srgbClr val="E07736"/>
          </a:solidFill>
          <a:ln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3" y="1975104"/>
            <a:ext cx="29992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07736"/>
                </a:solidFill>
                <a:latin typeface="Aptos"/>
              </a:defRPr>
            </a:pPr>
            <a:r>
              <a:t>NOT CLAIMED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404872"/>
            <a:ext cx="2999232" cy="29992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No local .txt pages numbered 01, 02, 14, or 18.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Their type/content is not inferred.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No referenced setup/teardown downloads were read.</a:t>
            </a:r>
          </a:p>
          <a:p>
            <a:pPr>
              <a:lnSpc>
                <a:spcPct val="112000"/>
              </a:lnSpc>
              <a:spcAft>
                <a:spcPts val="681"/>
              </a:spcAft>
              <a:defRPr sz="1420">
                <a:solidFill>
                  <a:srgbClr val="172B3A"/>
                </a:solidFill>
                <a:latin typeface="Aptos"/>
              </a:defRPr>
            </a:pPr>
            <a:r>
              <a:t>• Current guidance is visibly labeled.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833872"/>
            <a:ext cx="10149840" cy="384048"/>
          </a:xfrm>
          <a:prstGeom prst="roundRect">
            <a:avLst/>
          </a:prstGeom>
          <a:solidFill>
            <a:srgbClr val="E9EEF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998464"/>
            <a:ext cx="9747504" cy="73151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Coverage means substantive representation of what each available transcript actually contains—not invented depth.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536878"/>
          </a:solidFill>
          <a:ln>
            <a:solidFill>
              <a:srgbClr val="53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Source index ·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536878"/>
                </a:solidFill>
                <a:latin typeface="Aptos"/>
              </a:defRPr>
            </a:pPr>
            <a: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353312"/>
            <a:ext cx="106527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0">
                <a:solidFill>
                  <a:srgbClr val="536878"/>
                </a:solidFill>
                <a:latin typeface="Aptos"/>
              </a:defRPr>
            </a:pPr>
            <a:r>
              <a:t>Every exact local transcript filename is shown; all listed files were read.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T01 03-1-set-up-lambdas-for-learning.txt · T02 04-2-variables.txt · T03 05-3-data-types-data-structures.txt · T04 06-4-conditional-execution.txt · T05 07-5-looping.txt · T06 08-6-functions.txt · T07 09-7-string-operations.txt · T08 10-8-dictionaries.txt · T09 11-9-event-and-context.txt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810512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810512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03-1-set-up-lambdas-for-learning.txt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6064" y="1810512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  <a:r>
              <a:t>setup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212848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286000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286000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04-2-variables.txt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6064" y="2286000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58368" y="2688336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2761488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2761488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05-3-data-types-data-structures.txt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2761488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58368" y="3163824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236976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3236976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06-4-conditional-execution.txt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6064" y="3236976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658368" y="3639312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3712463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3712463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07-5-looping.txt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6064" y="3712463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58368" y="4114800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4187952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4187952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08-6-functions.txt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4187952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658368" y="4590288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4663440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4663440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09-7-string-operations.txt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4663440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658368" y="5065776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" y="5138928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7048" y="5138928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10-8-dictionaries.txt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5138928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42" name="Rounded Rectangle 41"/>
          <p:cNvSpPr/>
          <p:nvPr/>
        </p:nvSpPr>
        <p:spPr>
          <a:xfrm>
            <a:off x="658368" y="5541264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" y="5614416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7048" y="5614416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11-9-event-and-context.txt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6064" y="5614416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  <a:r>
              <a:t>deferral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10896"/>
            <a:ext cx="1143000" cy="301752"/>
          </a:xfrm>
          <a:prstGeom prst="roundRect">
            <a:avLst/>
          </a:prstGeom>
          <a:solidFill>
            <a:srgbClr val="536878"/>
          </a:solidFill>
          <a:ln>
            <a:solidFill>
              <a:srgbClr val="53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356616"/>
            <a:ext cx="996696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0469880" cy="6126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0B1F33"/>
                </a:solidFill>
                <a:latin typeface="Aptos"/>
              </a:defRPr>
            </a:pPr>
            <a:r>
              <a:t>Source index ·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384048"/>
            <a:ext cx="612648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600" b="1">
                <a:solidFill>
                  <a:srgbClr val="536878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353312"/>
            <a:ext cx="106527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50" b="0">
                <a:solidFill>
                  <a:srgbClr val="536878"/>
                </a:solidFill>
                <a:latin typeface="Aptos"/>
              </a:defRPr>
            </a:pPr>
            <a:r>
              <a:t>Every exact local transcript filename is shown; all listed files were read.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92240"/>
            <a:ext cx="11183112" cy="0"/>
          </a:xfrm>
          <a:prstGeom prst="line">
            <a:avLst/>
          </a:prstGeom>
          <a:ln w="12700">
            <a:solidFill>
              <a:srgbClr val="D9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" y="6547104"/>
            <a:ext cx="8686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40" b="0">
                <a:solidFill>
                  <a:srgbClr val="536878"/>
                </a:solidFill>
                <a:latin typeface="Aptos"/>
              </a:defRPr>
            </a:pPr>
            <a:r>
              <a:t>Sources: T10 12-10-exception-handling.txt · T11 13-11-what-next.txt · T12 15-1-lambda-necessary-background.txt · T13 16-2-set-up-lambdas-for-learning.txt · T14 17-3-create-a-lambda-from-scratch.txt · T15 19-5-event-arn-real-world-practice.txt · T16 20-6-help-me-help-you.txt · T17 21-7-teardown-lambdas.txt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6547104"/>
            <a:ext cx="24505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740" b="0">
                <a:solidFill>
                  <a:srgbClr val="536878"/>
                </a:solidFill>
                <a:latin typeface="Aptos"/>
              </a:defRPr>
            </a:pPr>
            <a:r>
              <a:t>Python &amp; AWS Lambda Foundations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37360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810512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810512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12-10-exception-handling.txt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6064" y="1810512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58368" y="2212848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286000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286000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13-11-what-next.txt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6064" y="2286000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18" name="Rounded Rectangle 17"/>
          <p:cNvSpPr/>
          <p:nvPr/>
        </p:nvSpPr>
        <p:spPr>
          <a:xfrm>
            <a:off x="658368" y="2688336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2761488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2761488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15-1-lambda-necessary-background.txt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2761488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22" name="Rounded Rectangle 21"/>
          <p:cNvSpPr/>
          <p:nvPr/>
        </p:nvSpPr>
        <p:spPr>
          <a:xfrm>
            <a:off x="658368" y="3163824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236976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3236976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16-2-set-up-lambdas-for-learning.txt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6064" y="3236976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  <a:r>
              <a:t>duplicate setup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39312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" y="3712463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3712463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17-3-create-a-lambda-from-scratch.txt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6064" y="3712463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658368" y="4114800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4187952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4187952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19-5-event-arn-real-world-practice.txt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4187952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658368" y="4590288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4663440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4663440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20-6-help-me-help-you.txt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4663440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  <a:r>
              <a:t>feedback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065776"/>
            <a:ext cx="10853928" cy="374904"/>
          </a:xfrm>
          <a:prstGeom prst="roundRect">
            <a:avLst/>
          </a:prstGeom>
          <a:solidFill>
            <a:srgbClr val="FFFFFF"/>
          </a:solidFill>
          <a:ln>
            <a:solidFill>
              <a:srgbClr val="D9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" y="5138928"/>
            <a:ext cx="56692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1">
                <a:solidFill>
                  <a:srgbClr val="536878"/>
                </a:solidFill>
                <a:latin typeface="Aptos"/>
              </a:defRPr>
            </a:pPr>
            <a:r>
              <a:t>T17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7048" y="5138928"/>
            <a:ext cx="786384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50" b="0">
                <a:solidFill>
                  <a:srgbClr val="172B3A"/>
                </a:solidFill>
                <a:latin typeface="Aptos"/>
              </a:defRPr>
            </a:pPr>
            <a:r>
              <a:t>21-7-teardown-lambdas.txt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56064" y="5138928"/>
            <a:ext cx="15087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50" b="1">
                <a:solidFill>
                  <a:srgbClr val="536878"/>
                </a:solidFill>
                <a:latin typeface="Aptos"/>
              </a:defRPr>
            </a:pPr>
            <a:r>
              <a:t>teardown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" y="5961888"/>
            <a:ext cx="10250424" cy="320040"/>
          </a:xfrm>
          <a:prstGeom prst="roundRect">
            <a:avLst/>
          </a:prstGeom>
          <a:solidFill>
            <a:srgbClr val="EAF0FD"/>
          </a:solidFill>
          <a:ln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1288" y="6126479"/>
            <a:ext cx="9848088" cy="9143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450" b="1">
                <a:solidFill>
                  <a:srgbClr val="172B3A"/>
                </a:solidFill>
                <a:latin typeface="Aptos"/>
              </a:defRPr>
            </a:pPr>
            <a:r>
              <a:t>Index scope: the 17 .txt files available in this module's transcripts directory at build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