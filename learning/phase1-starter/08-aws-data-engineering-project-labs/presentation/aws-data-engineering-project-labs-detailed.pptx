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57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2D7D2"/>
                </a:solidFill>
                <a:latin typeface="Calibri"/>
              </a:rPr>
              <a:t>RADE LEARNING PATH  |  MODULE 08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621792" y="987552"/>
            <a:ext cx="8778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AWS Data Engineering
Project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3774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CBD5E1"/>
                </a:solidFill>
                <a:latin typeface="Calibri"/>
              </a:rPr>
              <a:t>NYC TLC data → tested three-layer lake → incremental monthly pipeline → orchestrated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13048"/>
            <a:ext cx="1901952" cy="1170432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402336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9B96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NYC TLC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33472" y="4407408"/>
            <a:ext cx="237743" cy="0"/>
          </a:xfrm>
          <a:prstGeom prst="line">
            <a:avLst/>
          </a:prstGeom>
          <a:ln w="25400">
            <a:solidFill>
              <a:srgbClr val="72D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3813048"/>
            <a:ext cx="1901952" cy="1170432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402336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C66DC"/>
                </a:solidFill>
                <a:latin typeface="Calibri"/>
              </a:rPr>
              <a:t>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4389120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Ingestion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46320" y="4407408"/>
            <a:ext cx="237744" cy="0"/>
          </a:xfrm>
          <a:prstGeom prst="line">
            <a:avLst/>
          </a:prstGeom>
          <a:ln w="25400">
            <a:solidFill>
              <a:srgbClr val="72D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38928" y="3813048"/>
            <a:ext cx="1901952" cy="1170432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402336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F52B8"/>
                </a:solidFill>
                <a:latin typeface="Calibri"/>
              </a:rPr>
              <a:t>CURATED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4389120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59168" y="4407408"/>
            <a:ext cx="237744" cy="0"/>
          </a:xfrm>
          <a:prstGeom prst="line">
            <a:avLst/>
          </a:prstGeom>
          <a:ln w="25400">
            <a:solidFill>
              <a:srgbClr val="72D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51775" y="3813048"/>
            <a:ext cx="1901952" cy="1170432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402336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07736"/>
                </a:solidFill>
                <a:latin typeface="Calibri"/>
              </a:rPr>
              <a:t>AGGREGATED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3" y="4389120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Daily metrics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72015" y="4407408"/>
            <a:ext cx="237744" cy="0"/>
          </a:xfrm>
          <a:prstGeom prst="line">
            <a:avLst/>
          </a:prstGeom>
          <a:ln w="25400">
            <a:solidFill>
              <a:srgbClr val="72D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64624" y="3813048"/>
            <a:ext cx="1901952" cy="1170432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01784" y="402336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A9160"/>
                </a:solidFill>
                <a:latin typeface="Calibri"/>
              </a:rPr>
              <a:t>OPERATE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1" y="4389120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Schedule + notify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5559552"/>
            <a:ext cx="2057400" cy="292608"/>
          </a:xfrm>
          <a:prstGeom prst="roundRect">
            <a:avLst/>
          </a:prstGeom>
          <a:solidFill>
            <a:srgbClr val="26425A"/>
          </a:solidFill>
          <a:ln w="12700">
            <a:solidFill>
              <a:srgbClr val="26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5577840"/>
            <a:ext cx="19659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A9E7E4"/>
                </a:solidFill>
                <a:latin typeface="Calibri"/>
              </a:rPr>
              <a:t>TRANSCRIPT-DERIVED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614416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BD5E1"/>
                </a:solidFill>
                <a:latin typeface="Calibri"/>
              </a:rPr>
              <a:t>65 verified transcript pairs  |  Detailed project, interview, and operations guide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270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CBD5E1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ORIENT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02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How to use this project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Learn the system, reproduce each checkpoint, preserve evidence, and explain decisions in your own 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All Module 08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Connect each AWS service to a requirement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Read mappings before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Implement one stage at a time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Stop at every validation 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Retell failures and corrections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Turn evidence into interview stories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ORIENT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03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What you will be able to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module moves from a single queryable file to a tested, incremental, scheduled three-layer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15–68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Translate analyst needs and mapping sheets into a technical contract.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Data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Build ingestion, curated, and aggregated Glue jobs on S3.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Test transformations, DQ rules, joins, aggregates, and handoffs.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Add bookmarks, sequencing, notifications, cadence, and cleanup.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04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The evidence set is complete—with three LMS index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All 65 TXT files have matching VTT files; indexes 02, 14, and 31 are not represented as transcript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AUDIT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Module 08 transcripts folder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Verified corpus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65 TXT + 65 VTT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No orphan, empty, or malformed pairs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Unrepresented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Top-level indexes 02, 14, and 31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Likely LMS section/container items; not proven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Course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Module 07 is a mandatory prerequisite detour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Its transcripts are not merged into Module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D7D2"/>
                </a:solidFill>
                <a:latin typeface="Calibri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>
                <a:solidFill>
                  <a:srgbClr val="009B96"/>
                </a:solidFill>
                <a:latin typeface="Calibri"/>
              </a:rPr>
              <a:t>01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280160"/>
            <a:ext cx="9052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Build a safe AWS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16352"/>
            <a:ext cx="8961120" cy="1298448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358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Calibri"/>
              </a:rPr>
              <a:t>You will know which identity, region, credentials, and cost controls are active before creating project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2628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Account → identity → CLI → budgets → region → environment proof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270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CBD5E1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CBD5E1"/>
                </a:solidFill>
                <a:latin typeface="Calibri"/>
              </a:rPr>
              <a:t>Lessons 01 and 03–13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06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Effort turns the lab into career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opening lesson frames this as a real-project simulation: hands-on work and personal notes make the learning retrievable.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01-your-effort-can-change-your-career-trajectory.txt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Replicate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Perform the steps in your own practice account rather than watching passively.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Capture architecture, screenshots, commands, errors, and fixes as you work.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Retell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Translate the project into a concise technical narrative for interviews.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07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Prepare AWS in dependency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Each setup step makes the next one safer and more predictable.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03–13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15201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Create or prepare the practice account.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210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85566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5566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14166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988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8526" y="2468880"/>
            <a:ext cx="15201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5022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Use root to establish a separate practice admin.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316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40780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0780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69380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100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3740" y="2468880"/>
            <a:ext cx="15201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Install, create access, and configure a profile.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1253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95994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5994" y="2267712"/>
            <a:ext cx="73152" cy="2670048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4594" y="246888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031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8954" y="2468880"/>
            <a:ext cx="15201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5450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Create three budgets and choose us-east-1.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08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Separate root, practice admin, and enterprise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course uses broad practice permissions; production organizations normally impose stronger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05–07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Account-level setup only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MFA and no daily 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Practice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Console + CLI for this lab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Broad access requires caution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SSO, roles, approvals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Least privilege and auditability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09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Treat CLI credentials as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Programmatic access makes automation possible and creates a credential-handling responsibility.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CURRENT SAFETY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08–10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Bind the key to the intended practice identity and profile.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Protect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Never paste keys into AI chat, source control, screenshots, or slides.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Run sts get-caller-identity before resource creation.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Remove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Deactivate or delete unused keys after practice.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10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Use three budgets as escalating cost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course establishes $10, $20, and $30 alerts so unexpected spend is noticed 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11-8-vimp-set-up-three-aws-budgets.txt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$10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Early signal: inspect active services and recent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$20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Investigate: pause nonessential runs and identify the owner.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$30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Stop and clean up: remove unintended resources deliberately.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5715000"/>
            <a:ext cx="9537192" cy="41148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27048" y="5806440"/>
            <a:ext cx="9134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BUDGETS ALERT YOU; THEY DO NOT AUTOMATICALLY STOP AWS SPEND.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11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Prove account, identity, region, and project naming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 correct command can still operate in the wrong environment; make the execution context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12-85 and 13-9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Confirm account ID and principal with 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Set and verify us-east-1 as taught.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Naming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Use project-specific, globally unique, non-sensitive names.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Owner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Know who will stop jobs and remove resources.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12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Checkpoint 01 | AWS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Do not start the data lake until the operating boundary is explicit.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03–13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Caller identity and region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Configured CLI profile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$10/$20/$30 budgets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5916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4516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8876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Why root is not daily identity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Where credentials are stored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Who owns cleanup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715000"/>
            <a:ext cx="9537192" cy="41148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" y="5806440"/>
            <a:ext cx="9134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PASS: IDENTITY + REGION + COST CONTROLS + CLEANUP OWNER ARE EXPLICIT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D7D2"/>
                </a:solidFill>
                <a:latin typeface="Calibri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>
                <a:solidFill>
                  <a:srgbClr val="009B96"/>
                </a:solidFill>
                <a:latin typeface="Calibri"/>
              </a:rPr>
              <a:t>02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280160"/>
            <a:ext cx="9052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Establish the manual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16352"/>
            <a:ext cx="8961120" cy="1298448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358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Calibri"/>
              </a:rPr>
              <a:t>You will make one public Parquet file queryable through S3, the Glue Catalog, and Athena before automating anything.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2628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One file → local project → S3 → crawler/catalog → Athena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270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CBD5E1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CBD5E1"/>
                </a:solidFill>
                <a:latin typeface="Calibri"/>
              </a:rPr>
              <a:t>Lessons 15–24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14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Start with an analyst-visible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first milestone is not a complex pipeline; it is a trustworthy sample that analysts can inspect and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15-1a and 16-1b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Provide a queryable NYC TLC sample for exploratory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Keep the first slice small enough to inspect manually.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Show both the S3 object and an Athena query result.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15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Define the NYC TLC source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Public data still needs an explicit dataset, cadence, file format, naming pattern, and time range.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17-2-download-data-from-nyc-tlc.txt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High-volume for-hire vehicle trip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Monthly Parquet files plus a taxi-zone lookup.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Cadence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New trip data arrives on a monthly rhythm.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Caveat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URLs, schemas, and publication timing can change.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16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Move one file through the manual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learner observes every boundary before replacing repetitive steps with automation.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17–20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3496056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2471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3057144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Fetch one NYC TLC Parquet file.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5384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37304" y="2267712"/>
            <a:ext cx="3496056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7304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65904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162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0264" y="2468880"/>
            <a:ext cx="2471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Organize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6760" y="3090672"/>
            <a:ext cx="3057144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Move it into the local project folder.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079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44256" y="2267712"/>
            <a:ext cx="3496056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44256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72856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857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7216" y="2468880"/>
            <a:ext cx="2471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Upload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3712" y="3090672"/>
            <a:ext cx="3057144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Create the S3 lake bucket and upload the file.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17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Baseline architecture | source to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first architecture keeps data, metadata, and query responsibilities distinct.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17–23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NYC TLC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Public Parquet source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31059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4523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4523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43123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8843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7483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3979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Observed download and project 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1523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98694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8694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27294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301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1654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Amazon 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8150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Durable raw object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9401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82865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82865" y="2267712"/>
            <a:ext cx="73152" cy="2670048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11465" y="246888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57185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5825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Glue Catalog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2321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Crawler-derived metadata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8357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67036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67036" y="2267712"/>
            <a:ext cx="73152" cy="2670048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895636" y="246888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4135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89996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Athena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86492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SQL query evidence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18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A Glue table is metadata—not a copy of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crawler inspects the S3 object and registers schema/location information in the Data Catalog.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21-6 and 22-7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Stores the actual Parquet bytes.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Crawler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Discovers schema, location, and partitions.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Catalog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Holds database and table metadata.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ATHENA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19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Use Athena to verify queryability and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baseline succeeds when analysts can query the registered table and the result matches the sample.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23-8-view-the-parquet-data-in-athena.txt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Select a bounded sample and inspect columns and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Prefer filters and limited scans while exploring.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Grant only the data and metadata permissions analysts need.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20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Checkpoint 02 | Manual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Show the full source-to-query chain and explain why it cannot satisfy a two-year recurring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15–24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Local source file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S3 object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Catalog table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Successful Athena query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5916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4516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8876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Data versus metadata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Crawler role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Manual scaling limitation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715000"/>
            <a:ext cx="9537192" cy="41148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" y="5806440"/>
            <a:ext cx="9134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PASS: ONE FILE IS QUERYABLE, TRACEABLE, AND CLEARLY NOT THE FINAL PIPELINE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D7D2"/>
                </a:solidFill>
                <a:latin typeface="Calibri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>
                <a:solidFill>
                  <a:srgbClr val="009B96"/>
                </a:solidFill>
                <a:latin typeface="Calibri"/>
              </a:rPr>
              <a:t>03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280160"/>
            <a:ext cx="9052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Automate ingestion after the agentic prerequisite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16352"/>
            <a:ext cx="8961120" cy="1298448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358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Calibri"/>
              </a:rPr>
              <a:t>You will expand from one manual file to two years of partitioned trip data plus a zone lookup.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2628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Analyst ask → Module 07 detour → Glue ingestion → partitions → zone table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270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CBD5E1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CBD5E1"/>
                </a:solidFill>
                <a:latin typeface="Calibri"/>
              </a:rPr>
              <a:t>Lessons 25–30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22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The analyst ask expands the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Exploration proves value; analysts now want broader history and readable pickup/drop-off locations.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25-1-below-mandatory-detour...txt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Load 2024 plus available 2025 monthly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Enrichment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Load the taxi-zone lookup for location IDs.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Joinability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Catalog both datasets so Athena can combine them.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COURSE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23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Module 07 is a prerequisite—not merged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Project Labs explicitly pauses so the learner can acquire the pilot/copilot workflow used for ingestion.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25–26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Pause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Stop Project Labs before the next automated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Complete Agentic Data Engineering with Amazon Q.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Resume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Return with generated artifacts and human review habits.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24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Automated ingestion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ingestion job replaces repeated browser downloads while preserving observable raw partitions and catalog metadata.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27–29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NYC TLC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Monthly Parquet + zone lookup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31059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4523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4523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43123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8843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7483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Glue 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3979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Download, validate response, and write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1523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98694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8694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27294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301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1654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S3 raw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8150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Trip year/month partitions + zone object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9401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82865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82865" y="2267712"/>
            <a:ext cx="73152" cy="2670048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11465" y="246888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57185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5825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Catalog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2321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Trip and zone tables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8357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67036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67036" y="2267712"/>
            <a:ext cx="73152" cy="2670048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895636" y="246888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4135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89996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Athena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86492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Filtered verification and joins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25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Review the ingestion job before running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Automation broadens blast radius: inspect source URLs, target prefixes, IAM, retries, logging, and deletion scope.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27-3-create-the-glue-ingestion-job.txt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Confirm months, URL construction, and expected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Writes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Confirm bucket, prefixes, partition keys, and marker behavior.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Limit the role to required source logging and S3 actions.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Cleanup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Delete only the known manual baseline object—not an entire prefix blindly.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PARTITIONS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26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Partition raw data for filtered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crawler discovers year/month partitions so Athena can avoid scanning unrelated months.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28-4-run-glue-crawler...txt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Layout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Store trip data under year/month partition paths.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Rerun crawler after new objects arrive.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The demonstrated history produces 22 partitions.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Economics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Filtered partition queries reduce scan volume.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27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Catalog the zone lookup separately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 dedicated table lets analysts translate pickup and drop-off location IDs into borough and zone attributes.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29-5-create-crawler-for-zone-table.txt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Zone 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Load the lookup into the raw lake.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Crawler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Create a separate metadata path and table.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Use location ID for pickup and drop-off enrichment.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28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Checkpoint 03 | Automated raw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raw layer is ready only when history, lookup, partitions, and query evidence agree.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25–30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2024 + available 2025 objects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Zone lookup table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Current partitions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Successful filtered query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5916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4516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8876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Ingestion job role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Partition pruning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Manual-to-automated transition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715000"/>
            <a:ext cx="9537192" cy="41148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" y="5806440"/>
            <a:ext cx="9134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PASS: RAW DATA + ZONE LOOKUP + PARTITIONS + INGESTION EVIDENCE ARE COMPLETE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D7D2"/>
                </a:solidFill>
                <a:latin typeface="Calibri"/>
              </a:rP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>
                <a:solidFill>
                  <a:srgbClr val="009B96"/>
                </a:solidFill>
                <a:latin typeface="Calibri"/>
              </a:rPr>
              <a:t>04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280160"/>
            <a:ext cx="9052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Translate analysis into a three-layer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16352"/>
            <a:ext cx="8961120" cy="1298448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358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Calibri"/>
              </a:rPr>
              <a:t>You will turn analyst research and mapping sheets into explicit transformations, quality rules, aggregates, and technical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2628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Research → requirements meeting → mapping sheets → technical contract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270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CBD5E1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CBD5E1"/>
                </a:solidFill>
                <a:latin typeface="Calibri"/>
              </a:rPr>
              <a:t>Lessons 32–36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DELIVERY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30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Clarify roles before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Requirements emerge through collaboration; no single role owns the entire path from business question to AWS resource.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32--1-intro...txt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Business/analyst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Define outcomes, research data, and specify measures.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Data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Translate mappings into data flow, code, tests, and operations.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Cloud/platform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Provide governed accounts, roles, networking, and services.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Operate incidents, schedules, alerts, and handoffs.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31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Anchor requirements in 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analysts use trip history to optimize revenue and driver operations—not merely to produce more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34-3-analysis-by-data-analysts...txt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Where and when does demand generate higher value?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How do zones, weekdays, and time patterns affect drivers?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Reporting grain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Decide which questions need daily versus monthly views.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32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Choose a capstone path that proves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course offers ways to extend the system rather than merely replay it unchanged.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33-2-capstone-requirements...txt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Operate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Replace or extend orchestration with Airflow and CI/CD.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Apply the pattern to another NYC TLC dataset.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Build the architecture from a different public source.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33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Move from research notes to an agreed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development lifecycle uses repeated clarification before implementation begins.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34–36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15201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Analysts query raw history and study business questions.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210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85566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5566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14166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988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8526" y="2468880"/>
            <a:ext cx="15201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Meet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5022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Data engineers challenge grain, logic, and quality assumptions.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316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40780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0780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69380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100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3740" y="2468880"/>
            <a:ext cx="15201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Record source-to-target fields, rules, joins, and measures.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1253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95994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5994" y="2267712"/>
            <a:ext cx="73152" cy="2670048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4594" y="246888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031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8954" y="2468880"/>
            <a:ext cx="15201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Clarify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5450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Resolve ambiguity and version requirement changes.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34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Three-layer architecture separates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Raw preserves source history, curated applies quality and business rules, and aggregated serves daily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34-3-analysis...txt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Monthly source-aligned data and lookup objects.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Curated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Clean, validated, enriched detail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Aggregated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Daily business measures for reporting.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5715000"/>
            <a:ext cx="9537192" cy="41148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27048" y="5806440"/>
            <a:ext cx="9134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THIS RESEMBLES BRONZE/SILVER/GOLD, BUT THE COURSE DOES NOT CLAIM ICEBERG OR ACID TABLE SEMANTICS.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35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Read the raw-to-curated mapping as executable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mapping distinguishes direct passes, casts, derived fields, and Boolean normalization.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35-4-understanding-requirements...txt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Pass 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Retain source values when no transformation is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Derive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Create date, hour, day-of-week, and weekend fields.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Normalize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Convert Y/N flags into consistent Boolean values.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Apply the target data types explicitly.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36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Make quality and aggregation rules testable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Null, range, logical, join, and aggregate rules become assertions—not comments.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35 and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Reject null timestamps, implausible miles/fares, and drop-off-before-pickup rows.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Enrich pickup and drop-off through the zone lookup twice.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Aggregate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Define dimensions and sum/avg/min/max measures.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Track the analyst revision from one output to three tables.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37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Checkpoint 04 | Lock the technical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Development starts only after file format, compute, cadence, partitions, idempotency, DQ logging, query, reporting, and retention are explicit.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36-5-decide-on-technical-requirements...txt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Parquet outputs</a:t>
            </a:r>
          </a:p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Day partitions downstream</a:t>
            </a:r>
          </a:p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Raw/curated/aggregate locations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AWS Glue Spark</a:t>
            </a:r>
          </a:p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Monthly cadence</a:t>
            </a:r>
          </a:p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Idempotent write scope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Rejected count and rate</a:t>
            </a:r>
          </a:p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Mapping-based tests</a:t>
            </a:r>
          </a:p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Analyst handoff criteria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Athena + QuickSight</a:t>
            </a:r>
          </a:p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Lifecycle depends on policy</a:t>
            </a:r>
          </a:p>
          <a:p>
            <a:pPr>
              <a:spcAft>
                <a:spcPts val="400"/>
              </a:spcAft>
              <a:defRPr sz="1280">
                <a:solidFill>
                  <a:srgbClr val="556377"/>
                </a:solidFill>
                <a:latin typeface="Calibri"/>
              </a:defRPr>
            </a:pPr>
            <a:r>
              <a:t>•  Cost/cleanup owner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5715000"/>
            <a:ext cx="9537192" cy="41148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27048" y="5806440"/>
            <a:ext cx="9134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PASS: EVERY AMBIGUITY HAS AN OWNER, DECISION, AND VERIFIABLE ACCEPTANCE CONDITION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D7D2"/>
                </a:solidFill>
                <a:latin typeface="Calibri"/>
              </a:rP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>
                <a:solidFill>
                  <a:srgbClr val="009B96"/>
                </a:solidFill>
                <a:latin typeface="Calibri"/>
              </a:rPr>
              <a:t>05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280160"/>
            <a:ext cx="9052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Develop and test raw-to-curated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16352"/>
            <a:ext cx="8961120" cy="1298448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358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Calibri"/>
              </a:rPr>
              <a:t>You will implement the mapping iteratively, split valid/rejected records, write partitioned Parquet, and verify the result before handoff.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2628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Notebook → load → transform → DQ split → write → script job → unit test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270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CBD5E1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CBD5E1"/>
                </a:solidFill>
                <a:latin typeface="Calibri"/>
              </a:rPr>
              <a:t>Lessons 37–44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39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Use the notebook as an iterative development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VS Code and a Glue notebook let the engineer run one stage at a time and inspect intermediate DataFrames.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37-1 and 38-2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Open the provided notebook in the intended Glue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Iterate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Run small cells and inspect schema, counts, and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Control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Stop the notebook when development pauses or finishes.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40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Load a deliberate raw slice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Start with explicit catalog inputs and partition scope so development is fast and evidence is interpretable.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38-2-start-iterative-development-load-the-data.txt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Read the registered raw table with known schema/location.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Choose a bounded month or partition for iterative work.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Inspect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Confirm row count, columns, types, and representative values.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41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Transform 25 source columns into the curated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mapping drives direct fields, casts, derived timestamps, calendar features, and normalized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39-3-transform-validate-and-load-to-curated.txt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3496056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2471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Raw DataFrame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3057144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25 source data columns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5384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37304" y="2267712"/>
            <a:ext cx="3496056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7304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65904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162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0264" y="2468880"/>
            <a:ext cx="2471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Mapping transforms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6760" y="3090672"/>
            <a:ext cx="3057144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Pass-through, cast, derive, normalize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079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44256" y="2267712"/>
            <a:ext cx="3496056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44256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72856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857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7216" y="2468880"/>
            <a:ext cx="2471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Curated DataFrame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3712" y="3090672"/>
            <a:ext cx="3057144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38 target columns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42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Split valid and rejected records—and retain run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demonstrated run rejects 188,441 rows while more than 99% pass; that number belongs to that run, not every future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39-3-transform-validate...txt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Valid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Rows satisfying the complete DQ predicate continue to curated.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Rejected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Rows violating null, range, or logical rules are counted and observable.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Log total, valid, rejected, and rejection rate with run/partition context.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43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Write curated data for efficient, repeatable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taught output uses Parquet with default Snappy compression and year/month/day partitions.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39-3-transform-validate...txt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Columnar Parquet with compression.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Partition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year/month/day for daily pruning.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Idempotency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Define what overwrite replaces and test reruns safely.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Inspect files, partitions, counts, and schema after write.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GLUE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44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Convert the notebook into a governed Glue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script job operationalizes the tested logic and exposes role, worker, timeout, logging, and full-data concerns.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40-4-create-and-run-glue-script-job.txt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Move tested notebook logic into a script artifact.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Configure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Review IAM role, runtime, workers, timeout, and arguments.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Replace the development slice with the intended complete scope.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Observe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Retain run ID, duration, output logs, and error logs.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45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Checkpoint 05 | Curated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layer is ready for testing when the script, run evidence, S3 output, partitions, and notebook cleanup are complete.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37–44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Exported script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Glue run ID and logs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Curated Parquet partitions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Valid/rejected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5916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4516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8876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Mapping implementation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Idempotent rerun boundary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Observed runtime differences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Notebook stopped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715000"/>
            <a:ext cx="9537192" cy="41148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" y="5806440"/>
            <a:ext cx="9134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PASS: CURATED OUTPUT IS TRACEABLE TO THE MAPPING AND READY FOR FORMAL UNIT TESTS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D7D2"/>
                </a:solidFill>
                <a:latin typeface="Calibri"/>
              </a:rPr>
              <a:t>SECTION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>
                <a:solidFill>
                  <a:srgbClr val="009B96"/>
                </a:solidFill>
                <a:latin typeface="Calibri"/>
              </a:rPr>
              <a:t>06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280160"/>
            <a:ext cx="9052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Test curated data and build aggregates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16352"/>
            <a:ext cx="8961120" cy="1298448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358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Calibri"/>
              </a:rPr>
              <a:t>You will use the mapping as the oracle, enrich twice with zone data, produce three daily aggregates, and test before analyst handoff.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2628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Catalog → curated tests → enrich → three aggregates → AI review → tests/UAT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270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CBD5E1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CBD5E1"/>
                </a:solidFill>
                <a:latin typeface="Calibri"/>
              </a:rPr>
              <a:t>Lessons 42–54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47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Generated output still needs mapping-based unit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AI and notebooks accelerate implementation; the specification and observed data determine correctness.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42-0 and 43-1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Use the approved mapping and DQ rules as expected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Write queries that prove both positive and negative cases.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Fail → inspect → correct → rerun → retest.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TEST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48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Build a curated test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 crawler/table, Athena queries, and a unit-test document turn checks into a repeatable handoff artifact.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43-1 and 44-2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Register curated partitions and schema.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Run bounded assertions in Athena.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Record test, expected result, actual result, and status.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UNIT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49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Test transformations and rejected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Curated tests must cover schema, derivations, normalized flags, and the absence of records that should have failed DQ.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44-2-unit-test-the-curated-layer...txt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Schema/counts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Expected columns, types, and reconciliation.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Derivations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Date/hour/day/weekend and Boolean logic.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Exclusions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Null, range, fare, and timestamp-order violations absent.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Partitions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Expected dates and paths are queryable.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DEFECT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50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Defects loop back before analyst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 failed test is a development signal, not a reason to adjust the expected result silently.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43–45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15201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Capture the query and mismatch.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210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85566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5566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14166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988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8526" y="2468880"/>
            <a:ext cx="15201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Diagnose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5022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Trace mapping, code, partition, and source assumptions.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316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40780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0780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69380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100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3740" y="2468880"/>
            <a:ext cx="15201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Correct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Update code or clarify the approved requirement.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1253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95994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5994" y="2267712"/>
            <a:ext cx="73152" cy="2670048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4594" y="246888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031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8954" y="2468880"/>
            <a:ext cx="15201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5450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Rerun and document before requesting analyst access.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51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Expect requirements to evolve from one output to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analyst revision changes the aggregate design and demonstrates why mappings need versioned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45-3-analyse-the-curated-to-aggregated-mapping-sheet.txt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One broad aggregate concept.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Revised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Three business-specific daily aggregate datasets.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Update mapping, code branches, paths, tables, tests, and access.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52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Curated-to-aggregated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Curated detail is enriched twice with zone attributes and branched into three daily analytical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45–53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Curated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Validated trip detail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31059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4523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4523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43123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8843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7483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Zone joins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3979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Pickup + drop-off borough/zone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1523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98694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8694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27294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301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1654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Aggregate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8150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Group dimensions + business measures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9401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82865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82865" y="2267712"/>
            <a:ext cx="73152" cy="2670048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11465" y="246888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57185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5825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Three outputs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2321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Daily datasets in S3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8357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67036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67036" y="2267712"/>
            <a:ext cx="73152" cy="2670048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895636" y="246888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4135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89996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Catalog/Athena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86492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Tables, tests, and analyst access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53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Develop three aggregate branches in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Load curated data, perform both zone joins, apply the revised mapping, and inspect each output before writing.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46-4 and 47-5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Enrich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Alias the lookup for pickup and drop-off joins.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Aggregate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Apply approved dimensions and sum/avg/min/max logic.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Write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Use separate S3 paths and predictable schemas.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AI REVIEW +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54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Export, stop, and use AI as a review accelerator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AI catches that the exported script still handles a limited 2024 slice; human mapping checks and data tests remain authoritative.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48–49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Capture the tested notebook as a script.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Terminate the notebook to avoid idle charges.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AI vet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Ask for focused review against full-scope requirements.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Human 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Inspect the diff and rerun mapping-based tests.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55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Checkpoint 06 | Aggregated layer and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Three tables are complete only after job execution, crawling, Athena tests, access, and analyst feedback are documented.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50–54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Aggregate Glue job/run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Three S3 outputs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Three catalog tables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Unit-test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5916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4516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8876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Two zone joins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Three mapping branches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AI review boundary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Analyst UAT/change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715000"/>
            <a:ext cx="9537192" cy="41148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" y="5806440"/>
            <a:ext cx="9134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PASS: THREE TABLES MATCH THE REVISED MAPPING AND ANALYST ACCESS IS CONTROLLED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D7D2"/>
                </a:solidFill>
                <a:latin typeface="Calibri"/>
              </a:rPr>
              <a:t>SECTION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>
                <a:solidFill>
                  <a:srgbClr val="009B96"/>
                </a:solidFill>
                <a:latin typeface="Calibri"/>
              </a:rPr>
              <a:t>07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280160"/>
            <a:ext cx="9052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Process historical data once and monthly data incrementally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16352"/>
            <a:ext cx="8961120" cy="1298448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358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Calibri"/>
              </a:rPr>
              <a:t>You will understand the exact Glue bookmark prerequisites, replay behavior, and catalog state needed to skip prior input.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2628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Backfill → monthly partition → DynamicFrame/bookmark → zero-new-data rerun → reset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270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CBD5E1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CBD5E1"/>
                </a:solidFill>
                <a:latin typeface="Calibri"/>
              </a:rPr>
              <a:t>Lessons 55–61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CADENCE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57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Separate historical backfill from the normal monthly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Full history establishes the lake; recurring execution should process only new partitions when 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55-1 and 56-2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Historical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Load the intended backfill once under controlled scope.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Current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Parameterize and process the newly arrived month.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Define idempotency and replay behavior for both modes.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WHY INCREMENTAL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58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Incremental processing protects time and cost as history grows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Reading all prior months for every run increases scans, runtime, duplicate risk, and recovery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57-3-why-do-we-even-need...txt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Limit input to unseen objects or partitions.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Finish monthly processing without rereading years of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Correctness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Prevent accidental duplicate or repeated transformations.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Document how a specific period can be replayed safely.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59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Bookmark architecture depends on catalog and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bookmark works when Glue can associate a stable source context with cataloged input and committed job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58-4-extremely-important...txt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Table includes the latest partition metadata.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31059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4523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4523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43123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8843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7483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DynamicFrame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3979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Read through GlueContext from the catalog.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1523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98694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8694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27294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301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1654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8150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Use a stable transformation_ctx.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9401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82865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82865" y="2267712"/>
            <a:ext cx="73152" cy="2670048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11465" y="246888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57185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5825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2321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Run between job.init and job.commit.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8357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67036" y="2267712"/>
            <a:ext cx="1973275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67036" y="2267712"/>
            <a:ext cx="73152" cy="2670048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895636" y="246888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4135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89996" y="2468880"/>
            <a:ext cx="9491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Filter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86492" y="3090672"/>
            <a:ext cx="1534363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Only unseen input proceeds to transformations.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INTERVIEW CRITICAL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60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Know every Glue bookmark prerequisite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Enabling the switch alone is insufficient; the input read and job lifecycle must participate in state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58-4-extremely-important...txt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Turn on job bookmarks in job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Create a DynamicFrame from the Data Catalog.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Identify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Supply a stable transformation_ctx.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Commit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Keep processing within job.init/job.commit.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CATALOG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61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Synchronize partitions before expecting bookmark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If S3 has a new partition but the Catalog does not, the catalog-driven read cannot discover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58-4-extremely-important...txt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Crawler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Rescan S3 and update table partitions.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MSCK REPAIR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Discover Hive-style partitions through SQL as taught.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First run processes the new month; immediate rerun reports zero initial records.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REPLAY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62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Reset bookmark state only as a deliberate 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Resetting removes remembered processing state; a rerun can read prior objects again and must not create duplicates.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58-4-extremely-important...txt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Correction, backfill, or controlled replay.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Reprocessing can duplicate non-idempotent outputs.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Choose scope, output behavior, validation, and rollback first.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Semantics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The transcript explains S3 tracking through object last-modified timestamps.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63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Checkpoint 07 | Incremental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Apply the same state-aware approach to raw-to-curated and curated-to-aggregated jobs.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58–61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New partition cataloged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First run processes it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Second run skips it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Bookmark state visible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5916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4516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8876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DynamicFrame/context prerequisites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Crawler versus MSCK repair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Reset and replay risk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Downstream incremental behavior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715000"/>
            <a:ext cx="9537192" cy="41148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" y="5806440"/>
            <a:ext cx="9134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PASS: NEW DATA PROCESSES ONCE, A RERUN SKIPS IT, AND REPLAY IS DOCUMENTED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D7D2"/>
                </a:solidFill>
                <a:latin typeface="Calibri"/>
              </a:rPr>
              <a:t>SECTION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325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>
                <a:solidFill>
                  <a:srgbClr val="009B96"/>
                </a:solidFill>
                <a:latin typeface="Calibri"/>
              </a:rPr>
              <a:t>08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2011680" y="1280160"/>
            <a:ext cx="9052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Orchestrate, notify, and schedule the monthly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16352"/>
            <a:ext cx="8961120" cy="1298448"/>
          </a:xfrm>
          <a:prstGeom prst="roundRect">
            <a:avLst/>
          </a:prstGeom>
          <a:solidFill>
            <a:srgbClr val="17324B"/>
          </a:solidFill>
          <a:ln w="12700">
            <a:solidFill>
              <a:srgbClr val="36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30358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2D7D2"/>
                </a:solidFill>
                <a:latin typeface="Calibri"/>
              </a:rPr>
              <a:t>BEGINNER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3401568"/>
            <a:ext cx="8275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Calibri"/>
              </a:rPr>
              <a:t>You will prove strict job ordering, failure containment, email notification, one-time scheduling, and recurring-cadence cleanup.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2628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SNS → Step Functions → happy path → forced failure → EventBridge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1792" y="6382512"/>
            <a:ext cx="10351008" cy="0"/>
          </a:xfrm>
          <a:prstGeom prst="line">
            <a:avLst/>
          </a:prstGeom>
          <a:ln w="12700">
            <a:solidFill>
              <a:srgbClr val="365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CBD5E1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73952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CBD5E1"/>
                </a:solidFill>
                <a:latin typeface="Calibri"/>
              </a:rPr>
              <a:t>Lessons 62–67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5952" y="3200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65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The operational requirement is sequential and failure-aware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Ingestion must finish before curation, and curation before aggregation; downstream work stops after an upstream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62-1-background-for-orchestration.txt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15201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Job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NYC TLC → raw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210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85566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5566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14166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988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8526" y="2468880"/>
            <a:ext cx="15201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Job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5022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Raw → curated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316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40780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0780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69380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100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3740" y="2468880"/>
            <a:ext cx="15201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Job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Curated → aggregated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1253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95994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5994" y="2267712"/>
            <a:ext cx="73152" cy="2670048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4594" y="246888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031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8954" y="2468880"/>
            <a:ext cx="15201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Notify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5450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Support on failure; stakeholders on success.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NOTIFICATION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66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Use SNS for explicit success and failure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 topic and confirmed subscription provide a simple observable notification path for the lab.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63-2-create-sns-topic-and-subscribe-your-email.txt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Create a project-specific SNS topic.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Subscribe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Confirm a generic practice email endpoint.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Include pipeline, execution, state, time, and next action—no secrets or PII.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67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Control-plane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EventBridge starts a Step Functions state machine that runs three Glue jobs synchronously and publishes success or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62–67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267712"/>
            <a:ext cx="73152" cy="2670048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46888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68880"/>
            <a:ext cx="15201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EventBridge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One-time test or monthly schedule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2102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85566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5566" y="2267712"/>
            <a:ext cx="73152" cy="2670048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14166" y="246888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9886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8526" y="2468880"/>
            <a:ext cx="152019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Step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5022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State, sequencing, catches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316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40780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0780" y="2267712"/>
            <a:ext cx="73152" cy="2670048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69380" y="2468880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100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3740" y="2468880"/>
            <a:ext cx="15201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Glue 1 → 2 →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Ingest, curate, aggregate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12530" y="3602736"/>
            <a:ext cx="256032" cy="0"/>
          </a:xfrm>
          <a:prstGeom prst="line">
            <a:avLst/>
          </a:prstGeom>
          <a:ln w="25400">
            <a:solidFill>
              <a:srgbClr val="5563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95994" y="2267712"/>
            <a:ext cx="2544318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5994" y="2267712"/>
            <a:ext cx="73152" cy="2670048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4594" y="246888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0314" y="248716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8954" y="2468880"/>
            <a:ext cx="15201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5450" y="3090672"/>
            <a:ext cx="2105406" cy="1682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56377"/>
                </a:solidFill>
                <a:latin typeface="Calibri"/>
              </a:rPr>
              <a:t>Failure or success notification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68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Review the ASL definition before creating the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supplied Amazon States Language still requires account-specific values, role review, and resource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64-3-get-the-step-function-code.txt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Replace placeholders with intended Glue jobs and SNS topic.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Use synchronous Glue job execution so each state waits.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Inspect Catch paths and failure payloads.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Use an approved role with only necessary actions.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69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Retain happy-path execution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 green diagram is useful only when it links to the actual Glue runs, event history, and expected S3/table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65-4-build-the-sequential-pipeline...txt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Record state-machine execution name and timing.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Inspect each submitted and completed Glue task.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Verify aggregate tables and expected partition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Notice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Confirm the success notification contains useful context.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FAILURE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70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Test the failure branch with a reversible development 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course suggests a syntax error; constrain this to the practice environment and restore the artifact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SAFETY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65-4-build-the-sequential-pipeline...txt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Inject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Create a small, known, reversible syntax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Run a fresh state-machine execution.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Assert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Job 1 fails, jobs 2/3 do not run, and SNS failure arrives.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Fix the script and rerun the happy path.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SCHEDULING +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71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Test once before enabling the monthly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A one-time EventBridge schedule proves permissions and payload without leaving an indefinite recurring trigger.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66–67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One-time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Schedule a near-future practice execution and observe it end to 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0728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0728" y="1901952"/>
            <a:ext cx="73152" cy="3977639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9328" y="210312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5048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3688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Recurring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0184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Configure first-day 22:00 cadence as taught; verify timezone and next triggers.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1104" y="1901952"/>
            <a:ext cx="356920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1104" y="1901952"/>
            <a:ext cx="73152" cy="3977639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99704" y="2103120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4064" y="2103120"/>
            <a:ext cx="2545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Remove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2724912"/>
            <a:ext cx="3130296" cy="2990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6377"/>
                </a:solidFill>
                <a:latin typeface="Calibri"/>
              </a:rPr>
              <a:t>Disable/delete the recurring schedule after practice to avoid charges.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72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Checkpoint 08 | Operate and clean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orchestration lab is complete only after success and failure paths are proven and recurring resources are controlled.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CURRENT SAFETY/COST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62–67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01952"/>
            <a:ext cx="73152" cy="3977639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10312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Happy-path execution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Forced-failure execution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Success/failure messages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One-time schedule 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901952"/>
            <a:ext cx="54543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5916" y="1901952"/>
            <a:ext cx="73152" cy="3977639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4516" y="2103120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212140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8876" y="2103120"/>
            <a:ext cx="443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724912"/>
            <a:ext cx="5015483" cy="2990087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Delete/disable recurring schedule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Stop notebooks and jobs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Review SNS, Step Functions, logs</a:t>
            </a:r>
          </a:p>
          <a:p>
            <a:pPr>
              <a:spcAft>
                <a:spcPts val="400"/>
              </a:spcAft>
              <a:defRPr sz="1350">
                <a:solidFill>
                  <a:srgbClr val="556377"/>
                </a:solidFill>
                <a:latin typeface="Calibri"/>
              </a:defRPr>
            </a:pPr>
            <a:r>
              <a:t>•  Assign S3/Glue teardown owner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715000"/>
            <a:ext cx="9537192" cy="411480"/>
          </a:xfrm>
          <a:prstGeom prst="roundRect">
            <a:avLst/>
          </a:prstGeom>
          <a:solidFill>
            <a:srgbClr val="14233E"/>
          </a:solidFill>
          <a:ln w="12700"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" y="5806440"/>
            <a:ext cx="9134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PASS: BOTH PATHS ARE PROVEN AND NO UNOWNED RECURRING COST REMAINS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73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End-to-end architecture | data, metadata, and control planes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final taught system combines a three-layer data path with catalog/query services and scheduled orchestration.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15–68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Data 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NYC TLC → ingestion → raw → curated → three aggregates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Metadata/query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Crawlers + Data Catalog + Athena + stated QuickSight target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Control 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EventBridge → Step Functions → Glue jobs → SNS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State/evidence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Bookmarks, CloudWatch logs, tests, and run history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PRODUCTION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74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The lab is end-to-end—but not fully production-ready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final lesson explicitly defers major production concerns; treat this as a strong project foundation, not a finished enterprise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CURRENT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68-what-next.txt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Least-privilege IAM, encryption, secret handling, and network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Retries/backoff, replay strategy, DLQ patterns, SLOs, and schema evolution.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CI/CD, IaC coverage, environments, promotion, and automated tests.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Performance, cost, storage lifecycle, event-driven orchestration, and teardown.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75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Tell the project as a defensible STAR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Use measured technical evidence and avoid inventing business outcomes that the transcripts do not quantify.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25–67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Situation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Analysts needed actionable NYC TLC history and location-aware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Build a repeatable, tested three-layer AWS lake pipeline.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Mapped requirements, implemented PySpark/DQ/tests, added incrementals and orchestration.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Produced tested daily aggregate tables with scheduled success/failure evidence.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76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Prepare for the questions behind 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Interview readiness comes from explaining trade-offs, prerequisites, and failure behavior—not memorizing service names.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Lessons 34–67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Data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Why raw/curated/aggregated? Why these partition keys?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How are rejected rows measured, tested, and replayed?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Incremental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DynamicFrame vs DataFrame; bookmark prerequisites and reset.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Failure propagation, crawler vs MSCK repair, cadence, cost, and idempotency.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77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Build a portfolio evidence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artifacts should let another engineer understand what you built, how you verified it, and what remains.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All technical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009B96"/>
          </a:solidFill>
          <a:ln w="1270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Architecture diagram, mapping decisions, data contract, and security boundary.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Redacted scripts/IaC, job configuration, and run evidence.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Unit-test sheet, DQ metrics with run context, defect/fix example.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2A9160"/>
          </a:solidFill>
          <a:ln w="1270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STAR narrative, challenge/solution, README, and concise LinkedIn summary.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78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Coverage, limitations, and evidence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The deck preserves the transcript boundary and flags where current guidance extends the taught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All 65 TXT 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856231"/>
            <a:ext cx="73152" cy="1783080"/>
          </a:xfrm>
          <a:prstGeom prst="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057400"/>
            <a:ext cx="475488" cy="292608"/>
          </a:xfrm>
          <a:prstGeom prst="roundRect">
            <a:avLst/>
          </a:prstGeom>
          <a:solidFill>
            <a:srgbClr val="E07736"/>
          </a:solidFill>
          <a:ln w="1270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Transcript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Speech-to-text and filename anomalies are normalized only in teaching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856231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856231"/>
            <a:ext cx="73152" cy="1783080"/>
          </a:xfrm>
          <a:prstGeom prst="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475488" cy="292608"/>
          </a:xfrm>
          <a:prstGeom prst="roundRect">
            <a:avLst/>
          </a:prstGeom>
          <a:solidFill>
            <a:srgbClr val="2C66DC"/>
          </a:solidFill>
          <a:ln w="1270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075688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05740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Changing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AWS consoles, defaults, service limits, and pricing can change.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886200"/>
            <a:ext cx="73152" cy="178308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" y="4087368"/>
            <a:ext cx="475488" cy="292608"/>
          </a:xfrm>
          <a:prstGeom prst="roundRect">
            <a:avLst/>
          </a:prstGeom>
          <a:solidFill>
            <a:srgbClr val="C94C4C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Evidence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LMS indexes 02, 14, and 31 have no transcript files.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9904" y="3886200"/>
            <a:ext cx="536752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3886200"/>
            <a:ext cx="73152" cy="1783080"/>
          </a:xfrm>
          <a:prstGeom prst="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4087368"/>
            <a:ext cx="475488" cy="292608"/>
          </a:xfrm>
          <a:prstGeom prst="roundRect">
            <a:avLst/>
          </a:prstGeom>
          <a:solidFill>
            <a:srgbClr val="6F52B8"/>
          </a:solidFill>
          <a:ln w="1270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4105655"/>
            <a:ext cx="3840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4087368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14233E"/>
                </a:solidFill>
                <a:latin typeface="Calibri"/>
              </a:rPr>
              <a:t>Deferred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4928616" cy="7955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56377"/>
                </a:solidFill>
                <a:latin typeface="Calibri"/>
              </a:rPr>
              <a:t>Event-driven S3, optimization, lakehouse, Spark depth, warehousing, and CI/CD continue later.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79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Exact transcript index  |  1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Verified TXT basenames from the Module 08 transcript folder; crawler naming is preserved exactly.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learning\phase1-starter\08-aws-data-engineering-project-labs\transcripts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47088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10497312" cy="3703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01  01-your-effort-can-change-your-career-trajectory.txt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02  03-1-intro-aws-setup.txt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03  04-2-create-aws-account.txt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04  05-3-login-to-aws-using-root-user-and-go-to-iam.txt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05  06-35-upgrading-aws-account.txt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06  07-4-create-admin-user-with-console-and-programmatic-access.txt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07  08-5-download-and-install-aws-cli.txt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08  09-6-create-access-key-for-aws-cli-access.txt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09  10-7-configure-aws-cli-on-your-system.txt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10  11-8-vimp-set-up-three-aws-budgets.txt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80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Exact transcript index  | 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Verified TXT basenames from the Module 08 transcript folder; crawler naming is preserved exactly.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learning\phase1-starter\08-aws-data-engineering-project-labs\transcripts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47088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10497312" cy="3703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11  12-85-set-default-region-to-us-east-1.txt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12  13-9-needed-outtro-aws-set-up.txt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13  15-1a-intro-set-up-for-analysis.txt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14  16-1b-datalake-setup.txt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15  17-2-download-data-from-nyc-tlc.txt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16  18-3-move-the-downloaded-file-to-your-project-folder.txt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17  19-4-create-s3-bucket-in-datalake-upload-data-to-the-datalake-s3-bucket.txt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18  20-5-needed-hands-on-starts.txt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19  21-6-create-glue-catalog-database.txt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20  22-7-create-a-crawler-to-crawl-the-data-and-run-the-crawler.txt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81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Exact transcript index  | 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Verified TXT basenames from the Module 08 transcript folder; crawler naming is preserved exactly.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learning\phase1-starter\08-aws-data-engineering-project-labs\transcripts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47088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10497312" cy="3703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21  23-8-view-the-parquet-data-in-athena.txt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22  24-9-needed-outro.txt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23  25-1-below-mandatory-detour-to-course-rade-agentic-data-engineering-with-amazon-q-r.txt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24  26-2-before-the-hands-on-continues-vimp.txt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25  27-3-create-the-glue-ingestion-job.txt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26  28-4-run-glue-crawler-again-to-update-the-table-metadata-with-partitions.txt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27  29-5-create-crawler-for-zone-table.txt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28  30-6-below-next-step-is-very-important.txt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29  32--1-intro-understanding-and-gathering-requirements.txt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30  33-2-capstone-requirements-and-guidance-on-completing-it-3-options.txt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82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Exact transcript index  | 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Verified TXT basenames from the Module 08 transcript folder; crawler naming is preserved exactly.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learning\phase1-starter\08-aws-data-engineering-project-labs\transcripts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47088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10497312" cy="3703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31  34-3-analysis-by-data-analysts-meeting-with-them-and-proposing-a-3-layer-structure.txt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32  35-4-understanding-requirements-using-the-mapping-sheet.txt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33  36-5-decide-on-technical-requirements-gear-up-for-development.txt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34  37-1-open-the-notebook-file-in-your-vs-code.txt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35  38-2-start-iterative-development-load-the-data.txt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36  39-3-transform-validate-and-load-to-curated.txt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37  40-4-create-and-run-glue-script-job.txt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38  41-5-why-did-the-script-run-longer.txt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39  42-0-what-will-you-learn-in-this-section.txt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40  43-1-time-to-unit-test-before-we-hand-over-the-data-to-data-analysts.txt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83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Exact transcript index  | 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Verified TXT basenames from the Module 08 transcript folder; crawler naming is preserved exactly.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learning\phase1-starter\08-aws-data-engineering-project-labs\transcripts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47088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10497312" cy="3703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41  44-2-unit-test-the-curated-layer-and-fill-the-unit-test-document-and-then-hand-over.txt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42  45-3-analyse-the-curated-to-aggregated-mapping-sheet.txt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43  46-4-create-glue-notebook-load-the-curated-data-and-enrich-with-zone-information.txt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44  47-5-create-the-aggregated-tables-and-load-the-aggregated-data-into-s3.txt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45  48-6-get-the-script-from-the-notebook-and-stop-the-notebook.txt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46  49-7-get-the-script-vetted-by-ai.txt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47  50-8-create-and-run-the-glue-etl-job-to-load-from-curated-to-aggregated.txt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48  51-9-what-s-the-next-step.txt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49  52-10-create-aggregated-tables-with-the-help-of-crawler.txt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50  53-11-unit-test-the-aggregated-data-provide-access-to-data-analysts-and-let-them-to.txt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84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Exact transcript index  | 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Verified TXT basenames from the Module 08 transcript folder; crawler naming is preserved exactly.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learning\phase1-starter\08-aws-data-engineering-project-labs\transcripts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47088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10497312" cy="3703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51  54-12-what-have-you-learnt-so-far.txt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52  55-1-historical-vs-monthly-cadence.txt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53  56-2-code-for-both-historical-and-current-run-the-job.txt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54  57-3-why-do-we-even-need-to-think-of-incremental-processing-of-data.txt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55  58-4-extremely-important-from-interview-perspective-enable-job-bookmarks-for-increm.txt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56  59-41-glue-dynamic-frame-vs-spark-dataframe.txt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57  60-5-incremental-processing-from-curated-to-aggregated.txt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58  61-6-solution-to-previous-ask.txt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59  62-1-background-for-orchestration.txt</a:t>
            </a:r>
          </a:p>
          <a:p>
            <a:pPr>
              <a:spcAft>
                <a:spcPts val="400"/>
              </a:spcAft>
              <a:defRPr sz="1120">
                <a:solidFill>
                  <a:srgbClr val="14233E"/>
                </a:solidFill>
                <a:latin typeface="Calibri"/>
              </a:defRPr>
            </a:pPr>
            <a:r>
              <a:t>60  63-2-create-sns-topic-and-subscribe-your-email.txt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2194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556377"/>
                </a:solidFill>
                <a:latin typeface="Calibri"/>
              </a:rPr>
              <a:t>85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530352" y="630936"/>
            <a:ext cx="108813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Calibri"/>
              </a:rPr>
              <a:t>Exact transcript index  | 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9144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556377"/>
                </a:solidFill>
                <a:latin typeface="Calibri"/>
              </a:rPr>
              <a:t>Verified TXT basenames from the Module 08 transcript folder; crawler naming is preserved exactly.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65792" y="1271016"/>
            <a:ext cx="1874519" cy="292608"/>
          </a:xfrm>
          <a:prstGeom prst="roundRect">
            <a:avLst/>
          </a:prstGeom>
          <a:solidFill>
            <a:srgbClr val="E7F5F4"/>
          </a:solidFill>
          <a:ln w="12700">
            <a:solidFill>
              <a:srgbClr val="E7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1512" y="1289304"/>
            <a:ext cx="178307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>
                <a:solidFill>
                  <a:srgbClr val="009B96"/>
                </a:solidFill>
                <a:latin typeface="Calibri"/>
              </a:rPr>
              <a:t>TRANSCRIPT 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382512"/>
            <a:ext cx="1110996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556377"/>
                </a:solidFill>
                <a:latin typeface="Calibri"/>
              </a:rPr>
              <a:t>MODULE 08  |  AWS DATA ENGINEERING PROJECT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7068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556377"/>
                </a:solidFill>
                <a:latin typeface="Calibri"/>
              </a:rPr>
              <a:t>learning\phase1-starter\08-aws-data-engineering-project-labs\transcripts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47088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10497312" cy="3703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61  64-3-get-the-step-function-code.txt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62  65-4-build-the-sequential-pipeline-using-step-function-and-run-it.txt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63  66-1-eventbridge-schedule-one-time-test.txt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64  67-2-set-up-the-monthly-cadence.txt</a:t>
            </a:r>
          </a:p>
          <a:p>
            <a:pPr>
              <a:spcAft>
                <a:spcPts val="400"/>
              </a:spcAft>
              <a:defRPr sz="1220">
                <a:solidFill>
                  <a:srgbClr val="14233E"/>
                </a:solidFill>
                <a:latin typeface="Calibri"/>
              </a:defRPr>
            </a:pPr>
            <a:r>
              <a:t>65  68-what-next.txt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Data Engineering Project Labs — Detailed</dc:title>
  <dc:subject>RADE Module 08 end-to-end project presentation</dc:subject>
  <dc:creator>RADE Learning Path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