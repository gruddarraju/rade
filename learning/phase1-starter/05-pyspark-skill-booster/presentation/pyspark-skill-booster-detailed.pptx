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B96"/>
                </a:solidFill>
                <a:latin typeface="Calibri"/>
              </a:rPr>
              <a:t>RADE · PHASE 1 · MODULE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097280"/>
            <a:ext cx="8961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PySpark Skill Booster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7D8EE"/>
                </a:solidFill>
                <a:latin typeface="Calibri"/>
              </a:rPr>
              <a:t>for AWS 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7818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 beginner-friendly, hands-on path from Glue notebooks to readable DataFrame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143000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698748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SET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2" y="3657600"/>
            <a:ext cx="1143000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2264" y="3698748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3657600"/>
            <a:ext cx="1143000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5" y="3698748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91455" y="3657600"/>
            <a:ext cx="1143000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3698748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657600"/>
            <a:ext cx="1143000" cy="292608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698748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CLEAN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14816" y="960120"/>
            <a:ext cx="2578608" cy="4526280"/>
          </a:xfrm>
          <a:prstGeom prst="roundRect">
            <a:avLst/>
          </a:prstGeom>
          <a:solidFill>
            <a:srgbClr val="172B3A"/>
          </a:solidFill>
          <a:ln>
            <a:solidFill>
              <a:srgbClr val="365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38988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D5FF"/>
                </a:solidFill>
                <a:latin typeface="Calibri"/>
              </a:rPr>
              <a:t>S3 RAW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186537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B96"/>
                </a:solidFill>
                <a:latin typeface="Calibri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95728"/>
            <a:ext cx="171907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GLUE +</a:t>
            </a:r>
            <a:br/>
            <a:r>
              <a:rPr>
                <a:latin typeface="Calibri"/>
              </a:rPr>
              <a:t>PYSPARK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6" y="341985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07736"/>
                </a:solidFill>
                <a:latin typeface="Calibri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4041648"/>
            <a:ext cx="16093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D8B2"/>
                </a:solidFill>
                <a:latin typeface="Calibri"/>
              </a:rPr>
              <a:t>S3 CURATED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253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B8C5D4"/>
                </a:solidFill>
                <a:latin typeface="Calibri"/>
              </a:rPr>
              <a:t>16 available local .txt transcripts · .vtt excluded · no lessons 17–18 claimed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053328"/>
            <a:ext cx="530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9B96"/>
                </a:solidFill>
                <a:latin typeface="Calibri"/>
              </a:rP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How to use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NAVIGATION · synthesized from T01–T16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FOLLOW THE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Move in order: setup → notebook → data work → teardown.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Pause at checkpoints before continuing.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TYPE, THEN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Run the code yourself.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Say what each transformation returns and why it belongs in the pipeline.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TRACE THE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Every slide declares its evidence status.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Exact T01–T16 filenames are indexed at the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Source boundary and evidence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All 16 local TXT files read · VTT files intentionally not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36"/>
                </a:solidFill>
                <a:latin typeface="Calibri"/>
              </a:rPr>
              <a:t>TRANSCRIPT-DERIVED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Concept or action is present in one or more of the 16 local TXT transcripts.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Wording is condensed for learning.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Transcript idea is paired with clearly identified beginner or production-oriented guidance.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Guidance never substitutes for source coverage.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CURRENT SAFETY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Cost, IAM, overwrite, secrets, and teardown cautions added for safe practice.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Validate against your AWS account policies.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9B96"/>
                </a:solidFill>
                <a:latin typeface="Calibri"/>
              </a:rP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Roadmap: four sections, one working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T01–T16 · course roadmap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9756" cy="324612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68580" cy="324612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C66DC"/>
                </a:solidFill>
                <a:latin typeface="Calibri"/>
              </a:rPr>
              <a:t>01  PRACTICE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Prepare VS Code, CloudShell, S3 resources, and a Glue notebook.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692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7852" y="1874519"/>
            <a:ext cx="2619756" cy="324612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874519"/>
            <a:ext cx="68580" cy="324612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9B96"/>
                </a:solidFill>
                <a:latin typeface="Calibri"/>
              </a:rPr>
              <a:t>02  DATA I/O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Read CSV into DataFrames; inspect schema; write and re-read Parquet.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19756" cy="324612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74519"/>
            <a:ext cx="68580" cy="324612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F52B8"/>
                </a:solidFill>
                <a:latin typeface="Calibri"/>
              </a:rPr>
              <a:t>03  DATA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Transform, aggregate, join, handle nulls, deduplicate, sort, and parse strings.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388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6548" y="1874519"/>
            <a:ext cx="2619756" cy="324612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548" y="1874519"/>
            <a:ext cx="68580" cy="324612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9428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7736"/>
                </a:solidFill>
                <a:latin typeface="Calibri"/>
              </a:rPr>
              <a:t>04  EXPLAIN + EXIT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Connect code to Spark architecture, interviews, next steps, and cleanup.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358384"/>
            <a:ext cx="10954512" cy="5760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Keep repeating the core pipeline aloud: READ → UNDERSTAND → TRANSFORM → VALIDATE → WRITE → CLEAN 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77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66DC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9875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Build a safe PySpark practice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971800"/>
            <a:ext cx="1481328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012948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502152"/>
            <a:ext cx="98755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 will know where code lives, how a Glue notebook starts, and how to stop spend before leaving.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2531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5D4"/>
                </a:solidFill>
                <a:latin typeface="Calibri"/>
              </a:rPr>
              <a:t>Sources in this section: T01–T06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2179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What this booster is—and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T01 · 01-what-do-i-need-to-know.txt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5394960" cy="452628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27048"/>
            <a:ext cx="68580" cy="452628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C66DC"/>
                </a:solidFill>
                <a:latin typeface="Calibri"/>
              </a:rPr>
              <a:t>THE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Build the foundation needed for an AWS data engineering project.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Use Glue with PySpark through hands-on notebook practice.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Connect SQL-like data ideas to DataFrame syntax.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27048"/>
            <a:ext cx="5394960" cy="452628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THE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This is a fast foundation, not a full Spark optimization course.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Experienced PySpark learners should still complete Glue notebook setup and the final section.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Practice matters more than passive watching.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Your learning environment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T02–T06 · environment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9756" cy="324612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68580" cy="324612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C66DC"/>
                </a:solidFill>
                <a:latin typeface="Calibri"/>
              </a:rPr>
              <a:t>01 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VS Code holds the provided lesson code and notebook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692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7852" y="1874519"/>
            <a:ext cx="2619756" cy="324612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874519"/>
            <a:ext cx="68580" cy="324612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9B96"/>
                </a:solidFill>
                <a:latin typeface="Calibri"/>
              </a:rPr>
              <a:t>02  AWS SHELL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CloudShell runs the supplied setup and cleanup scripts.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19756" cy="324612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74519"/>
            <a:ext cx="68580" cy="324612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F52B8"/>
                </a:solidFill>
                <a:latin typeface="Calibri"/>
              </a:rPr>
              <a:t>03  OBJECT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S3 holds raw input and curated output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388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6548" y="1874519"/>
            <a:ext cx="2619756" cy="324612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548" y="1874519"/>
            <a:ext cx="68580" cy="324612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9428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7736"/>
                </a:solidFill>
                <a:latin typeface="Calibri"/>
              </a:rPr>
              <a:t>04  COMPUTE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AWS Glue notebooks run PySpark cells in a managed session.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358384"/>
            <a:ext cx="10954512" cy="5760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Boundary: the transcript references supplied setup/cleanup/code files; their contents are not present in the transcripts.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Install Visual Studio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T02 · 02-1-install-visual-studio-code.txt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5394960" cy="452628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27048"/>
            <a:ext cx="68580" cy="452628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07736"/>
                </a:solidFill>
                <a:latin typeface="Calibri"/>
              </a:rPr>
              <a:t>TRANSCRIPT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Find the official Visual Studio Code download.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Choose the installer for your operating system.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Install it, then open the provided lesson folder in the next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27048"/>
            <a:ext cx="5394960" cy="452628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CURRENT SAFETY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Download only from the official vendor site.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Do not paste AWS credentials into lesson files or commit them to source control.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Use account-approved extensions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Create the practice resources in CloudShell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T03 · 03-2-set-up-learning-environment.txt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# In AWS CloudShell (us-east-1 in the lesson)</a:t>
            </a:r>
            <a:br/>
            <a:r>
              <a:rPr>
                <a:latin typeface="Calibri"/>
              </a:rPr>
              <a:t># Upload the supplied setup and cleanup files first</a:t>
            </a:r>
            <a:br/>
            <a:br/>
            <a:r>
              <a:rPr>
                <a:latin typeface="Calibri"/>
              </a:rPr>
              <a:t>chmod +x *</a:t>
            </a:r>
            <a:br/>
            <a:r>
              <a:rPr>
                <a:latin typeface="Calibri"/>
              </a:rPr>
              <a:t>ls</a:t>
            </a:r>
            <a:br/>
            <a:r>
              <a:rPr>
                <a:latin typeface="Calibri"/>
              </a:rPr>
              <a:t>sh &lt;exact-setup-script-name&gt;</a:t>
            </a:r>
            <a:br/>
            <a:br/>
            <a:r>
              <a:rPr>
                <a:latin typeface="Calibri"/>
              </a:rPr>
              <a:t># Wait for the script's printed next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C66DC"/>
                </a:solidFill>
                <a:latin typeface="Calibri"/>
              </a:rPr>
              <a:t>CHECKPOINTS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Both supplied files are visible after ls.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The setup command completes and prints next steps.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Use the exact uploaded filename; it is not available in the transcript.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9B96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Open the supplied code folder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T04 · 04-3-open-the-folder-with-code-in-vs-code.txt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9756" cy="324612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68580" cy="324612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C66DC"/>
                </a:solidFill>
                <a:latin typeface="Calibri"/>
              </a:rPr>
              <a:t>01  DOWNLOAD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Get the lesson files supplied with the course.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692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7852" y="1874519"/>
            <a:ext cx="2619756" cy="324612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874519"/>
            <a:ext cx="68580" cy="324612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9B96"/>
                </a:solidFill>
                <a:latin typeface="Calibri"/>
              </a:rPr>
              <a:t>02  UNZIP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Extract them into a separate folder; do not open the archive itself.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19756" cy="324612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74519"/>
            <a:ext cx="68580" cy="324612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F52B8"/>
                </a:solidFill>
                <a:latin typeface="Calibri"/>
              </a:rPr>
              <a:t>03  OPEN FOLDER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In VS Code Explorer, choose Open Folder and select the extracted directory.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388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6548" y="1874519"/>
            <a:ext cx="2619756" cy="324612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548" y="1874519"/>
            <a:ext cx="68580" cy="324612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9428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7736"/>
                </a:solidFill>
                <a:latin typeface="Calibri"/>
              </a:rPr>
              <a:t>04 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Confirm files appear in Explorer and open the first code file.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358384"/>
            <a:ext cx="10954512" cy="5760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CHECKPOINT: code is visible in the editor and the folder—not a single loose file—is open.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GLUE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Create the Glue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T05 · 05-4-create-glue-notebook.txt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5394960" cy="452628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27048"/>
            <a:ext cx="68580" cy="452628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C66DC"/>
                </a:solidFill>
                <a:latin typeface="Calibri"/>
              </a:rPr>
              <a:t>CREATE + CONFIGURE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AWS Glue → ETL jobs → Notebook.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Choose the lesson-created Glue IAM role.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Rename the notebook from the matching lesson filename.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Set idle timeout to 30 minutes and workers to 2; start the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27048"/>
            <a:ext cx="5394960" cy="452628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TIDY + SAVE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Wait for Ready status.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Remove starter cells the lesson does not need.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Save the notebook.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Stop it if you are not continuing immediately.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GLUE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Notebook safety: role, region, and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595628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540763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CURRENT SAFETY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CURRENT SAFETY GUIDANCE · T03 · 03-2-set-up-learning-environment.txt · T05 · 05-4-create-glue-notebook.txt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5394960" cy="452628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27048"/>
            <a:ext cx="68580" cy="452628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E07736"/>
                </a:solidFill>
                <a:latin typeface="Calibri"/>
              </a:rPr>
              <a:t>TRANSCRIPT-DERIVED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Use the specific course-created Glue role.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The lesson configures a 30-minute idle timeout and two workers.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Stop the notebook when not continuing so it does not keep billing.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27048"/>
            <a:ext cx="5394960" cy="452628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CURRENT SAFETY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Confirm account and region before creating resources.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Use least-privilege roles; never broaden IAM just to make a demo pass.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Treat idle timeout as a backstop—not a replacement for explicit stop and teardown.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GLUE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Why notebooks support iterative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T06 · 06-5-iterative-nature-of-glue-notebooks.txt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9756" cy="324612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68580" cy="324612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C66DC"/>
                </a:solidFill>
                <a:latin typeface="Calibri"/>
              </a:rPr>
              <a:t>01 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Copy one prepared cell from the VS Code lesson 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692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7852" y="1874519"/>
            <a:ext cx="2619756" cy="324612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874519"/>
            <a:ext cx="68580" cy="324612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9B96"/>
                </a:solidFill>
                <a:latin typeface="Calibri"/>
              </a:rPr>
              <a:t>02  PASTE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Create a new cell in Glue and paste the code.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19756" cy="324612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74519"/>
            <a:ext cx="68580" cy="324612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F52B8"/>
                </a:solidFill>
                <a:latin typeface="Calibri"/>
              </a:rPr>
              <a:t>03 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Execute that cell and watch busy/star status until output appears.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388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6548" y="1874519"/>
            <a:ext cx="2619756" cy="324612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548" y="1874519"/>
            <a:ext cx="68580" cy="324612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9428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7736"/>
                </a:solidFill>
                <a:latin typeface="Calibri"/>
              </a:rPr>
              <a:t>04  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Inspect immediate output; adjust and test the next piece.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358384"/>
            <a:ext cx="10954512" cy="5760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Notebook = development loop. Later, consolidate tested cells into a script and productionize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A9160"/>
                </a:solidFill>
                <a:latin typeface="Calibri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Ready to work with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T02–T06 · setup checkpoint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9160"/>
                </a:solidFill>
                <a:latin typeface="Calibri"/>
              </a:rPr>
              <a:t>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VS Code is installed.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The extracted code folder opens and files are visible.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Setup script completed.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S3 practice resources and the lesson Glue role are available.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NOTEBOOK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Session reaches Ready.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You can run one cell and see output.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You know how to save and stop.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77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B96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9875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Read, understand, and write DataFrames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971800"/>
            <a:ext cx="1481328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012948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502152"/>
            <a:ext cx="98755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 will inspect a CSV safely, prefer explicit schemas, and explain why curated Parquet is useful.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2531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5D4"/>
                </a:solidFill>
                <a:latin typeface="Calibri"/>
              </a:rPr>
              <a:t>Sources in this section: T07–T08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2179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9B96"/>
                </a:solidFill>
                <a:latin typeface="Calibri"/>
              </a:rPr>
              <a:t>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The first data-engineering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T07 · 07-1-first-step-read-data-and-understand-the-data.txt · T08 · 08-2-writing-data-back-after-processing-important-interview-topics.txt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9756" cy="324612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68580" cy="324612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C66DC"/>
                </a:solidFill>
                <a:latin typeface="Calibri"/>
              </a:rPr>
              <a:t>01  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Find customers, products, and orders CSV files in the S3 raw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692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7852" y="1874519"/>
            <a:ext cx="2619756" cy="324612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874519"/>
            <a:ext cx="68580" cy="324612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9B96"/>
                </a:solidFill>
                <a:latin typeface="Calibri"/>
              </a:rPr>
              <a:t>02 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Use SparkSession through the spark object to create DataFrames.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19756" cy="324612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74519"/>
            <a:ext cx="68580" cy="324612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F52B8"/>
                </a:solidFill>
                <a:latin typeface="Calibri"/>
              </a:rPr>
              <a:t>03  UNDERSTAND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Inspect rows, schema, count, and columns before transforming.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388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6548" y="1874519"/>
            <a:ext cx="2619756" cy="324612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548" y="1874519"/>
            <a:ext cx="68580" cy="324612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9428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7736"/>
                </a:solidFill>
                <a:latin typeface="Calibri"/>
              </a:rPr>
              <a:t>04  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Persist results to an S3 curated path as Parquet.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358384"/>
            <a:ext cx="10954512" cy="5760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A DataFrame is tabular data plus a schema; the variable stores the returned DataFrame object.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9B96"/>
                </a:solidFill>
                <a:latin typeface="Calibri"/>
              </a:rPr>
              <a:t>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Read a CSV from S3 into a DataFrame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T07 · 07-1-first-step-read-data-and-understand-the-data.txt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FFFF"/>
                </a:solidFill>
                <a:latin typeface="Calibri"/>
              </a:rPr>
              <a:t>customers_df = (</a:t>
            </a:r>
            <a:br/>
            <a:r>
              <a:rPr>
                <a:latin typeface="Calibri"/>
              </a:rPr>
              <a:t>    spark.read</a:t>
            </a:r>
            <a:br/>
            <a:r>
              <a:rPr>
                <a:latin typeface="Calibri"/>
              </a:rPr>
              <a:t>        .option("header", "true")</a:t>
            </a:r>
            <a:br/>
            <a:r>
              <a:rPr>
                <a:latin typeface="Calibri"/>
              </a:rPr>
              <a:t>        .option("inferSchema", "true")</a:t>
            </a:r>
            <a:br/>
            <a:r>
              <a:rPr>
                <a:latin typeface="Calibri"/>
              </a:rPr>
              <a:t>        .csv("s3://&lt;bucket&gt;/raw/customers.csv")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customers_df.show(5)</a:t>
            </a:r>
            <a:br/>
            <a:r>
              <a:rPr>
                <a:latin typeface="Calibri"/>
              </a:rPr>
              <a:t>customers_df.printSchema()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09B96"/>
                </a:solidFill>
                <a:latin typeface="Calibri"/>
              </a:rPr>
              <a:t>READ IT ALOUD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spark.read starts the DataFrame reader.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header=true promotes the first row to column names.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inferSchema asks Spark to inspect values and choose types.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csv(path) returns a DataFrame; show and printSchema inspect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9B96"/>
                </a:solidFill>
                <a:latin typeface="Calibri"/>
              </a:rPr>
              <a:t>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Prefer an explicit schema for real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T07 · 07-1-first-step-read-data-and-understand-the-data.txt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FFFFFF"/>
                </a:solidFill>
                <a:latin typeface="Calibri"/>
              </a:rPr>
              <a:t>customer_schema = """</a:t>
            </a:r>
            <a:br/>
            <a:r>
              <a:rPr>
                <a:latin typeface="Calibri"/>
              </a:rPr>
              <a:t>customer_id INT,</a:t>
            </a:r>
            <a:br/>
            <a:r>
              <a:rPr>
                <a:latin typeface="Calibri"/>
              </a:rPr>
              <a:t>name STRING,</a:t>
            </a:r>
            <a:br/>
            <a:r>
              <a:rPr>
                <a:latin typeface="Calibri"/>
              </a:rPr>
              <a:t>email STRING,</a:t>
            </a:r>
            <a:br/>
            <a:r>
              <a:rPr>
                <a:latin typeface="Calibri"/>
              </a:rPr>
              <a:t>country STRING,</a:t>
            </a:r>
            <a:br/>
            <a:r>
              <a:rPr>
                <a:latin typeface="Calibri"/>
              </a:rPr>
              <a:t>signup_date STRING</a:t>
            </a:r>
            <a:br/>
            <a:r>
              <a:rPr>
                <a:latin typeface="Calibri"/>
              </a:rPr>
              <a:t>"""</a:t>
            </a:r>
            <a:br/>
            <a:br/>
            <a:r>
              <a:rPr>
                <a:latin typeface="Calibri"/>
              </a:rPr>
              <a:t>customers_df = (</a:t>
            </a:r>
            <a:br/>
            <a:r>
              <a:rPr>
                <a:latin typeface="Calibri"/>
              </a:rPr>
              <a:t>    spark.read.option("header", "true")</a:t>
            </a:r>
            <a:br/>
            <a:r>
              <a:rPr>
                <a:latin typeface="Calibri"/>
              </a:rPr>
              <a:t>        .schema(customer_schema)</a:t>
            </a:r>
            <a:br/>
            <a:r>
              <a:rPr>
                <a:latin typeface="Calibri"/>
              </a:rPr>
              <a:t>        .csv("s3://&lt;bucket&gt;/raw/customers.csv")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009B96"/>
                </a:solidFill>
                <a:latin typeface="Calibri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The transcript uses a DDL-style schema string.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Explicit types avoid a schema-inference scan over large files.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The supplied type controls the resulting field—for example, signup_date can remain STRING.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Schema choice is an ingestion contract, not decoration.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Inspect before you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T07 · 07-1-first-step-read-data-and-understand-the-data.txt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6DC"/>
                </a:solidFill>
                <a:latin typeface="Calibri"/>
              </a:rPr>
              <a:t>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df.show(5) previews records.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Use it to understand shape and obvious values—not to prove 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df.printSchema() shows names, types, and nullability.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Compare the result with the intended contract.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df.count() returns row count.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df.columns returns column names.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Real files can contain tens or hundreds of fields.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A9160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Hands-on: load orders.csv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T07 · 07-1-first-step-read-data-and-understand-the-data.txt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5394960" cy="4526280"/>
          </a:xfrm>
          <a:prstGeom prst="roundRect">
            <a:avLst/>
          </a:prstGeom>
          <a:solidFill>
            <a:srgbClr val="EAF6E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27048"/>
            <a:ext cx="68580" cy="4526280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9160"/>
                </a:solidFill>
                <a:latin typeface="Calibri"/>
              </a:rPr>
              <a:t>YOUR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Use the explicit orders schema supplied with the lesson code.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Read the S3 raw orders CSV into orders_df.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Display the schema and first five rows.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27048"/>
            <a:ext cx="5394960" cy="452628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EVIDENCE TO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The S3 path you used.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The printed schema.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Five displayed rows.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One sentence explaining why explicit schema is preferable 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Write a DataFrame to curated Parquet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T08 · 08-2-writing-data-back-after-processing-important-interview-topics.txt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FFFFFF"/>
                </a:solidFill>
                <a:latin typeface="Calibri"/>
              </a:rPr>
              <a:t>(customers_df.write</a:t>
            </a:r>
            <a:br/>
            <a:r>
              <a:rPr>
                <a:latin typeface="Calibri"/>
              </a:rPr>
              <a:t>    .mode("overwrite")</a:t>
            </a:r>
            <a:br/>
            <a:r>
              <a:rPr>
                <a:latin typeface="Calibri"/>
              </a:rPr>
              <a:t>    .parquet("s3://&lt;bucket&gt;/curated/customers_parquet/")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customers_parquet_df = spark.read.parquet(</a:t>
            </a:r>
            <a:br/>
            <a:r>
              <a:rPr>
                <a:latin typeface="Calibri"/>
              </a:rPr>
              <a:t>    "s3://&lt;bucket&gt;/curated/customers_parquet/"</a:t>
            </a:r>
            <a:br/>
            <a:r>
              <a:rPr>
                <a:latin typeface="Calibri"/>
              </a:rPr>
              <a:t>)</a:t>
            </a:r>
            <a:br/>
            <a:r>
              <a:rPr>
                <a:latin typeface="Calibri"/>
              </a:rPr>
              <a:t>customers_parquet_df.printSchema()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E07736"/>
                </a:solidFill>
                <a:latin typeface="Calibri"/>
              </a:rPr>
              <a:t>TRACE THE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write starts the DataFrame writer.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mode controls behavior when output already exists.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parquet(path) writes a directory of part files.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Reading Parquet does not need CSV header options and its schema is embedded.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Four save modes—choose deliberately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T08 · 08-2-writing-data-back-after-processing-important-interview-topics.txt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36"/>
                </a:solidFill>
                <a:latin typeface="Calibri"/>
              </a:rPr>
              <a:t>OVERWRITE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Replace data at the destination.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Useful for intentional full refreshes.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Highest accidental-deletion risk if the path is wrong.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APPEND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Add new files alongside existing output.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Can create duplicates if reruns are not idempotent.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Inspect S3 after a controlled practice run.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IGNORE /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ignore: do nothing if output exists.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error: fail if output exists.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Failure can be safer than silent replacement.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Why Parquet is a data-lake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T08 · 08-2-writing-data-back-after-processing-important-interview-topics.txt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5394960" cy="452628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27048"/>
            <a:ext cx="68580" cy="452628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6F52B8"/>
                </a:solidFill>
                <a:latin typeface="Calibri"/>
              </a:rPr>
              <a:t>TRANSCRIPT-DERIVED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Columnar storage.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Better compression.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Schema embedded in the file.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A common big-data/data-lake format that can improve processing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27048"/>
            <a:ext cx="5394960" cy="452628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TRANSCRIPT +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Column pruning can avoid reading unrelated columns.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Compression and typed schema usually reduce scan work versus text formats.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Performance still depends on file sizes, partitioning, predicates, and workload—measure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9B96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Raw and curated are different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T08 · 08-2-writing-data-back-after-processing-important-interview-topics.txt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9756" cy="324612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68580" cy="324612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C66DC"/>
                </a:solidFill>
                <a:latin typeface="Calibri"/>
              </a:rPr>
              <a:t>01  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Keep source-shaped data in the S3 raw area for traceability and replay.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692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7852" y="1874519"/>
            <a:ext cx="2619756" cy="324612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874519"/>
            <a:ext cx="68580" cy="324612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9B96"/>
                </a:solidFill>
                <a:latin typeface="Calibri"/>
              </a:rPr>
              <a:t>02 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Apply schema and PySpark logic in a Glue session.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19756" cy="324612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74519"/>
            <a:ext cx="68580" cy="324612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F52B8"/>
                </a:solidFill>
                <a:latin typeface="Calibri"/>
              </a:rPr>
              <a:t>03  CURATED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Write consumer-ready Parquet to a separate curated path.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388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6548" y="1874519"/>
            <a:ext cx="2619756" cy="324612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548" y="1874519"/>
            <a:ext cx="68580" cy="324612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9428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7736"/>
                </a:solidFill>
                <a:latin typeface="Calibri"/>
              </a:rPr>
              <a:t>04  CONSUME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Downstream analytics reads the curated contract, not ad hoc notebook state.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358384"/>
            <a:ext cx="10954512" cy="5760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CURRENT SAFETY GUIDANCE: validate the destination prefix before overwrite; never test destructive modes on shared data.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A9160"/>
                </a:solidFill>
                <a:latin typeface="Calibri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Read/write skills you should be able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T07–T08 · read/write checkpoint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9160"/>
                </a:solidFill>
                <a:latin typeface="Calibri"/>
              </a:rP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CSV options and S3 path.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Inference versus explicit schema.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What DataFrame variable is returned.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show, printSchema, count, columns.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Why preview is not full validation.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What an ingestion contract means.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PERSIST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Raw versus curated.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Parquet benefits.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overwrite, append, ignore, error and their risks.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77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F52B8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9875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Transform, aggregate, join, and clean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971800"/>
            <a:ext cx="148132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012948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502152"/>
            <a:ext cx="98755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 will turn business questions into readable DataFrame chains—and explain each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2531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5D4"/>
                </a:solidFill>
                <a:latin typeface="Calibri"/>
              </a:rPr>
              <a:t>Sources in this section: T09–T13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2179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Turn a requirement into a DataFrame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T09 · 09-3-very-important-transformations.txt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9756" cy="324612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68580" cy="324612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C66DC"/>
                </a:solidFill>
                <a:latin typeface="Calibri"/>
              </a:rPr>
              <a:t>01  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Keep columns the downstream consumer needs.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692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7852" y="1874519"/>
            <a:ext cx="2619756" cy="324612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874519"/>
            <a:ext cx="68580" cy="324612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9B96"/>
                </a:solidFill>
                <a:latin typeface="Calibri"/>
              </a:rPr>
              <a:t>02 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Retain rows matching business conditions.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19756" cy="324612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74519"/>
            <a:ext cx="68580" cy="324612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F52B8"/>
                </a:solidFill>
                <a:latin typeface="Calibri"/>
              </a:rPr>
              <a:t>03  ENRICH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Add, calculate, or conditionally populate columns.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388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6548" y="1874519"/>
            <a:ext cx="2619756" cy="324612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548" y="1874519"/>
            <a:ext cx="68580" cy="324612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9428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7736"/>
                </a:solidFill>
                <a:latin typeface="Calibri"/>
              </a:rPr>
              <a:t>04 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Drop or rename fields and pass the resulting DataFrame onward.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358384"/>
            <a:ext cx="10954512" cy="5760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Transformations return DataFrames. Assign the result or continue the chain; explain the lineage from input to output.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Select columns and filter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T09 · 09-3-very-important-transformations.txt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FFFF"/>
                </a:solidFill>
                <a:latin typeface="Calibri"/>
              </a:rPr>
              <a:t>from pyspark.sql import functions as F</a:t>
            </a:r>
            <a:br/>
            <a:br/>
            <a:r>
              <a:rPr>
                <a:latin typeface="Calibri"/>
              </a:rPr>
              <a:t>usa_customers = (</a:t>
            </a:r>
            <a:br/>
            <a:r>
              <a:rPr>
                <a:latin typeface="Calibri"/>
              </a:rPr>
              <a:t>    customers_df</a:t>
            </a:r>
            <a:br/>
            <a:r>
              <a:rPr>
                <a:latin typeface="Calibri"/>
              </a:rPr>
              <a:t>        .select("customer_id", "name", "country")</a:t>
            </a:r>
            <a:br/>
            <a:r>
              <a:rPr>
                <a:latin typeface="Calibri"/>
              </a:rPr>
              <a:t>        .filter(F.col("country") == "USA")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usa_customers.show()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6F52B8"/>
                </a:solidFill>
                <a:latin typeface="Calibri"/>
              </a:rPr>
              <a:t>SQL MENTAL BRIDGE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select(...) chooses columns, like SELECT.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filter(...) keeps rows, like WHERE.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F.col(...) creates a column expression.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The syntax changes; selection and predicate logic do not.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Combine filter conditions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T09 · 09-3-very-important-transformations.txt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FFFFFF"/>
                </a:solidFill>
                <a:latin typeface="Calibri"/>
              </a:rPr>
              <a:t>high_value_usa = orders_df.filter(</a:t>
            </a:r>
            <a:br/>
            <a:r>
              <a:rPr>
                <a:latin typeface="Calibri"/>
              </a:rPr>
              <a:t>    (F.col("amount") &gt; 100)</a:t>
            </a:r>
            <a:br/>
            <a:r>
              <a:rPr>
                <a:latin typeface="Calibri"/>
              </a:rPr>
              <a:t>    &amp; (F.col("country") == "USA")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india_or_usa = customers_df.filter(</a:t>
            </a:r>
            <a:br/>
            <a:r>
              <a:rPr>
                <a:latin typeface="Calibri"/>
              </a:rPr>
              <a:t>    (F.col("country") == "India")</a:t>
            </a:r>
            <a:br/>
            <a:r>
              <a:rPr>
                <a:latin typeface="Calibri"/>
              </a:rPr>
              <a:t>    | (F.col("country") == "USA")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6F52B8"/>
                </a:solidFill>
                <a:latin typeface="Calibri"/>
              </a:rPr>
              <a:t>SYNTAX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&amp; means AND; | means OR for Spark column expressions.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Wrap each comparison in parentheses.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Say the predicate in plain English before running it.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Check boundary values such as exactly 100.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Add constant and calculated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T09 · 09-3-very-important-transformations.txt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FFFFFF"/>
                </a:solidFill>
                <a:latin typeface="Calibri"/>
              </a:rPr>
              <a:t>active_customers = customers_df.withColumn(</a:t>
            </a:r>
            <a:br/>
            <a:r>
              <a:rPr>
                <a:latin typeface="Calibri"/>
              </a:rPr>
              <a:t>    "status", F.lit("active")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priced = products_df.withColumn(</a:t>
            </a:r>
            <a:br/>
            <a:r>
              <a:rPr>
                <a:latin typeface="Calibri"/>
              </a:rPr>
              <a:t>    "price_with_tax", F.col("price") * F.lit(1.10)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upper_names = customers_df.withColumn(</a:t>
            </a:r>
            <a:br/>
            <a:r>
              <a:rPr>
                <a:latin typeface="Calibri"/>
              </a:rPr>
              <a:t>    "name", F.upper(F.col("name"))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6F52B8"/>
                </a:solidFill>
                <a:latin typeface="Calibri"/>
              </a:rPr>
              <a:t>THREE 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F.lit creates a constant value for every row.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Column arithmetic creates a derived field.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Using an existing column name updates that column in the returned DataFrame.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Keep business rates such as tax configurable in real projects.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Create a conditional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T09 · 09-3-very-important-transformations.txt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categorized = orders_df.withColumn(</a:t>
            </a:r>
            <a:br/>
            <a:r>
              <a:rPr>
                <a:latin typeface="Calibri"/>
              </a:rPr>
              <a:t>    "order_category",</a:t>
            </a:r>
            <a:br/>
            <a:r>
              <a:rPr>
                <a:latin typeface="Calibri"/>
              </a:rPr>
              <a:t>    F.when(F.col("amount") &gt; 200, "high")</a:t>
            </a:r>
            <a:br/>
            <a:r>
              <a:rPr>
                <a:latin typeface="Calibri"/>
              </a:rPr>
              <a:t>     .when(F.col("amount") &gt; 100, "medium")</a:t>
            </a:r>
            <a:br/>
            <a:r>
              <a:rPr>
                <a:latin typeface="Calibri"/>
              </a:rPr>
              <a:t>     .otherwise("low")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categorized.select(</a:t>
            </a:r>
            <a:br/>
            <a:r>
              <a:rPr>
                <a:latin typeface="Calibri"/>
              </a:rPr>
              <a:t>    "order_id", "amount", "order_category"</a:t>
            </a:r>
            <a:br/>
            <a:r>
              <a:rPr>
                <a:latin typeface="Calibri"/>
              </a:rPr>
              <a:t>).show()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6F52B8"/>
                </a:solidFill>
                <a:latin typeface="Calibri"/>
              </a:rPr>
              <a:t>READ THE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Conditions are evaluated from top to bottom.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An amount above 200 matches high first.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An amount above 100—but not above 200—becomes medium.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otherwise supplies the remaining low case.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Drop and rename for a clean output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T09 · 09-3-very-important-transformations.txt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customers_public = (</a:t>
            </a:r>
            <a:br/>
            <a:r>
              <a:rPr>
                <a:latin typeface="Calibri"/>
              </a:rPr>
              <a:t>    customers_df</a:t>
            </a:r>
            <a:br/>
            <a:r>
              <a:rPr>
                <a:latin typeface="Calibri"/>
              </a:rPr>
              <a:t>        .drop("email")</a:t>
            </a:r>
            <a:br/>
            <a:r>
              <a:rPr>
                <a:latin typeface="Calibri"/>
              </a:rPr>
              <a:t>        .withColumnRenamed("name", "customer_name")</a:t>
            </a:r>
            <a:br/>
            <a:r>
              <a:rPr>
                <a:latin typeface="Calibri"/>
              </a:rPr>
              <a:t>        .select(</a:t>
            </a:r>
            <a:br/>
            <a:r>
              <a:rPr>
                <a:latin typeface="Calibri"/>
              </a:rPr>
              <a:t>            "customer_id",</a:t>
            </a:r>
            <a:br/>
            <a:r>
              <a:rPr>
                <a:latin typeface="Calibri"/>
              </a:rPr>
              <a:t>            "customer_name",</a:t>
            </a:r>
            <a:br/>
            <a:r>
              <a:rPr>
                <a:latin typeface="Calibri"/>
              </a:rPr>
              <a:t>            "country"</a:t>
            </a:r>
            <a:br/>
            <a:r>
              <a:rPr>
                <a:latin typeface="Calibri"/>
              </a:rPr>
              <a:t>        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6F52B8"/>
                </a:solidFill>
                <a:latin typeface="Calibri"/>
              </a:rPr>
              <a:t>WHY DO THIS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Drop fields the downstream consumer does not require.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Rename ambiguous fields before joins or publication.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Select the final ordered contract explicitly.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Dropping email also illustrates data minimization; confirm requirements before removing data.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Chain transformations into one readable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T09 · 09-3-very-important-transformations.txt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Calibri"/>
              </a:rPr>
              <a:t>result_df = (</a:t>
            </a:r>
            <a:br/>
            <a:r>
              <a:rPr>
                <a:latin typeface="Calibri"/>
              </a:rPr>
              <a:t>    orders_df</a:t>
            </a:r>
            <a:br/>
            <a:r>
              <a:rPr>
                <a:latin typeface="Calibri"/>
              </a:rPr>
              <a:t>        .filter(F.col("amount") &gt; 100)</a:t>
            </a:r>
            <a:br/>
            <a:r>
              <a:rPr>
                <a:latin typeface="Calibri"/>
              </a:rPr>
              <a:t>        .withColumn("discount", F.col("amount") * 0.10)</a:t>
            </a:r>
            <a:br/>
            <a:r>
              <a:rPr>
                <a:latin typeface="Calibri"/>
              </a:rPr>
              <a:t>        .withColumn(</a:t>
            </a:r>
            <a:br/>
            <a:r>
              <a:rPr>
                <a:latin typeface="Calibri"/>
              </a:rPr>
              <a:t>            "final_amount",</a:t>
            </a:r>
            <a:br/>
            <a:r>
              <a:rPr>
                <a:latin typeface="Calibri"/>
              </a:rPr>
              <a:t>            F.col("amount") - F.col("discount")</a:t>
            </a:r>
            <a:br/>
            <a:r>
              <a:rPr>
                <a:latin typeface="Calibri"/>
              </a:rPr>
              <a:t>        )</a:t>
            </a:r>
            <a:br/>
            <a:r>
              <a:rPr>
                <a:latin typeface="Calibri"/>
              </a:rPr>
              <a:t>        .select("order_id", "amount",</a:t>
            </a:r>
            <a:br/>
            <a:r>
              <a:rPr>
                <a:latin typeface="Calibri"/>
              </a:rPr>
              <a:t>                "discount", "final_amount")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6F52B8"/>
                </a:solidFill>
                <a:latin typeface="Calibri"/>
              </a:rPr>
              <a:t>CHAINING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Each step feeds the next DataFrame transformation.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Parentheses make multiline chains readable without fragile backslashes.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Order matters: final_amount depends on discount created earlier.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Preview the final fields and validate arithmetic boundaries.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88EB4"/>
                </a:solidFill>
                <a:latin typeface="Calibri"/>
              </a:rPr>
              <a:t>AGGREGATE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Aggregation turns detail into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T10 · 10-4-aggregations-vimp.txt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8EB4"/>
                </a:solidFill>
                <a:latin typeface="Calibri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How many customers per country?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What is total revenue per product?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Who are the highest-spending customers?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GRAIN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groupBy defines the grouping key—the output grain.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No groupBy means aggregate across the whole DataFrame.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count, sum, avg, min, max.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Use alias for business-readable names.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Round display values when appropriate.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88EB4"/>
                </a:solidFill>
                <a:latin typeface="Calibri"/>
              </a:rPr>
              <a:t>AGGREGATE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Group rows and calculate one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T10 · 10-4-aggregations-vimp.txt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FFFFFF"/>
                </a:solidFill>
                <a:latin typeface="Calibri"/>
              </a:rPr>
              <a:t>customers_by_country = (</a:t>
            </a:r>
            <a:br/>
            <a:r>
              <a:rPr>
                <a:latin typeface="Calibri"/>
              </a:rPr>
              <a:t>    customers_df</a:t>
            </a:r>
            <a:br/>
            <a:r>
              <a:rPr>
                <a:latin typeface="Calibri"/>
              </a:rPr>
              <a:t>        .groupBy("country")</a:t>
            </a:r>
            <a:br/>
            <a:r>
              <a:rPr>
                <a:latin typeface="Calibri"/>
              </a:rPr>
              <a:t>        .count()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revenue_by_product = (</a:t>
            </a:r>
            <a:br/>
            <a:r>
              <a:rPr>
                <a:latin typeface="Calibri"/>
              </a:rPr>
              <a:t>    orders_df</a:t>
            </a:r>
            <a:br/>
            <a:r>
              <a:rPr>
                <a:latin typeface="Calibri"/>
              </a:rPr>
              <a:t>        .groupBy("product_id")</a:t>
            </a:r>
            <a:br/>
            <a:r>
              <a:rPr>
                <a:latin typeface="Calibri"/>
              </a:rPr>
              <a:t>        .agg(</a:t>
            </a:r>
            <a:br/>
            <a:r>
              <a:rPr>
                <a:latin typeface="Calibri"/>
              </a:rPr>
              <a:t>            F.sum("amount").alias("total_revenue")</a:t>
            </a:r>
            <a:br/>
            <a:r>
              <a:rPr>
                <a:latin typeface="Calibri"/>
              </a:rPr>
              <a:t>        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88EB4"/>
                </a:solidFill>
                <a:latin typeface="Calibri"/>
              </a:rPr>
              <a:t>READ IT ALOUD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One row is returned per group key.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count reports records in each country group.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sum(amount) reports revenue in each product group.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alias names the resulting measure clearly.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88EB4"/>
                </a:solidFill>
                <a:latin typeface="Calibri"/>
              </a:rPr>
              <a:t>AGGREGATE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Calculate a reusable customer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T10 · 10-4-aggregations-vimp.txt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Calibri"/>
              </a:rPr>
              <a:t>customer_summary = (</a:t>
            </a:r>
            <a:br/>
            <a:r>
              <a:rPr>
                <a:latin typeface="Calibri"/>
              </a:rPr>
              <a:t>    orders_df</a:t>
            </a:r>
            <a:br/>
            <a:r>
              <a:rPr>
                <a:latin typeface="Calibri"/>
              </a:rPr>
              <a:t>        .groupBy("customer_id")</a:t>
            </a:r>
            <a:br/>
            <a:r>
              <a:rPr>
                <a:latin typeface="Calibri"/>
              </a:rPr>
              <a:t>        .agg(</a:t>
            </a:r>
            <a:br/>
            <a:r>
              <a:rPr>
                <a:latin typeface="Calibri"/>
              </a:rPr>
              <a:t>            F.count("order_id").alias("order_count"),</a:t>
            </a:r>
            <a:br/>
            <a:r>
              <a:rPr>
                <a:latin typeface="Calibri"/>
              </a:rPr>
              <a:t>            F.sum("amount").alias("total_spend"),</a:t>
            </a:r>
            <a:br/>
            <a:r>
              <a:rPr>
                <a:latin typeface="Calibri"/>
              </a:rPr>
              <a:t>            F.round(F.avg("amount"), 2)</a:t>
            </a:r>
            <a:br/>
            <a:r>
              <a:rPr>
                <a:latin typeface="Calibri"/>
              </a:rPr>
              <a:t>                .alias("avg_order_value"),</a:t>
            </a:r>
            <a:br/>
            <a:r>
              <a:rPr>
                <a:latin typeface="Calibri"/>
              </a:rPr>
              <a:t>            F.max("amount").alias("max_order_value")</a:t>
            </a:r>
            <a:br/>
            <a:r>
              <a:rPr>
                <a:latin typeface="Calibri"/>
              </a:rPr>
              <a:t>        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88EB4"/>
                </a:solidFill>
                <a:latin typeface="Calibri"/>
              </a:rPr>
              <a:t>ONE GRAIN, MANY 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Grain: one row per customer_id.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Measures: count, total, average, maximum.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Round average to two decimal places for display.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Confirm how null customer IDs should be treated before publication.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88EB4"/>
                </a:solidFill>
                <a:latin typeface="Calibri"/>
              </a:rPr>
              <a:t>AGGREGATE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Sort summaries and count distinct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T10 · 10-4-aggregations-vimp.txt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top_customers = customer_summary.orderBy(</a:t>
            </a:r>
            <a:br/>
            <a:r>
              <a:rPr>
                <a:latin typeface="Calibri"/>
              </a:rPr>
              <a:t>    F.col("total_spend").desc()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unique_buyers = orders_df.agg(</a:t>
            </a:r>
            <a:br/>
            <a:r>
              <a:rPr>
                <a:latin typeface="Calibri"/>
              </a:rPr>
              <a:t>    F.countDistinct("customer_id")</a:t>
            </a:r>
            <a:br/>
            <a:r>
              <a:rPr>
                <a:latin typeface="Calibri"/>
              </a:rPr>
              <a:t>        .alias("unique_customers")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overall = orders_df.agg(</a:t>
            </a:r>
            <a:br/>
            <a:r>
              <a:rPr>
                <a:latin typeface="Calibri"/>
              </a:rPr>
              <a:t>    F.count("order_id").alias("total_orders"),</a:t>
            </a:r>
            <a:br/>
            <a:r>
              <a:rPr>
                <a:latin typeface="Calibri"/>
              </a:rPr>
              <a:t>    F.sum("amount").alias("total_revenue")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88EB4"/>
                </a:solidFill>
                <a:latin typeface="Calibri"/>
              </a:rPr>
              <a:t>THREE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orderBy(...desc()) ranks highest spend first.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countDistinct(customer_id) counts unique non-null IDs; null values are ignored.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count(order_id) counts non-null order IDs.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F.count('*') or F.count(F.lit(1)) counts physical rows, including rows with null IDs.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Join mental model: key, type, expected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T11 · 11-1-joining-spark-dataframes.txt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66DC"/>
                </a:solidFill>
                <a:latin typeface="Calibri"/>
              </a:rPr>
              <a:t>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Orders and customers share customer_id.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Orders and products share product_id.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Confirm type and meaning on both sides.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inner keeps matches.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left keeps every left row.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right keeps every right row.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Choose based on the business question.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EXPECTATION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The lesson starts with 15 orders.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Two null customer IDs cannot match.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The inner order/customer join returns 13 rows.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Inner, left, and right join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T11 · 11-1-joining-spark-dataframes.txt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FFFFFF"/>
                </a:solidFill>
                <a:latin typeface="Calibri"/>
              </a:rPr>
              <a:t>inner_df = orders_df.join(</a:t>
            </a:r>
            <a:br/>
            <a:r>
              <a:rPr>
                <a:latin typeface="Calibri"/>
              </a:rPr>
              <a:t>    customers_df, on="customer_id", how="inner"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left_df = orders_df.join(</a:t>
            </a:r>
            <a:br/>
            <a:r>
              <a:rPr>
                <a:latin typeface="Calibri"/>
              </a:rPr>
              <a:t>    customers_df, on="customer_id", how="left"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right_df = orders_df.join(</a:t>
            </a:r>
            <a:br/>
            <a:r>
              <a:rPr>
                <a:latin typeface="Calibri"/>
              </a:rPr>
              <a:t>    customers_df, on="customer_id", how="right"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C66DC"/>
                </a:solidFill>
                <a:latin typeface="Calibri"/>
              </a:rPr>
              <a:t>INTERVIEW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Name the preserved side before discussing output.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Explain unmatched-key behavior and where nulls appear.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Predict row counts for the known sample before running.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Select only needed columns after joining.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Find customers who have never ordered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T11 · 11-1-joining-spark-dataframes.txt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FFFFFF"/>
                </a:solidFill>
                <a:latin typeface="Calibri"/>
              </a:rPr>
              <a:t>customers_without_orders = (</a:t>
            </a:r>
            <a:br/>
            <a:r>
              <a:rPr>
                <a:latin typeface="Calibri"/>
              </a:rPr>
              <a:t>    customers_df</a:t>
            </a:r>
            <a:br/>
            <a:r>
              <a:rPr>
                <a:latin typeface="Calibri"/>
              </a:rPr>
              <a:t>        .join(orders_df, on="customer_id", how="left")</a:t>
            </a:r>
            <a:br/>
            <a:r>
              <a:rPr>
                <a:latin typeface="Calibri"/>
              </a:rPr>
              <a:t>        .filter(F.col("order_id").isNull())</a:t>
            </a:r>
            <a:br/>
            <a:r>
              <a:rPr>
                <a:latin typeface="Calibri"/>
              </a:rPr>
              <a:t>        .select("customer_id", "name", "email")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customers_without_orders.show()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C66DC"/>
                </a:solidFill>
                <a:latin typeface="Calibri"/>
              </a:rPr>
              <a:t>WHY THE PATTERN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The left join preserves every customer.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Customers with no matching order receive null order-side fields.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Filtering null order_id isolates non-buyers.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Current guidance: customer contact data requires an approved business purpose, minimization, and applicable privacy/consent controls.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Join customers, orders, and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T11 · 11-1-joining-spark-dataframes.txt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order_detail = (</a:t>
            </a:r>
            <a:br/>
            <a:r>
              <a:rPr>
                <a:latin typeface="Calibri"/>
              </a:rPr>
              <a:t>    orders_df</a:t>
            </a:r>
            <a:br/>
            <a:r>
              <a:rPr>
                <a:latin typeface="Calibri"/>
              </a:rPr>
              <a:t>        .join(customers_df, on="customer_id", how="left")</a:t>
            </a:r>
            <a:br/>
            <a:r>
              <a:rPr>
                <a:latin typeface="Calibri"/>
              </a:rPr>
              <a:t>        .join(products_df, on="product_id", how="left")</a:t>
            </a:r>
            <a:br/>
            <a:r>
              <a:rPr>
                <a:latin typeface="Calibri"/>
              </a:rPr>
              <a:t>        .select(</a:t>
            </a:r>
            <a:br/>
            <a:r>
              <a:rPr>
                <a:latin typeface="Calibri"/>
              </a:rPr>
              <a:t>            "order_id", "customer_id", "name",</a:t>
            </a:r>
            <a:br/>
            <a:r>
              <a:rPr>
                <a:latin typeface="Calibri"/>
              </a:rPr>
              <a:t>            "product_id", "product_name", "amount"</a:t>
            </a:r>
            <a:br/>
            <a:r>
              <a:rPr>
                <a:latin typeface="Calibri"/>
              </a:rPr>
              <a:t>        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C66DC"/>
                </a:solidFill>
                <a:latin typeface="Calibri"/>
              </a:rPr>
              <a:t>CHAIN WITH 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Each join adds columns and may change row count.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Use explicit join keys and select the final contract.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Check for duplicate column names.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Validate counts after each join before aggregation or sorting.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NULLS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Null is missing—not zero and not the text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T12 · 12-2-null-value-handling.txt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36"/>
                </a:solidFill>
                <a:latin typeface="Calibri"/>
              </a:rPr>
              <a:t>AT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The source may contain the literal token NULL.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option("nullValue", "NULL") tells the CSV reader to interpret it as missing.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IN EXPRESSIONS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isNull() identifies missing values.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isNotNull() retains valid values.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Null requires explicit handling logic.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BUSINESS 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Exclude, drop, or fill only when the requirement says so.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A default such as zero changes meaning and should be documented.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NULLS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Identify, remove, or replace missing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T12 · 12-2-null-value-handling.txt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FFFFFF"/>
                </a:solidFill>
                <a:latin typeface="Calibri"/>
              </a:rPr>
              <a:t>orders_df = (</a:t>
            </a:r>
            <a:br/>
            <a:r>
              <a:rPr>
                <a:latin typeface="Calibri"/>
              </a:rPr>
              <a:t>    spark.read.option("header", "true")</a:t>
            </a:r>
            <a:br/>
            <a:r>
              <a:rPr>
                <a:latin typeface="Calibri"/>
              </a:rPr>
              <a:t>        .option("nullValue", "NULL")</a:t>
            </a:r>
            <a:br/>
            <a:r>
              <a:rPr>
                <a:latin typeface="Calibri"/>
              </a:rPr>
              <a:t>        .schema(order_schema)</a:t>
            </a:r>
            <a:br/>
            <a:r>
              <a:rPr>
                <a:latin typeface="Calibri"/>
              </a:rPr>
              <a:t>        .csv(orders_path)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missing_customer = orders_df.filter(</a:t>
            </a:r>
            <a:br/>
            <a:r>
              <a:rPr>
                <a:latin typeface="Calibri"/>
              </a:rPr>
              <a:t>    F.col("customer_id").isNull()</a:t>
            </a:r>
            <a:br/>
            <a:r>
              <a:rPr>
                <a:latin typeface="Calibri"/>
              </a:rPr>
              <a:t>)</a:t>
            </a:r>
            <a:br/>
            <a:r>
              <a:rPr>
                <a:latin typeface="Calibri"/>
              </a:rPr>
              <a:t>valid_orders = orders_df.filter(</a:t>
            </a:r>
            <a:br/>
            <a:r>
              <a:rPr>
                <a:latin typeface="Calibri"/>
              </a:rPr>
              <a:t>    F.col("customer_id").isNotNull()</a:t>
            </a:r>
            <a:br/>
            <a:r>
              <a:rPr>
                <a:latin typeface="Calibri"/>
              </a:rPr>
              <a:t>)</a:t>
            </a:r>
            <a:br/>
            <a:r>
              <a:rPr>
                <a:latin typeface="Calibri"/>
              </a:rPr>
              <a:t>dropped = orders_df.dropna(subset=["customer_id"])</a:t>
            </a:r>
            <a:br/>
            <a:r>
              <a:rPr>
                <a:latin typeface="Calibri"/>
              </a:rPr>
              <a:t>filled = products_df.fillna({"stock_quantity": 0})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E07736"/>
                </a:solidFill>
                <a:latin typeface="Calibri"/>
              </a:rPr>
              <a:t>TROUBLESHOOTING 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If fillna does nothing, inspect ingestion first.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A literal string NULL is not a Spark null until parsed as one.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The lesson re-read products with nullValue, then fillna worked.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Compare before/after counts; the sample falls from 15 orders to 13 valid customer IDs.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A9160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Distinct, deduplication, and sorting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T13 · 13-3-distinct-sorting-and-string-functions.txt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FFFFFF"/>
                </a:solidFill>
                <a:latin typeface="Calibri"/>
              </a:rPr>
              <a:t>countries = customers_df.select("country").distinct()</a:t>
            </a:r>
            <a:br/>
            <a:br/>
            <a:r>
              <a:rPr>
                <a:latin typeface="Calibri"/>
              </a:rPr>
              <a:t>row_deduped = customers_df.dropDuplicates()</a:t>
            </a:r>
            <a:br/>
            <a:r>
              <a:rPr>
                <a:latin typeface="Calibri"/>
              </a:rPr>
              <a:t>country_deduped = customers_df.dropDuplicates(["country"])</a:t>
            </a:r>
            <a:br/>
            <a:br/>
            <a:r>
              <a:rPr>
                <a:latin typeface="Calibri"/>
              </a:rPr>
              <a:t>sorted_orders = orders_df.orderBy(</a:t>
            </a:r>
            <a:br/>
            <a:r>
              <a:rPr>
                <a:latin typeface="Calibri"/>
              </a:rPr>
              <a:t>    F.col("amount").desc()</a:t>
            </a:r>
            <a:br/>
            <a:r>
              <a:rPr>
                <a:latin typeface="Calibr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A9160"/>
                </a:solidFill>
                <a:latin typeface="Calibri"/>
              </a:rPr>
              <a:t>KNOW THE DIFFERENCE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distinct returns unique selected rows.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dropDuplicates() compares all columns.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dropDuplicates(["country"]) retains one nondeterministically selected row per country; the sample happened to retain the first displayed USA row.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If the retained row matters, define ordering and use row_number() over a Window.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A9160"/>
                </a:solidFill>
                <a:latin typeface="Calibri"/>
              </a:rPr>
              <a:t>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Normalize, concatenate, split, and extract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T13 · 13-3-distinct-sorting-and-string-functions.txt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6629400" cy="45445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737360"/>
            <a:ext cx="152704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78507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CODE YOU CAN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94560"/>
            <a:ext cx="6144768" cy="36210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FFFFFF"/>
                </a:solidFill>
                <a:latin typeface="Calibri"/>
              </a:rPr>
              <a:t>normalized = customers_df.withColumn(</a:t>
            </a:r>
            <a:br/>
            <a:r>
              <a:rPr>
                <a:latin typeface="Calibri"/>
              </a:rPr>
              <a:t>    "name", F.upper(F.col("name"))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labelled = customers_df.withColumn(</a:t>
            </a:r>
            <a:br/>
            <a:r>
              <a:rPr>
                <a:latin typeface="Calibri"/>
              </a:rPr>
              <a:t>    "full_info",</a:t>
            </a:r>
            <a:br/>
            <a:r>
              <a:rPr>
                <a:latin typeface="Calibri"/>
              </a:rPr>
              <a:t>    F.concat(F.col("name"), F.lit(" - "), F.col("country"))</a:t>
            </a:r>
            <a:br/>
            <a:r>
              <a:rPr>
                <a:latin typeface="Calibri"/>
              </a:rPr>
              <a:t>)</a:t>
            </a:r>
            <a:br/>
            <a:br/>
            <a:r>
              <a:rPr>
                <a:latin typeface="Calibri"/>
              </a:rPr>
              <a:t>email_parts = customers_df.withColumn(</a:t>
            </a:r>
            <a:br/>
            <a:r>
              <a:rPr>
                <a:latin typeface="Calibri"/>
              </a:rPr>
              <a:t>    "email_parts", F.split(F.col("email"), "@")</a:t>
            </a:r>
            <a:br/>
            <a:r>
              <a:rPr>
                <a:latin typeface="Calibri"/>
              </a:rPr>
              <a:t>).withColumn("domain", F.col("email_parts")[1])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27048"/>
            <a:ext cx="4114800" cy="454456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27048"/>
            <a:ext cx="68580" cy="4544568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691639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0" b="1" i="0">
                <a:solidFill>
                  <a:srgbClr val="2A9160"/>
                </a:solidFill>
                <a:latin typeface="Calibri"/>
              </a:rPr>
              <a:t>BEGINNER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148840"/>
            <a:ext cx="3785615" cy="3776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upper/lower standardize text case.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concat combines columns and literal separators.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split returns an array.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Index 0 is before @; index 1 is the domain in the lesson pattern.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30" b="0">
                <a:solidFill>
                  <a:srgbClr val="14233E"/>
                </a:solidFill>
                <a:latin typeface="Calibri"/>
              </a:rPr>
              <a:t>• Missing delimiters need an explicit quality rule in real data.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A9160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A 45-minute integrated PySpark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T07–T13 · integrated practice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5394960" cy="4526280"/>
          </a:xfrm>
          <a:prstGeom prst="roundRect">
            <a:avLst/>
          </a:prstGeom>
          <a:solidFill>
            <a:srgbClr val="EAF6E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27048"/>
            <a:ext cx="68580" cy="4526280"/>
          </a:xfrm>
          <a:prstGeom prst="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A9160"/>
                </a:solidFill>
                <a:latin typeface="Calibri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Read customers, products, and orders with explicit schemas.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Parse NULL tokens.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Join order, customer, and product details.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Create order_category and final_amount.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Aggregate revenue by product and sort descending.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27048"/>
            <a:ext cx="5394960" cy="452628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Show input/output counts.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Print schemas before and after.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List unmatched/null-key rows.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Write curated Parquet to a dedicated practice prefix.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Explain one trade-off for every write mode.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77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7736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9875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Explain Spark, prepare for interviews, and exit safely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971800"/>
            <a:ext cx="1481328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012948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BEGINNER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502152"/>
            <a:ext cx="98755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 will connect the code to distributed processing, name the limits of this booster, and leave no practice resources running.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92531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C5D4"/>
                </a:solidFill>
                <a:latin typeface="Calibri"/>
              </a:rPr>
              <a:t>Sources in this section: T01, T05, T08, T10–T16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21792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What happens beneath the DataFrame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T14 · 14-1-what-next.txt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9756" cy="324612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68580" cy="324612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C66DC"/>
                </a:solidFill>
                <a:latin typeface="Calibri"/>
              </a:rPr>
              <a:t>01  S3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Raw and curated data remain in S3; Spark is the processing engine.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692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7852" y="1874519"/>
            <a:ext cx="2619756" cy="324612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874519"/>
            <a:ext cx="68580" cy="324612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9B96"/>
                </a:solidFill>
                <a:latin typeface="Calibri"/>
              </a:rPr>
              <a:t>02  SPARK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PySpark is the Python API used to express DataFrame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19756" cy="324612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74519"/>
            <a:ext cx="68580" cy="324612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F52B8"/>
                </a:solidFill>
                <a:latin typeface="Calibri"/>
              </a:rPr>
              <a:t>03  CLUSTER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Spark distributes work across multiple machines and can process data larger than one laptop.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388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6548" y="1874519"/>
            <a:ext cx="2619756" cy="324612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548" y="1874519"/>
            <a:ext cx="68580" cy="324612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9428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7736"/>
                </a:solidFill>
                <a:latin typeface="Calibri"/>
              </a:rPr>
              <a:t>04  GLUE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AWS Glue provides managed/serverless Spark workers and notebook configuration.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358384"/>
            <a:ext cx="10954512" cy="5760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SparkSession is the main entry point; GlueContext wraps SparkContext to add Glue-specific capabilities.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B1F33"/>
                </a:solidFill>
                <a:latin typeface="Calibri"/>
              </a:rPr>
              <a:t>Performance concepts: say what you know—and what you do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T07 · 07-1-first-step-read-data-and-understand-the-data.txt · T08 · 08-2-writing-data-back-after-processing-important-interview-topics.txt · T14 · 14-1-what-next.txt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36"/>
                </a:solidFill>
                <a:latin typeface="Calibri"/>
              </a:rPr>
              <a:t>TRANSCRIPT-DERIVED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Prefer explicit schemas over inference for large files.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Parquet is columnar, compressed, and schema-aware.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Spark distributes work and commonly processes in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TRANSCRIPT-DERIVED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Glue worker capacity is described in DPUs.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The lesson uses two workers and notebook magic/configuration.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Spark DataFrames run across a cluster; Pandas is presented as single-machine.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TRANSCRIPT +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Do not claim a universal speedup number.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Measure with representative data and plans.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Advanced optimization is explicitly outside this booster; discuss only concepts you can explain.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9B96"/>
                </a:solidFill>
                <a:latin typeface="Calibr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What next—and how to ask for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T14 · 14-1-what-next.txt · T15 · 15-2-help-me-help-you.txt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5394960" cy="452628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NEXT LEARNING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Use this foundation in the real-world lab/project course.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Take the Glue deep dive for service-specific features.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Study Spark in depth later for architecture and optimization interview depth.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Keep practicing weak areas in short, consistent sessions.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27048"/>
            <a:ext cx="5394960" cy="452628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FEEDBACK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The course requests feedback through the short form linked below its video.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Report unclear topics and desired improvements.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Positive feedback is also welcomed.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The form URL itself is not present in the transcript file.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473D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C4473D"/>
                </a:solidFill>
                <a:latin typeface="Calibri"/>
              </a:rP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 i="0">
                <a:solidFill>
                  <a:srgbClr val="0B1F33"/>
                </a:solidFill>
                <a:latin typeface="Calibri"/>
              </a:rPr>
              <a:t>Final teardown: finish with zero active practice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C4473D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T16 · 16-3-last-cleanup-your-resources.txt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9756" cy="324612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68580" cy="324612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2C66DC"/>
                </a:solidFill>
                <a:latin typeface="Calibri"/>
              </a:rPr>
              <a:t>01  RUN CLEANUP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In CloudShell, run sh &lt;exact-cleanup-script-name&gt; and wait for successful completion.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692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7852" y="1874519"/>
            <a:ext cx="2619756" cy="324612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874519"/>
            <a:ext cx="68580" cy="324612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0732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09B96"/>
                </a:solidFill>
                <a:latin typeface="Calibri"/>
              </a:rPr>
              <a:t>02  CHECK GLUE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Open Glue/ETL jobs; terminate any notebook that still shows a running warning.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19756" cy="3246120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74519"/>
            <a:ext cx="68580" cy="324612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F52B8"/>
                </a:solidFill>
                <a:latin typeface="Calibri"/>
              </a:rPr>
              <a:t>03  DELETE SHELL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CloudShell Actions → Delete; confirm deletion.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9388" y="3127248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5637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6548" y="1874519"/>
            <a:ext cx="2619756" cy="3246120"/>
          </a:xfrm>
          <a:prstGeom prst="roundRect">
            <a:avLst/>
          </a:prstGeom>
          <a:solidFill>
            <a:srgbClr val="FFF1E6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548" y="1874519"/>
            <a:ext cx="68580" cy="3246120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9428" y="2039112"/>
            <a:ext cx="22997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7736"/>
                </a:solidFill>
                <a:latin typeface="Calibri"/>
              </a:rPr>
              <a:t>04 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1140" y="2496312"/>
            <a:ext cx="2290572" cy="247802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20" b="0">
                <a:solidFill>
                  <a:srgbClr val="14233E"/>
                </a:solidFill>
                <a:latin typeface="Calibri"/>
              </a:rPr>
              <a:t>Cleanup succeeded, no Glue running warning remains, and CloudShell shows no active tabs.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358384"/>
            <a:ext cx="10954512" cy="5760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CURRENT SAFETY GUIDANCE: inspect account/region before teardown; never run an unknown cleanup script in a shared or production account.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66DC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Interview-ready explanation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T07–T14 · review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27048"/>
            <a:ext cx="5394960" cy="4526280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27048"/>
            <a:ext cx="68580" cy="4526280"/>
          </a:xfrm>
          <a:prstGeom prst="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2C66DC"/>
                </a:solidFill>
                <a:latin typeface="Calibri"/>
              </a:rPr>
              <a:t>60-SECOND PIPELINE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Data arrives as CSV in S3 raw.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Glue starts a PySpark session.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Explicit schemas create DataFrames.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Transformations, joins, null rules, and aggregations implement requirements.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Curated Parquet is written for downstream consumers.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27048"/>
            <a:ext cx="5394960" cy="4526280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27048"/>
            <a:ext cx="68580" cy="452628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39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09B96"/>
                </a:solidFill>
                <a:latin typeface="Calibri"/>
              </a:rPr>
              <a:t>QUESTIONS TO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148840"/>
            <a:ext cx="5065776" cy="375818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Inference versus explicit schema?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Four write modes and risks?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Inner versus left join row counts?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Literal NULL versus Spark null?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distinct versus dropDuplicates?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320" b="0">
                <a:solidFill>
                  <a:srgbClr val="14233E"/>
                </a:solidFill>
                <a:latin typeface="Calibri"/>
              </a:rPr>
              <a:t>• Why Spark and why Parquet?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E07736"/>
                </a:solidFill>
                <a:latin typeface="Calibr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Coverage note and source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495044" cy="29260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4401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 + GUIDANCE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 + GUIDANCE · Coverage audit · local module transcript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72768"/>
            <a:ext cx="3493008" cy="4443984"/>
          </a:xfrm>
          <a:prstGeom prst="roundRect">
            <a:avLst/>
          </a:prstGeom>
          <a:solidFill>
            <a:srgbClr val="EAF1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572768"/>
            <a:ext cx="68580" cy="4443984"/>
          </a:xfrm>
          <a:prstGeom prst="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36"/>
                </a:solidFill>
                <a:latin typeface="Calibri"/>
              </a:rPr>
              <a:t>INCLUDED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All 16 local TXT transcripts were read.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T01–T16 are represented in this deck.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Exact filenames appear in the two source-index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572768"/>
            <a:ext cx="3493008" cy="4443984"/>
          </a:xfrm>
          <a:prstGeom prst="roundRect">
            <a:avLst/>
          </a:prstGeom>
          <a:solidFill>
            <a:srgbClr val="E8F7F5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572768"/>
            <a:ext cx="68580" cy="4443984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B96"/>
                </a:solidFill>
                <a:latin typeface="Calibri"/>
              </a:rPr>
              <a:t>EXCLUDED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VTT files were not read or used.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No lesson 17 or 18 transcript was available.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No content is invented or attributed to unavailable lessons 17–18.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572768"/>
            <a:ext cx="3493008" cy="4443984"/>
          </a:xfrm>
          <a:prstGeom prst="roundRect">
            <a:avLst/>
          </a:prstGeom>
          <a:solidFill>
            <a:srgbClr val="F1EC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68580" cy="4443984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737360"/>
            <a:ext cx="31729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F52B8"/>
                </a:solidFill>
                <a:latin typeface="Calibri"/>
              </a:rPr>
              <a:t>REFERENCED, NOT 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194560"/>
            <a:ext cx="3163824" cy="367588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Supplied setup/cleanup scripts, code/notebook files, form link, and course links are mentioned by transcripts but not reproduced.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60" b="0">
                <a:solidFill>
                  <a:srgbClr val="14233E"/>
                </a:solidFill>
                <a:latin typeface="Calibri"/>
              </a:rPr>
              <a:t>• Verify them in the LMS/workspace before use.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9B96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Source index ·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Exact local TXT basenames · T01–T08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81328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1627632"/>
            <a:ext cx="585216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6687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60934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01-what-do-i-need-to-know.txt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4825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ORIENTATION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06040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752344"/>
            <a:ext cx="585216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793492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73405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02-1-install-visual-studio-code.txt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729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SETUP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30752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3877056"/>
            <a:ext cx="585216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91820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5876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03-2-set-up-learning-environment.txt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976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SETUP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55464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5001768"/>
            <a:ext cx="585216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5042916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98348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04-3-open-the-folder-with-code-in-vs-code.txt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422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SETUP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1481328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1627632"/>
            <a:ext cx="585216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16687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31736" y="160934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05-4-create-glue-notebook.txt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204825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GLUE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2606040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2752344"/>
            <a:ext cx="585216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2793492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1736" y="273405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06-5-iterative-nature-of-glue-notebooks.txt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736" y="31729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GLUE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6" y="3730752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3877056"/>
            <a:ext cx="585216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792" y="391820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6" y="385876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07-1-first-step-read-data-and-understand-the-data.txt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6" y="429768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READ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63056" y="4855464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5001768"/>
            <a:ext cx="585216" cy="2926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5042916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1736" y="498348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08-2-writing-data-back-after-processing-important-interview-topics.txt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31736" y="54223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WRITE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6062472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56377"/>
                </a:solidFill>
                <a:latin typeface="Calibri"/>
              </a:rPr>
              <a:t>Mapping is exact at build time. TXT is the evidence source; matching VTT files were excluded.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6F52B8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58368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Calibri"/>
              </a:rPr>
              <a:t>Source index ·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28248" y="3200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56377"/>
                </a:solidFill>
                <a:latin typeface="Calibri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0576" y="1042415"/>
            <a:ext cx="1344168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7" y="1083563"/>
            <a:ext cx="12893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TRANSCRIPT-DERIVED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28232"/>
            <a:ext cx="11091672" cy="10972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83667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>
                <a:solidFill>
                  <a:srgbClr val="556377"/>
                </a:solidFill>
                <a:latin typeface="Calibri"/>
              </a:rPr>
              <a:t>TRANSCRIPT-DERIVED · Exact local TXT basenames · T09–T16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6483096"/>
            <a:ext cx="2423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556377"/>
                </a:solidFill>
                <a:latin typeface="Calibri"/>
              </a:rPr>
              <a:t>PySpark Skill Booster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81328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1627632"/>
            <a:ext cx="585216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6687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60934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09-3-very-important-transformations.txt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482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TRANSFORM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06040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752344"/>
            <a:ext cx="585216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793492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73405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10-4-aggregations-vimp.txt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7296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AGGREGATE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30752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3877056"/>
            <a:ext cx="585216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91820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5876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11-1-joining-spark-dataframes.txt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976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JOIN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55464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5001768"/>
            <a:ext cx="585216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5042916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98348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12-2-null-value-handling.txt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42239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NULLS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1481328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1627632"/>
            <a:ext cx="585216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16687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31736" y="160934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13-3-distinct-sorting-and-string-functions.txt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20482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QUALITY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2606040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2752344"/>
            <a:ext cx="585216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2793492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1736" y="273405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14-1-what-next.txt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736" y="317296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THEORY / NEXT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6" y="3730752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0" y="3877056"/>
            <a:ext cx="585216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792" y="391820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6" y="385876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15-2-help-me-help-you.txt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6" y="42976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FEEDBACK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63056" y="4855464"/>
            <a:ext cx="5358384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5001768"/>
            <a:ext cx="585216" cy="2926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5042916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FFFFF"/>
                </a:solidFill>
                <a:latin typeface="Calibri"/>
              </a:rPr>
              <a:t>T16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1736" y="498348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Calibri"/>
              </a:rPr>
              <a:t>16-3-last-cleanup-your-resources.txt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31736" y="542239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56377"/>
                </a:solidFill>
                <a:latin typeface="Calibri"/>
              </a:rPr>
              <a:t>TEARDOWN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6062472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56377"/>
                </a:solidFill>
                <a:latin typeface="Calibri"/>
              </a:rPr>
              <a:t>Inventory ends at T16. No transcript-derived claim is made for unavailable lessons 17–18.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