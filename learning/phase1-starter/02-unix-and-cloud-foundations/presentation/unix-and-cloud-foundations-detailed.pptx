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3" r:id="rId44"/>
    <p:sldId id="294" r:id="rId45"/>
    <p:sldId id="295" r:id="rId46"/>
    <p:sldId id="296" r:id="rId47"/>
    <p:sldId id="297" r:id="rId48"/>
    <p:sldId id="298" r:id="rId49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43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777240"/>
            <a:ext cx="128016" cy="5349240"/>
          </a:xfrm>
          <a:prstGeom prst="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32" y="960120"/>
            <a:ext cx="36576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300" b="1">
                <a:solidFill>
                  <a:srgbClr val="E8A62D"/>
                </a:solidFill>
                <a:latin typeface="Aptos"/>
              </a:defRPr>
            </a:pPr>
            <a:r>
              <a:t>RADE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1508760"/>
            <a:ext cx="8046720" cy="16916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Aptos"/>
              </a:defRPr>
            </a:pPr>
            <a:r>
              <a:t>Unix &amp; Cloud</a:t>
            </a:r>
            <a:br/>
            <a: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3493008"/>
            <a:ext cx="81381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300" b="0">
                <a:solidFill>
                  <a:srgbClr val="BED8E8"/>
                </a:solidFill>
                <a:latin typeface="Aptos"/>
              </a:defRPr>
            </a:pPr>
            <a:r>
              <a:t>A detailed, beginner-friendly guide for data engineers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4343400"/>
            <a:ext cx="96012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AWS setup • IAM and CLI • Unix commands • Cloud concepts • EC2 • Data-engineer responsibilities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70432" y="5285232"/>
            <a:ext cx="3840480" cy="530352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5440680"/>
            <a:ext cx="340156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BASED ON 25 TRANSCRIPTS + COURSE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6263640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50" b="0">
                <a:solidFill>
                  <a:srgbClr val="94AEC4"/>
                </a:solidFill>
                <a:latin typeface="Aptos"/>
              </a:defRPr>
            </a:pPr>
            <a:r>
              <a:t>Local RADE learning workspace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The Three-Part Course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110413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50" b="0">
                <a:solidFill>
                  <a:srgbClr val="23313F"/>
                </a:solidFill>
                <a:latin typeface="Aptos"/>
              </a:defRPr>
            </a:pPr>
            <a:r>
              <a:t>Part 1 — AWS setup: prepare the practice environment and billing safeguards. Mandatory.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786634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58618"/>
            <a:ext cx="6903720" cy="110413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50" b="0">
                <a:solidFill>
                  <a:srgbClr val="23313F"/>
                </a:solidFill>
                <a:latin typeface="Aptos"/>
              </a:defRPr>
            </a:pPr>
            <a:r>
              <a:t>Part 2 — Unix skill booster: learn the commands needed for data-engineering work. Use as needed.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918203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0187"/>
            <a:ext cx="6903720" cy="110413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50" b="0">
                <a:solidFill>
                  <a:srgbClr val="23313F"/>
                </a:solidFill>
                <a:latin typeface="Aptos"/>
              </a:defRPr>
            </a:pPr>
            <a:r>
              <a:t>Part 3 — Cloud foundations: understand migration, EC2, infrastructure, and team responsibilities. Mandatory.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5049774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921758"/>
            <a:ext cx="6903720" cy="110413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50" b="0">
                <a:solidFill>
                  <a:srgbClr val="23313F"/>
                </a:solidFill>
                <a:latin typeface="Aptos"/>
              </a:defRPr>
            </a:pPr>
            <a:r>
              <a:t>The goal is practical familiarity—not complete Unix or AWS administration mastery.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F3EFFC"/>
          </a:solidFill>
          <a:ln w="1524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6F52B8"/>
                </a:solidFill>
                <a:latin typeface="Aptos"/>
              </a:defRPr>
            </a:pPr>
            <a:r>
              <a:t>LEARNING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SETUP</a:t>
            </a:r>
            <a:br/>
            <a:r>
              <a:t>→</a:t>
            </a:r>
            <a:br/>
            <a:r>
              <a:t>UNIX</a:t>
            </a:r>
            <a:br/>
            <a:r>
              <a:t>→</a:t>
            </a:r>
            <a:br/>
            <a:r>
              <a:t>CLOUD</a:t>
            </a:r>
            <a:br/>
            <a:r>
              <a:t>→</a:t>
            </a:r>
            <a:br/>
            <a:r>
              <a:t>DATA ENGINEERING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How to Learn This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Watch a demonstration, pause it, and repeat the action yourself.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Write down what each command or AWS setting accomplishes in plain English.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Keep screenshots and personal notes for revision and interview preparation.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Practice with real data for five minutes daily over 2–3 months; learn what is possible and research syntax as needed.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Finish hands-on exercises instead of treating the course as passive video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C66DC"/>
                </a:solidFill>
                <a:latin typeface="Aptos"/>
              </a:defRPr>
            </a:pPr>
            <a:r>
              <a:t>LEARNING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Watch</a:t>
            </a:r>
            <a:br/>
            <a:r>
              <a:t>Do</a:t>
            </a:r>
            <a:br/>
            <a:r>
              <a:t>Explain</a:t>
            </a:r>
            <a:br/>
            <a:r>
              <a:t>Note</a:t>
            </a:r>
            <a:br/>
            <a:r>
              <a:t>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T01, T13, T14, T15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AWS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Why You Need an AWS Practice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110413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50" b="0">
                <a:solidFill>
                  <a:srgbClr val="23313F"/>
                </a:solidFill>
                <a:latin typeface="Aptos"/>
              </a:defRPr>
            </a:pPr>
            <a:r>
              <a:t>An AWS account is the boundary in which resources are created and charges are collected.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78663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58618"/>
            <a:ext cx="6903720" cy="110413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50" b="0">
                <a:solidFill>
                  <a:srgbClr val="23313F"/>
                </a:solidFill>
                <a:latin typeface="Aptos"/>
              </a:defRPr>
            </a:pPr>
            <a:r>
              <a:t>The practice account lets you follow course demonstrations without depending on a company environment.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918203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90187"/>
            <a:ext cx="6903720" cy="110413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50" b="0">
                <a:solidFill>
                  <a:srgbClr val="23313F"/>
                </a:solidFill>
                <a:latin typeface="Aptos"/>
              </a:defRPr>
            </a:pPr>
            <a:r>
              <a:t>The AWS Management Console is the browser interface used to find and operate AWS services.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504977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921758"/>
            <a:ext cx="6903720" cy="110413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850" b="0">
                <a:solidFill>
                  <a:srgbClr val="23313F"/>
                </a:solidFill>
                <a:latin typeface="Aptos"/>
              </a:defRPr>
            </a:pPr>
            <a:r>
              <a:t>Setup sequence: create the account, establish non-root access, install the CLI, and configure a Region.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BF8F7"/>
          </a:solidFill>
          <a:ln w="1524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009B96"/>
                </a:solidFill>
                <a:latin typeface="Aptos"/>
              </a:defRPr>
            </a:pPr>
            <a:r>
              <a:t>PLAIN ENGLISH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Account = ownership and billing boundary</a:t>
            </a:r>
            <a:br/>
            <a:br/>
            <a:r>
              <a:t>Console = browser interface</a:t>
            </a:r>
            <a:br/>
            <a:br/>
            <a:r>
              <a:t>CLI = command-line interface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AWS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Create and Verify the Practice Account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Open the AWS signup flow and provide an email address and account name.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Verify the email, then provide the required contact and mobile details.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Complete payment-method verification; the recording shows card or UPI AutoPay options.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India-specific demonstration uses identity verification such as DigiLocker/Aadhaar or PAN plus SMS.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Treat regional signup details as demonstration context because AWS flows can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C66DC"/>
                </a:solidFill>
                <a:latin typeface="Aptos"/>
              </a:defRPr>
            </a:pPr>
            <a:r>
              <a:t>HANDS-ON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1  Email</a:t>
            </a:r>
            <a:br/>
            <a:r>
              <a:t>2  Contact details</a:t>
            </a:r>
            <a:br/>
            <a:r>
              <a:t>3  Payment verification</a:t>
            </a:r>
            <a:br/>
            <a:r>
              <a:t>4  Identity verification</a:t>
            </a:r>
            <a:br/>
            <a:r>
              <a:t>5  Activation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T03, T04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AWS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Complete Activation and Any Required Plan Upgrade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Finish authentication and wait for AWS to activate the account.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demonstration states that some services require a plan upgrade before use.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From the account profile, choose the plan-upgrade option and confirm completion if required.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USD 100 credit shown belongs to the recorded example and is not a guaranteed offer.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Sign out of root after account-level setup is complete.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A9160"/>
                </a:solidFill>
                <a:latin typeface="Aptos"/>
              </a:defRPr>
            </a:pPr>
            <a:r>
              <a:t>CHECKPOINT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Account ready</a:t>
            </a:r>
            <a:br/>
            <a:r>
              <a:t>Billing visible</a:t>
            </a:r>
            <a:br/>
            <a:r>
              <a:t>Plan confirmed</a:t>
            </a:r>
            <a:br/>
            <a:r>
              <a:t>Root signed out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T04, T06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5614416"/>
            <a:ext cx="7269480" cy="530352"/>
          </a:xfrm>
          <a:prstGeom prst="roundRect">
            <a:avLst/>
          </a:prstGeom>
          <a:solidFill>
            <a:srgbClr val="FFF3DA"/>
          </a:solidFill>
          <a:ln w="10160">
            <a:solidFill>
              <a:srgbClr val="E8A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4233E"/>
                </a:solidFill>
                <a:latin typeface="Aptos"/>
              </a:rPr>
              <a:t>Recorded account-plan, credit, payment, and identity-verification steps may differ by country and current AWS signup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AWS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Root User: Powerful and Exceptional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root user is the original identity with complete control over the AWS account.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transcript uses root to open IAM and complete account-level setup tasks.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Do not continue routine learning or service work while signed in as root.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Enable MFA on root, avoid root access keys, and reserve root for tasks that explicitly require it.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Use a separate least-privileged human identity for normal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FFF0F0"/>
          </a:solidFill>
          <a:ln w="15240"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B83E3E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ROOT</a:t>
            </a:r>
            <a:br/>
            <a:r>
              <a:t>Only for exceptional account tasks</a:t>
            </a:r>
            <a:br/>
            <a:br/>
            <a:r>
              <a:t>DAILY ACCESS</a:t>
            </a:r>
            <a:br/>
            <a:r>
              <a:t>Named identity + least privilege + MFA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T05, T06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AWS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Billing Safeguard: Create Three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Forgotten resources—such as databases or EC2 instances—can continue generating charges.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An AWS Budget defines a spending threshold and sends alerts as costs approach or cross it.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Create the three course budgets at USD 10, USD 20, and USD 30.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When alerted, inspect the account and identify resources that are still running.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Budgets warn you about spend; they do not automatically replace resource cleanup.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FFF6EB"/>
          </a:solidFill>
          <a:ln w="1524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E07736"/>
                </a:solidFill>
                <a:latin typeface="Aptos"/>
              </a:defRPr>
            </a:pPr>
            <a:r>
              <a:t>ALERT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$10  EARLY WARNING</a:t>
            </a:r>
            <a:br/>
            <a:br/>
            <a:r>
              <a:t>$20  INVESTIGATE</a:t>
            </a:r>
            <a:br/>
            <a:br/>
            <a:r>
              <a:t>$30  URGENT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AWS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Standardize the Workshop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Region is the geographic AWS location selected for resources and console activity.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Open console user settings and choose US East (N. Virginia).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Region code for N. Virginia is us-east-1.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Confirm the Region selector whenever you sign in for course exercises.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Using the course Region consistently reduces script and resource-location errors.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BF8F7"/>
          </a:solidFill>
          <a:ln w="1524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009B96"/>
                </a:solidFill>
                <a:latin typeface="Aptos"/>
              </a:defRPr>
            </a:pPr>
            <a:r>
              <a:t>COURSE REGION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US East</a:t>
            </a:r>
            <a:br/>
            <a:r>
              <a:t>(N. Virginia)</a:t>
            </a:r>
            <a:br/>
            <a:br/>
            <a:r>
              <a:t>us-east-1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T10, T12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AWS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AWS Account Setup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Practice account created, verified, activated, and upgraded if the current flow requires it.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Root protected with MFA and reserved for account-level tasks.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Three budget alerts created at USD 10, USD 20, and USD 30.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Default Region set to N. Virginia / us-east-1.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Do not mark setup complete until the actions—not only the videos—are finished.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A9160"/>
                </a:solidFill>
                <a:latin typeface="Aptos"/>
              </a:defRPr>
            </a:pPr>
            <a:r>
              <a:t>READY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Account active</a:t>
            </a:r>
            <a:br/>
            <a:r>
              <a:t>Root secured</a:t>
            </a:r>
            <a:br/>
            <a:r>
              <a:t>Budgets active</a:t>
            </a:r>
            <a:br/>
            <a:r>
              <a:t>Region correct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T04, T06, T11, T12, T13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IDENTITY &amp;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IAM and the Recorded Admin-User 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IAM—Identity and Access Management—controls identities and permissions in AWS.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transcript creates a user named ADMIN and enables console access.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It attaches the broad AdministratorAccess policy to simplify introductory exercises.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AdministratorAccess is powerful and should not be the default pattern for real environments.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Prefer narrowly scoped permissions and temporary role-based access for routine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FFF0F0"/>
          </a:solidFill>
          <a:ln w="15240"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B83E3E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COURSE EXERCISE</a:t>
            </a:r>
            <a:br/>
            <a:r>
              <a:t>Broad admin access</a:t>
            </a:r>
            <a:br/>
            <a:br/>
            <a:r>
              <a:t>REAL PRACTICE</a:t>
            </a:r>
            <a:br/>
            <a:r>
              <a:t>Least privilege</a:t>
            </a:r>
            <a:br/>
            <a:r>
              <a:t>Temporary roles</a:t>
            </a:r>
            <a:br/>
            <a:r>
              <a:t>MFA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T02, T07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IDENTITY &amp;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A Safer Mental Model for AWS Access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Identity answers: Who or what is requesting access?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Permission answers: Which AWS actions may that identity perform?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Least privilege means granting only the permissions needed for the current task.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Use MFA for powerful human identities and prefer temporary credentials where supported.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Never store passwords, access keys, secret keys, or credential downloads in source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BF8F7"/>
          </a:solidFill>
          <a:ln w="1524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009B96"/>
                </a:solidFill>
                <a:latin typeface="Aptos"/>
              </a:defRPr>
            </a:pPr>
            <a:r>
              <a:t>ACCESS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IDENTITY</a:t>
            </a:r>
            <a:br/>
            <a:r>
              <a:t>Who are you?</a:t>
            </a:r>
            <a:br/>
            <a:br/>
            <a:r>
              <a:t>PERMISSIONS</a:t>
            </a:r>
            <a:br/>
            <a:r>
              <a:t>What may you do?</a:t>
            </a:r>
            <a:br/>
            <a:br/>
            <a:r>
              <a:t>SESSION</a:t>
            </a:r>
            <a:br/>
            <a:r>
              <a:t>How long does access last?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T05, T07, T09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IDENTITY &amp;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Install and Verify the AWS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AWS CLI lets you interact with AWS services through typed commands.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Download and install the package appropriate for Windows, macOS, or Linux.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Open Command Prompt, PowerShell, or Terminal after installation.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Verify the installation before configuring authentication.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CloudShell later provides a browser shell with AWS CLI already installed.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aws --version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T02, T08, T10, T20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IDENTITY &amp;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Long-Lived Access Keys: Demonstration and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transcript creates an IAM-user access key for local command-line requests.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secret value is available only at creation, so the demonstration downloads it for setup.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Static access keys are long-lived secrets and can be abused if copied or committed.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Prefer temporary credentials or roles; remove static keys when no longer required.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Never paste real keys into slides, chat, scripts, notebooks, screenshots, or repositories.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FFF0F0"/>
          </a:solidFill>
          <a:ln w="15240"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B83E3E"/>
                </a:solidFill>
                <a:latin typeface="Aptos"/>
              </a:defRPr>
            </a:pPr>
            <a:r>
              <a:t>NEVER 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Access key ID</a:t>
            </a:r>
            <a:br/>
            <a:r>
              <a:t>Secret access key</a:t>
            </a:r>
            <a:br/>
            <a:r>
              <a:t>Credential CSV</a:t>
            </a:r>
            <a:br/>
            <a:r>
              <a:t>Passwords</a:t>
            </a:r>
            <a:br/>
            <a:r>
              <a:t>Session tokens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T07, T09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IDENTITY &amp;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Configure the Local CLI Without Exposing Secrets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recorded workflow starts the interactive configuration prompt.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Enter the access key ID and secret only at the CLI prompts—never on slides or in documentation.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Enter us-east-1 as the Region used for course exercises.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configuration connects local CLI commands to the selected identity and Region.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For current environments, prefer browser login, IAM Identity Center, or temporary role credentials where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COMMAND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aws configure</a:t>
            </a:r>
            <a:br/>
            <a:br/>
            <a:r>
              <a:t>Access key: [hidden]</a:t>
            </a:r>
            <a:br/>
            <a:r>
              <a:t>Secret key: [hidden]</a:t>
            </a:r>
            <a:br/>
            <a:r>
              <a:t>Region: us-east-1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IDENTITY &amp; 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Identity and CLI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Explain account, root user, IAM identity, policy, Region, and AWS CLI in your own words.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Confirm aws --version returns a valid version.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Confirm the console and CLI use us-east-1 for the course.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Confirm no secrets appear in notes, screenshots, scripts, or repositories.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Treat broad permissions and static keys as course context—not production defaults.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A9160"/>
                </a:solidFill>
                <a:latin typeface="Aptos"/>
              </a:defRPr>
            </a:pPr>
            <a:r>
              <a:t>TWO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FUNCTIONAL</a:t>
            </a:r>
            <a:br/>
            <a:r>
              <a:t>CLI works</a:t>
            </a:r>
            <a:br/>
            <a:r>
              <a:t>Region correct</a:t>
            </a:r>
            <a:br/>
            <a:br/>
            <a:r>
              <a:t>SECURITY</a:t>
            </a:r>
            <a:br/>
            <a:r>
              <a:t>MFA enabled</a:t>
            </a:r>
            <a:br/>
            <a:r>
              <a:t>No exposed secrets</a:t>
            </a:r>
            <a:br/>
            <a:r>
              <a:t>Least privilege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T07, T08, T09, T10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Linux Shell: Commands Instead of Clicks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shell is a command-line interface where typed commands produce textual output.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GUI uses windows and clicks; Unix often performs equivalent file tasks with commands.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AWS CloudShell supplies the browser-based Linux environment used for practice.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Upload the provided files one at a time and verify they appear before continuing.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objective is data-engineering command fluency—not full Unix administration.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BF8F7"/>
          </a:solidFill>
          <a:ln w="1524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009B96"/>
                </a:solidFill>
                <a:latin typeface="Aptos"/>
              </a:defRPr>
            </a:pPr>
            <a:r>
              <a:t>PLAIN ENGLISH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GUI</a:t>
            </a:r>
            <a:br/>
            <a:r>
              <a:t>Click folders and menus</a:t>
            </a:r>
            <a:br/>
            <a:br/>
            <a:r>
              <a:t>SHELL</a:t>
            </a:r>
            <a:br/>
            <a:r>
              <a:t>Type commands and read output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Navigate and List the File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directory is a folder; / represents the top-level root directory.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pwd answers: Where am I now?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ls lists entries; ls -ltr provides details such as timestamps, ownership, and size.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cd / moves to root; cd ~ returns to your home directory.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In detailed output, a leading d indicates a directory rather than a regular file.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pwd</a:t>
            </a:r>
            <a:br/>
            <a:r>
              <a:t>ls</a:t>
            </a:r>
            <a:br/>
            <a:r>
              <a:t>ls -ltr</a:t>
            </a:r>
            <a:br/>
            <a:r>
              <a:t>cd /</a:t>
            </a:r>
            <a:br/>
            <a:r>
              <a:t>cd ~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Inspect Text and Count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head -10 displays the first ten lines of a file.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tail displays lines from the end of a file.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less or more lets you page through content; press q to quit.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cat displays complete file content and is best suited to manageable files.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wc -l counts lines—a useful first validation for file-based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head -10 file.csv</a:t>
            </a:r>
            <a:br/>
            <a:r>
              <a:t>tail file.csv</a:t>
            </a:r>
            <a:br/>
            <a:r>
              <a:t>less file.csv</a:t>
            </a:r>
            <a:br/>
            <a:r>
              <a:t>cat file.csv</a:t>
            </a:r>
            <a:br/>
            <a:r>
              <a:t>wc -l file.csv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Copy, Rename, Move, and Find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cp copies a file; cp -r recursively copies a directory and its contents.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mv moves a file or renames it when the destination is a new filename.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find searches for files using criteria such as name and modification time.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Practice copying an uploaded file, renaming the copy, and checking with ls -ltr.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Always confirm the source and destination before moving or overwriting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cp source target</a:t>
            </a:r>
            <a:br/>
            <a:r>
              <a:t>cp -r source_dir target_dir</a:t>
            </a:r>
            <a:br/>
            <a:r>
              <a:t>mv old_name new_name</a:t>
            </a:r>
            <a:br/>
            <a:r>
              <a:t>find . -name '*.csv'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Search, Compress, and Extract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gzip compresses a file; gunzip reverses that compression.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grep searches text for a pattern—for example, error messages in a log.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awk can split delimited rows and print selected fields.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cut extracts selected delimited fields with compact syntax.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Focus first on the purpose of each tool, then practice its options.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gzip file.csv</a:t>
            </a:r>
            <a:br/>
            <a:r>
              <a:t>gunzip file.csv.gz</a:t>
            </a:r>
            <a:br/>
            <a:r>
              <a:t>grep 'error' app.log</a:t>
            </a:r>
            <a:br/>
            <a:r>
              <a:t>awk -F',' '{print $1, $5}' file.csv</a:t>
            </a:r>
            <a:br/>
            <a:r>
              <a:t>cut -d',' -f3 file.csv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Sort, Compare, Deduplicate, and Check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sort orders lines and can sort by a chosen field or column.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uniq removes adjacent duplicate lines, so sorted input is commonly useful.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diff compares two files and reports differences.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df reports filesystem space; df -h presents sizes in human-readable units.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Distinguish filesystem capacity from the amount used by a particular directory.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sort file.txt</a:t>
            </a:r>
            <a:br/>
            <a:r>
              <a:t>sort file.txt | uniq</a:t>
            </a:r>
            <a:br/>
            <a:r>
              <a:t>diff old.txt new.txt</a:t>
            </a:r>
            <a:br/>
            <a:r>
              <a:t>df -h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Pipes and Output Redirection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pipe (|) passes one command's output into the next command.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course pipeline displays data, filters for 2024, then counts matches.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&gt; writes output to a file and overwrites that file if it exists.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&gt;&gt; appends output to the end of a file.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Practice redirecting a search result to errors.txt and inspect the saved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cat data.csv | grep '2024' | wc -l</a:t>
            </a:r>
            <a:br/>
            <a:br/>
            <a:r>
              <a:t>grep 'error' app.log &gt; errors.txt</a:t>
            </a:r>
            <a:br/>
            <a:r>
              <a:t>echo 'next' &gt;&gt; errors.txt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From Commands to Shell Scripts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shell script is a .sh file that runs commands from top to bottom.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Lines beginning with # can document the script; variables, conditions, and loops add logic.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export sets an environment variable; echo $VARIABLE displays it.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Permissions use read (r), write (w), and execute (x).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Add execute permission only to the intended script, then run and inspect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export INPUT=data.csv</a:t>
            </a:r>
            <a:br/>
            <a:r>
              <a:t>echo $INPUT</a:t>
            </a:r>
            <a:br/>
            <a:r>
              <a:t>chmod +x process.sh</a:t>
            </a:r>
            <a:br/>
            <a:r>
              <a:t>sh process.sh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T15, T17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Assignment: A Simple File-Processing 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Create a small script that receives a file from an input directory.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Perform a simple edit or processing step that you can explain.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Move the processed file to an archive directory and compress it.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Research #!/bin/bash and describe why it appears at the start of scripts.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Review and test any AI-assisted draft until you understand every 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C66DC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INPUT</a:t>
            </a:r>
            <a:br/>
            <a:r>
              <a:t>↓</a:t>
            </a:r>
            <a:br/>
            <a:r>
              <a:t>PROCESS</a:t>
            </a:r>
            <a:br/>
            <a:r>
              <a:t>↓</a:t>
            </a:r>
            <a:br/>
            <a:r>
              <a:t>ARCHIVE</a:t>
            </a:r>
            <a:br/>
            <a:r>
              <a:t>↓</a:t>
            </a:r>
            <a:br/>
            <a:r>
              <a:t>COMPRESS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UNIX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Unix Confidence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Navigate with pwd, ls, and cd; distinguish files from directories.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View, count, copy, rename, search, compress, sort, compare, and inspect disk space.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Explain pipes, overwrite versus append, variables, permissions, and .sh scripts.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Keep the processing-and-archive assignment as an interview example.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Aim to select and explain the right command; look up exact syntax as needed.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A9160"/>
                </a:solidFill>
                <a:latin typeface="Aptos"/>
              </a:defRPr>
            </a:pPr>
            <a:r>
              <a:t>CAN YOU EXPLAIN?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Navigation</a:t>
            </a:r>
            <a:br/>
            <a:r>
              <a:t>File inspection</a:t>
            </a:r>
            <a:br/>
            <a:r>
              <a:t>Text processing</a:t>
            </a:r>
            <a:br/>
            <a:r>
              <a:t>Pipelines</a:t>
            </a:r>
            <a:br/>
            <a:r>
              <a:t>Permissions</a:t>
            </a:r>
            <a:br/>
            <a:r>
              <a:t>Automation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T14, T15, T16, T17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On-Premises Versus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On-premises means applications and data run on physical systems controlled by an organization.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server supplies computing resources such as CPU, memory, storage, and an operating system.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Traditional environments host applications, ETL tools, databases, warehouses, and data lakes.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Cloud services run on a provider's remote infrastructure and are accessed over a network.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fundamental comparison is where resources live, who operates them, and how users access them.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BF8F7"/>
          </a:solidFill>
          <a:ln w="1524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009B96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ON-PREMISES</a:t>
            </a:r>
            <a:br/>
            <a:r>
              <a:t>Owned infrastructure</a:t>
            </a:r>
            <a:br/>
            <a:r>
              <a:t>Local operations</a:t>
            </a:r>
            <a:br/>
            <a:br/>
            <a:r>
              <a:t>CLOUD</a:t>
            </a:r>
            <a:br/>
            <a:r>
              <a:t>Provider infrastructure</a:t>
            </a:r>
            <a:br/>
            <a:r>
              <a:t>On-demand services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Migration Approach 1: Lift and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Lift and shift moves an existing application to a similar cloud server with minimal redesign.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It can meet tight deadlines when older systems have many dependencies and technical debt.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Windows workloads can move to Windows servers; Unix workloads can move to Unix servers.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AWS EC2 provides the rented server capacity used in this model.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It may be useful short term while a longer-term modernization plan is developed.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F3EFFC"/>
          </a:solidFill>
          <a:ln w="1524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6F52B8"/>
                </a:solidFill>
                <a:latin typeface="Aptos"/>
              </a:defRPr>
            </a:pPr>
            <a:r>
              <a:t>MENTAL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ON-PREMISES APP</a:t>
            </a:r>
            <a:br/>
            <a:br/>
            <a:r>
              <a:t>Lift mostly unchanged</a:t>
            </a:r>
            <a:br/>
            <a:r>
              <a:t>→</a:t>
            </a:r>
            <a:br/>
            <a:br/>
            <a:r>
              <a:t>EC2 SERVER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Migration Approach 2: Rewrite or Build Cloud-Native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Rewrite means recreating processing logic in new code instead of moving the original tool unchanged.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Example: replace an ETL flow with equivalent Python processing logic.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New workloads can be built directly with cloud services instead of first creating on-premises versions.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course contrasts server-based EC2 with managed and serverless services covered later.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Organizations may lift first and modernize later, or choose a direct rewrite based on constraints.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F3EFFC"/>
          </a:solidFill>
          <a:ln w="1524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6F52B8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DEADLINE + DEPENDENCIES</a:t>
            </a:r>
            <a:br/>
            <a:r>
              <a:t>Lift and shift</a:t>
            </a:r>
            <a:br/>
            <a:br/>
            <a:r>
              <a:t>REDESIGN + NEW CAPABILITY</a:t>
            </a:r>
            <a:br/>
            <a:r>
              <a:t>Rewrite / cloud-native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T19, T22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EC2 Console and CloudShell: Two 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EC2—Elastic Compute Cloud—is the AWS service introduced for launching rented servers.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An instance is a launched server configuration with a selected OS, CPU, memory, and price.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EC2 console provides browser workflows for launching and inspecting instances.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CloudShell is a browser-based shell with AWS CLI already installed.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Use CloudShell to confirm the environment before provisioning anything.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t>pwd</a:t>
            </a:r>
            <a:br/>
            <a:r>
              <a:t>aws --version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T20, T22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Provision EC2 Programmatically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Upload the provided setup and teardown scripts to CloudShell one at a time.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Use ls to confirm the files before changing permissions or running them.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demonstration makes the scripts executable and runs the setup script.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script issues AWS CLI calls and creates the EC2 instance plus supporting resources.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Programmatic provisioning is repeatable and reduces reliance on console clicks.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2F6"/>
          </a:solidFill>
          <a:ln w="15240">
            <a:solidFill>
              <a:srgbClr val="19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192D40"/>
                </a:solidFill>
                <a:latin typeface="Aptos"/>
              </a:defRPr>
            </a:pPr>
            <a:r>
              <a:t>COURSE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192D40"/>
                </a:solidFill>
                <a:latin typeface="Cascadia Mono"/>
              </a:defRPr>
            </a:pPr>
            <a:r>
              <a:rPr sz="1100">
                <a:solidFill>
                  <a:srgbClr val="14233E"/>
                </a:solidFill>
                <a:latin typeface="Cascadia Mono"/>
              </a:rPr>
              <a:t>ls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860">
                <a:solidFill>
                  <a:srgbClr val="14233E"/>
                </a:solidFill>
                <a:latin typeface="Cascadia Mono"/>
              </a:rPr>
              <a:t>chmod +x &lt;setup-script&gt;.sh &lt;teardown-script&gt;.sh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>
                <a:solidFill>
                  <a:srgbClr val="14233E"/>
                </a:solidFill>
                <a:latin typeface="Cascadia Mono"/>
              </a:rPr>
              <a:t>sh &lt;setup-script&gt;.sh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1">
                <a:solidFill>
                  <a:srgbClr val="14233E"/>
                </a:solidFill>
                <a:latin typeface="Aptos"/>
              </a:rPr>
              <a:t>Inspect both scripts first; only then grant execute permission and run the intended script.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T21, T22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EC2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Connect, Observe, and Tear Everything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Connect through the demonstrated Session Manager flow and inspect the server shell.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pwd shows the current directory; whoami shows the connected operating-system user.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An EC2 instance can incur costs, and stopping is not always equivalent to deleting all resources.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Run the teardown script so the instance and supporting resources are removed.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88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Verify the console is clean and respond to any budget alert immediately.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FFF6EB"/>
          </a:solidFill>
          <a:ln w="15240">
            <a:solidFill>
              <a:srgbClr val="E0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E07736"/>
                </a:solidFill>
                <a:latin typeface="Aptos"/>
              </a:defRPr>
            </a:pPr>
            <a:r>
              <a:t>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PROVISION</a:t>
            </a:r>
            <a:br/>
            <a:r>
              <a:t>→ CONNECT</a:t>
            </a:r>
            <a:br/>
            <a:r>
              <a:t>→ VERIFY</a:t>
            </a:r>
            <a:br/>
            <a:r>
              <a:t>→ TEARDOWN</a:t>
            </a:r>
            <a:br/>
            <a:r>
              <a:t>→ CHECK COSTS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T21, T11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A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E8A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Regions, Availability Zones, and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E8A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Region is an AWS geographic area in which resources are launched.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E8A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3313F"/>
                </a:solidFill>
                <a:latin typeface="Aptos"/>
              </a:defRPr>
            </a:pPr>
            <a:r>
              <a:rPr sz="1450" b="0">
                <a:solidFill>
                  <a:srgbClr val="14233E"/>
                </a:solidFill>
                <a:latin typeface="Aptos"/>
              </a:rPr>
              <a:t>An Availability Zone is one or more discrete data centers with redundant power, networking, and connectivity in a Region.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E8A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AZs in a Region are connected by low-latency networking—communication with minimal delay.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E8A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Resources in us-east-1 may appear in an AZ such as us-east-1a.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E8A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Region choice can reflect user proximity, latency, service availability, and data-location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BF8F7"/>
          </a:solidFill>
          <a:ln w="1524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009B96"/>
                </a:solidFill>
                <a:latin typeface="Aptos"/>
              </a:defRPr>
            </a:pPr>
            <a:r>
              <a:t>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AWS GLOBAL CLOUD</a:t>
            </a:r>
            <a:br/>
            <a:r>
              <a:t>↓</a:t>
            </a:r>
            <a:br/>
            <a:r>
              <a:t>REGION</a:t>
            </a:r>
            <a:br/>
            <a:r>
              <a:t>↓</a:t>
            </a:r>
            <a:br/>
            <a:r>
              <a:t>MULTIPLE AZs</a:t>
            </a:r>
            <a:br/>
            <a:r>
              <a:t>↓</a:t>
            </a:r>
            <a:br/>
            <a:r>
              <a:t>RESOURCES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 ENGINEER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VPC: The Network Boundary to Recognize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34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23313F"/>
                </a:solidFill>
                <a:latin typeface="Aptos"/>
              </a:defRPr>
            </a:pPr>
            <a:r>
              <a:rPr sz="1450" b="0">
                <a:solidFill>
                  <a:srgbClr val="14233E"/>
                </a:solidFill>
                <a:latin typeface="Aptos"/>
              </a:rPr>
              <a:t>A VPC is a logically isolated, Region-scoped virtual network; supported resources such as EC2 network interfaces attach to subnets within it.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subnet is a subdivision inside the VPC.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A security group defines traffic rules associated with a resource.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Route tables and internet gateways influence how network traffic moves.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Data engineers should recognize these terms and collaborate with infrastructure specialists.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BF8F7"/>
          </a:solidFill>
          <a:ln w="15240">
            <a:solidFill>
              <a:srgbClr val="009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009B96"/>
                </a:solidFill>
                <a:latin typeface="Aptos"/>
              </a:defRPr>
            </a:pPr>
            <a:r>
              <a:t>VPC 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VPC</a:t>
            </a:r>
            <a:br/>
            <a:r>
              <a:t>└─ Subnet</a:t>
            </a:r>
            <a:br/>
            <a:r>
              <a:t>   └─ EC2</a:t>
            </a:r>
            <a:br/>
            <a:br/>
            <a:r>
              <a:t>Security group</a:t>
            </a:r>
            <a:br/>
            <a:r>
              <a:t>Route table</a:t>
            </a:r>
            <a:br/>
            <a:r>
              <a:t>Gateway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T21, T23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" y="5614416"/>
            <a:ext cx="7269480" cy="530352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2C6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27432" bIns="27432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4233E"/>
                </a:solidFill>
                <a:latin typeface="Aptos"/>
              </a:rPr>
              <a:t>Some AWS services use regional or global service endpoints rather than resources inside your VPC.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DATA ENGINEER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Where the Data Engineer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In lift-and-shift work, data engineers test migrated ETL jobs, scripts, and data workloads.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Examples include moving HDFS data toward S3 or Spark workloads toward EMR.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Infrastructure engineers provision environments and provide approved connection methods.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Data engineers build and validate jobs; DevOps engineers may automate deployments across environments.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Some data engineers work entirely with cloud-native pipelines and never join a lift-and-shift project.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F3EFFC"/>
          </a:solidFill>
          <a:ln w="15240">
            <a:solidFill>
              <a:srgbClr val="6F52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6F52B8"/>
                </a:solidFill>
                <a:latin typeface="Aptos"/>
              </a:defRPr>
            </a:pPr>
            <a:r>
              <a:t>TEAM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INFRASTRUCTURE</a:t>
            </a:r>
            <a:br/>
            <a:r>
              <a:t>Provides environment</a:t>
            </a:r>
            <a:br/>
            <a:br/>
            <a:r>
              <a:t>DATA ENGINEERING</a:t>
            </a:r>
            <a:br/>
            <a:r>
              <a:t>Builds and tests jobs</a:t>
            </a:r>
            <a:br/>
            <a:br/>
            <a:r>
              <a:t>DEVOPS</a:t>
            </a:r>
            <a:br/>
            <a:r>
              <a:t>Automates delivery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Final Review and Next Learning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Explain EC2, CloudShell, Regions, AZs, VPCs, and both migration approaches.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Describe how data engineers collaborate with infrastructure and DevOps roles.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Confirm the EC2 exercise was torn down and budget alerts remain configured.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Confirm no credentials or secret values appear in notes or source control.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Continue to the SQL Skill Booster, then proceed to Amazon 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DF8F2"/>
          </a:solidFill>
          <a:ln w="15240">
            <a:solidFill>
              <a:srgbClr val="2A9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810512"/>
            <a:ext cx="276148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2A9160"/>
                </a:solidFill>
                <a:latin typeface="Aptos"/>
              </a:defRPr>
            </a:pPr>
            <a:r>
              <a:t>NEXT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UNIX + CLOUD</a:t>
            </a:r>
            <a:br/>
            <a:r>
              <a:t>✓</a:t>
            </a:r>
            <a:br/>
            <a:br/>
            <a:r>
              <a:t>SQL</a:t>
            </a:r>
            <a:br/>
            <a:r>
              <a:t>↓</a:t>
            </a:r>
            <a:br/>
            <a:r>
              <a:t>RDS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566928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Sources: T24, T25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02336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UNIX — PDF ADDITION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PDF Source and Personal-Use Notice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7" name="Oval 6"/>
          <p:cNvSpPr/>
          <p:nvPr/>
        </p:nvSpPr>
        <p:spPr>
          <a:xfrm>
            <a:off x="694944" y="1655064"/>
            <a:ext cx="118872" cy="118872"/>
          </a:xfrm>
          <a:prstGeom prst="ellipse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27048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course PDF is a nine-page quick-reference guide titled Essential Unix Commands for Data Engineers.</a:t>
            </a:r>
          </a:p>
        </p:txBody>
      </p:sp>
      <p:sp>
        <p:nvSpPr>
          <p:cNvPr id="9" name="Oval 8"/>
          <p:cNvSpPr/>
          <p:nvPr/>
        </p:nvSpPr>
        <p:spPr>
          <a:xfrm>
            <a:off x="694944" y="2560320"/>
            <a:ext cx="118872" cy="118872"/>
          </a:xfrm>
          <a:prstGeom prst="ellipse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32304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It is intended for enrolled learners' individual study and must not be uploaded or distributed publicly.</a:t>
            </a:r>
          </a:p>
        </p:txBody>
      </p:sp>
      <p:sp>
        <p:nvSpPr>
          <p:cNvPr id="11" name="Oval 10"/>
          <p:cNvSpPr/>
          <p:nvPr/>
        </p:nvSpPr>
        <p:spPr>
          <a:xfrm>
            <a:off x="694944" y="3465576"/>
            <a:ext cx="118872" cy="118872"/>
          </a:xfrm>
          <a:prstGeom prst="ellipse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This presentation summarizes missing concepts instead of reproducing the PDF pages verbatim.</a:t>
            </a:r>
          </a:p>
        </p:txBody>
      </p:sp>
      <p:sp>
        <p:nvSpPr>
          <p:cNvPr id="13" name="Oval 12"/>
          <p:cNvSpPr/>
          <p:nvPr/>
        </p:nvSpPr>
        <p:spPr>
          <a:xfrm>
            <a:off x="694944" y="4370831"/>
            <a:ext cx="118872" cy="118872"/>
          </a:xfrm>
          <a:prstGeom prst="ellipse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Keep both the PDF and this derivative study deck in your private learning workspace.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5276088"/>
            <a:ext cx="118872" cy="118872"/>
          </a:xfrm>
          <a:prstGeom prst="ellipse">
            <a:avLst/>
          </a:prstGeom>
          <a:solidFill>
            <a:srgbClr val="B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48072"/>
            <a:ext cx="6903720" cy="8778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700" b="0">
                <a:solidFill>
                  <a:srgbClr val="23313F"/>
                </a:solidFill>
                <a:latin typeface="Aptos"/>
              </a:defRPr>
            </a:pPr>
            <a:r>
              <a:t>The PDF reinforces practical command use for data processing, log analysis, and pipeline troubleshooting.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27048"/>
            <a:ext cx="3337560" cy="4526280"/>
          </a:xfrm>
          <a:prstGeom prst="roundRect">
            <a:avLst/>
          </a:prstGeom>
          <a:solidFill>
            <a:srgbClr val="EFF7F3"/>
          </a:solidFill>
          <a:ln w="15240"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810512"/>
            <a:ext cx="27889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B83E3E"/>
                </a:solidFill>
                <a:latin typeface="Aptos"/>
              </a:defRPr>
            </a:pPr>
            <a:r>
              <a:t>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212848"/>
            <a:ext cx="2697480" cy="3429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23313F"/>
                </a:solidFill>
                <a:latin typeface="Aptos"/>
              </a:defRPr>
            </a:pPr>
            <a:r>
              <a:t>PERSONAL STUDY ONLY</a:t>
            </a:r>
            <a:br/>
            <a:br/>
            <a:r>
              <a:t>Do not publish</a:t>
            </a:r>
            <a:br/>
            <a:r>
              <a:t>Do not redistribute</a:t>
            </a:r>
            <a:br/>
            <a:r>
              <a:t>Do not place in public Git repositories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2743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Source: PDF01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02336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UNIX — PDF ADDITION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Additional Essential Commands from the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3263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728216"/>
            <a:ext cx="1005840" cy="320040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96795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1691640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Find and replace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03704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sed 's/prod/dev/g' config.txt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3348" y="1572768"/>
            <a:ext cx="53263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7940" y="1728216"/>
            <a:ext cx="1005840" cy="320040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796795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du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4948" y="1691640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Check directory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2203704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du -sh /data/warehouse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82696"/>
            <a:ext cx="53263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438144"/>
            <a:ext cx="1005840" cy="320040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06724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sort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3401568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Sort by a numeric 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913631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sort -t',' -k2 -n sales.csv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3348" y="3282696"/>
            <a:ext cx="53263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7940" y="3438144"/>
            <a:ext cx="1005840" cy="320040"/>
          </a:xfrm>
          <a:prstGeom prst="roundRect">
            <a:avLst/>
          </a:prstGeom>
          <a:solidFill>
            <a:srgbClr val="2A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506724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uniq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4948" y="3401568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Count adjacent duplicates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4516" y="3913631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sort data.txt | uniq -c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824728"/>
            <a:ext cx="10058400" cy="347472"/>
          </a:xfrm>
          <a:prstGeom prst="round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5897880"/>
            <a:ext cx="9747504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50" b="1">
                <a:solidFill>
                  <a:srgbClr val="E07736"/>
                </a:solidFill>
                <a:latin typeface="Aptos"/>
              </a:defRPr>
            </a:pPr>
            <a:r>
              <a:t>Review output before changing files; use a backup or preview when applying replacements to important configuration.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2743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Source: PDF01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02336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UNIX — PDF ADDITION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Occasional Commands: Files, Editors, and Processes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3263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728216"/>
            <a:ext cx="1005840" cy="320040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96795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touch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1691640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Create an empty placeholder 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03704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touch incoming.ready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3348" y="1572768"/>
            <a:ext cx="53263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7940" y="1728216"/>
            <a:ext cx="1005840" cy="320040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796795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4948" y="1691640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Remove a file or directory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2203704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rm obsolete.tmp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852928"/>
            <a:ext cx="53263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008376"/>
            <a:ext cx="1005840" cy="320040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76956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nano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2971800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Make a quick interactive text 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483864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nano config.yaml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3348" y="2852928"/>
            <a:ext cx="53263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7940" y="3008376"/>
            <a:ext cx="1005840" cy="320040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076956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4948" y="2971800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Edit text when vi/vim is available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4516" y="3483864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vi pipeline.sh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133087"/>
            <a:ext cx="53263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59" y="4288536"/>
            <a:ext cx="1005840" cy="320040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357116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7" y="4251959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Inspect running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764023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ps -ef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3348" y="4133087"/>
            <a:ext cx="532638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77940" y="4288536"/>
            <a:ext cx="1005840" cy="320040"/>
          </a:xfrm>
          <a:prstGeom prst="roundRect">
            <a:avLst/>
          </a:prstGeom>
          <a:solidFill>
            <a:srgbClr val="E0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3660" y="4357116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kill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4948" y="4251959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Request that a process stop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4516" y="4764023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kill &lt;pid&gt;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51560" y="5824728"/>
            <a:ext cx="10058400" cy="347472"/>
          </a:xfrm>
          <a:prstGeom prst="round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7008" y="5897880"/>
            <a:ext cx="9747504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50" b="1">
                <a:solidFill>
                  <a:srgbClr val="E07736"/>
                </a:solidFill>
                <a:latin typeface="Aptos"/>
              </a:defRPr>
            </a:pPr>
            <a:r>
              <a:t>rm has no recycle bin, and kill can interrupt work. Confirm the target path or process ID before acting.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537960"/>
            <a:ext cx="2743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Source: PDF01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02336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UNIX — PDF ADDITION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Occasional Commands: Remote Access and Utilities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53263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1728216"/>
            <a:ext cx="1005840" cy="320040"/>
          </a:xfrm>
          <a:prstGeom prst="round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96795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ssh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7" y="1691640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Open an encrypted remote shell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03704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ssh user@host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3348" y="1572768"/>
            <a:ext cx="53263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7940" y="1728216"/>
            <a:ext cx="1005840" cy="320040"/>
          </a:xfrm>
          <a:prstGeom prst="round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60" y="1796795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scp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4948" y="1691640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Copy files securely between hosts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2203704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scp file.csv user@host:/data/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282696"/>
            <a:ext cx="53263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438144"/>
            <a:ext cx="1005840" cy="320040"/>
          </a:xfrm>
          <a:prstGeom prst="round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06724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wget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3401568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Download a file from a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913631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wget https://example.com/data.csv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3348" y="3282696"/>
            <a:ext cx="53263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77940" y="3438144"/>
            <a:ext cx="1005840" cy="320040"/>
          </a:xfrm>
          <a:prstGeom prst="roundRect">
            <a:avLst/>
          </a:prstGeom>
          <a:solidFill>
            <a:srgbClr val="6F5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3506724"/>
            <a:ext cx="914400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scadia Mono"/>
              </a:defRPr>
            </a:pPr>
            <a:r>
              <a:t>which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4948" y="3401568"/>
            <a:ext cx="3753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500" b="1">
                <a:solidFill>
                  <a:srgbClr val="0A1F33"/>
                </a:solidFill>
                <a:latin typeface="Aptos"/>
              </a:defRPr>
            </a:pPr>
            <a:r>
              <a:t>Show the executable selected by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4516" y="3913631"/>
            <a:ext cx="4924044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150" b="0">
                <a:solidFill>
                  <a:srgbClr val="192D40"/>
                </a:solidFill>
                <a:latin typeface="Cascadia Mono"/>
              </a:defRPr>
            </a:pPr>
            <a:r>
              <a:t>which python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5824728"/>
            <a:ext cx="10058400" cy="347472"/>
          </a:xfrm>
          <a:prstGeom prst="roundRect">
            <a:avLst/>
          </a:prstGeom>
          <a:solidFill>
            <a:srgbClr val="FFF2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07008" y="5897880"/>
            <a:ext cx="9747504" cy="173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50" b="1">
                <a:solidFill>
                  <a:srgbClr val="E07736"/>
                </a:solidFill>
                <a:latin typeface="Aptos"/>
              </a:defRPr>
            </a:pPr>
            <a:r>
              <a:t>Use approved hosts, verify URLs, protect private keys, and never disable host verification merely to bypass a warning.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2743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Source: PDF01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02336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UNIX — PDF ADDITION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Practice Drills: Logs, Data Preview, and Large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54480"/>
            <a:ext cx="10716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01368"/>
            <a:ext cx="502920" cy="50292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50292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719072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0A1F33"/>
                </a:solidFill>
                <a:latin typeface="Aptos"/>
              </a:defRPr>
            </a:pPr>
            <a:r>
              <a:t>Log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084831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0">
                <a:solidFill>
                  <a:srgbClr val="5B6B79"/>
                </a:solidFill>
                <a:latin typeface="Aptos"/>
              </a:defRPr>
            </a:pPr>
            <a:r>
              <a:t>Count ERROR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764792"/>
            <a:ext cx="6903720" cy="667512"/>
          </a:xfrm>
          <a:prstGeom prst="round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911095"/>
            <a:ext cx="65379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300" b="0">
                <a:solidFill>
                  <a:srgbClr val="192D40"/>
                </a:solidFill>
                <a:latin typeface="Cascadia Mono"/>
              </a:defRPr>
            </a:pPr>
            <a:r>
              <a:t>grep 'ERROR' application.log | wc -l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926080"/>
            <a:ext cx="10716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172968"/>
            <a:ext cx="502920" cy="50292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00984"/>
            <a:ext cx="50292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090672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0A1F33"/>
                </a:solidFill>
                <a:latin typeface="Aptos"/>
              </a:defRPr>
            </a:pPr>
            <a:r>
              <a:t>Data 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45643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0">
                <a:solidFill>
                  <a:srgbClr val="5B6B79"/>
                </a:solidFill>
                <a:latin typeface="Aptos"/>
              </a:defRPr>
            </a:pPr>
            <a:r>
              <a:t>First 5 rows, columns 1–2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136392"/>
            <a:ext cx="6903720" cy="667512"/>
          </a:xfrm>
          <a:prstGeom prst="round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3282696"/>
            <a:ext cx="65379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300" b="0">
                <a:solidFill>
                  <a:srgbClr val="192D40"/>
                </a:solidFill>
                <a:latin typeface="Cascadia Mono"/>
              </a:defRPr>
            </a:pPr>
            <a:r>
              <a:t>head -5 data.csv | cut -d',' -f1,2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297680"/>
            <a:ext cx="10716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0120" y="4544568"/>
            <a:ext cx="502920" cy="50292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672584"/>
            <a:ext cx="50292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4462272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0A1F33"/>
                </a:solidFill>
                <a:latin typeface="Aptos"/>
              </a:defRPr>
            </a:pPr>
            <a:r>
              <a:t>Large-file search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82803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0">
                <a:solidFill>
                  <a:srgbClr val="5B6B79"/>
                </a:solidFill>
                <a:latin typeface="Aptos"/>
              </a:defRPr>
            </a:pPr>
            <a:r>
              <a:t>Files larger than 100 MB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33087" y="4507992"/>
            <a:ext cx="6903720" cy="667512"/>
          </a:xfrm>
          <a:prstGeom prst="round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15968" y="4654296"/>
            <a:ext cx="65379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300" b="0">
                <a:solidFill>
                  <a:srgbClr val="192D40"/>
                </a:solidFill>
                <a:latin typeface="Cascadia Mono"/>
              </a:defRPr>
            </a:pPr>
            <a:r>
              <a:t>find /data -type f -size +100M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37960"/>
            <a:ext cx="2743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Source: PDF01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402336"/>
            <a:ext cx="162763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UNIX — PDF ADDITION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2700" b="1">
                <a:solidFill>
                  <a:srgbClr val="0A1F33"/>
                </a:solidFill>
                <a:latin typeface="Aptos"/>
              </a:defRPr>
            </a:pPr>
            <a:r>
              <a:t>Practice Drills: Monitoring, Validation, and Habit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1000" b="1">
                <a:solidFill>
                  <a:srgbClr val="5B6B79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554480"/>
            <a:ext cx="1071676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801368"/>
            <a:ext cx="502920" cy="50292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50292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719072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0A1F33"/>
                </a:solidFill>
                <a:latin typeface="Aptos"/>
              </a:defRPr>
            </a:pPr>
            <a:r>
              <a:t>Live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084831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0">
                <a:solidFill>
                  <a:srgbClr val="5B6B79"/>
                </a:solidFill>
                <a:latin typeface="Aptos"/>
              </a:defRPr>
            </a:pPr>
            <a:r>
              <a:t>Watch for FAILED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764792"/>
            <a:ext cx="6903720" cy="667512"/>
          </a:xfrm>
          <a:prstGeom prst="round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911095"/>
            <a:ext cx="65379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300" b="0">
                <a:solidFill>
                  <a:srgbClr val="192D40"/>
                </a:solidFill>
                <a:latin typeface="Cascadia Mono"/>
              </a:defRPr>
            </a:pPr>
            <a:r>
              <a:t>tail -f pipeline.log | grep 'FAILED'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154680"/>
            <a:ext cx="10716768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401568"/>
            <a:ext cx="502920" cy="502920"/>
          </a:xfrm>
          <a:prstGeom prst="ellipse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29584"/>
            <a:ext cx="502920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3319272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600" b="1">
                <a:solidFill>
                  <a:srgbClr val="0A1F33"/>
                </a:solidFill>
                <a:latin typeface="Aptos"/>
              </a:defRPr>
            </a:pPr>
            <a:r>
              <a:t>Data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3685032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1200" b="0">
                <a:solidFill>
                  <a:srgbClr val="5B6B79"/>
                </a:solidFill>
                <a:latin typeface="Aptos"/>
              </a:defRPr>
            </a:pPr>
            <a:r>
              <a:t>Count values in column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33087" y="3364992"/>
            <a:ext cx="6903720" cy="667512"/>
          </a:xfrm>
          <a:prstGeom prst="round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3511296"/>
            <a:ext cx="653796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defRPr sz="1300" b="0">
                <a:solidFill>
                  <a:srgbClr val="192D40"/>
                </a:solidFill>
                <a:latin typeface="Cascadia Mono"/>
              </a:defRPr>
            </a:pPr>
            <a:r>
              <a:t>cut -d',' -f3 data.csv | sort | uniq -c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5257800"/>
            <a:ext cx="9720072" cy="685800"/>
          </a:xfrm>
          <a:prstGeom prst="round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81328" y="5440680"/>
            <a:ext cx="9217152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2C66DC"/>
                </a:solidFill>
                <a:latin typeface="Aptos"/>
              </a:defRPr>
            </a:pPr>
            <a:r>
              <a:t>Practice five minutes daily for 2–3 months. Build muscle memory instead of cramming command syntax.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0972"/>
          </a:xfrm>
          <a:prstGeom prst="rect">
            <a:avLst/>
          </a:prstGeom>
          <a:solidFill>
            <a:srgbClr val="DA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27432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800" b="0">
                <a:solidFill>
                  <a:srgbClr val="5B6B79"/>
                </a:solidFill>
                <a:latin typeface="Aptos"/>
              </a:defRPr>
            </a:pPr>
            <a:r>
              <a:t>Source: PDF01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537960"/>
            <a:ext cx="416052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defRPr sz="800" b="0">
                <a:solidFill>
                  <a:srgbClr val="5B6B79"/>
                </a:solidFill>
                <a:latin typeface="Aptos"/>
              </a:defRPr>
            </a:pPr>
            <a:r>
              <a:t>Unix &amp; Cloud Foundations for Data Engineers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320040"/>
            <a:ext cx="1828800" cy="347472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402336"/>
            <a:ext cx="1572768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41248"/>
            <a:ext cx="107442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r>
              <a:t>Source Index — 25 Transcripts + Course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84048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r>
              <a:t>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9051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513331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01-what-are-we-going-to-learn-in-this-course-revisit.txt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65376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15668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1869948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03-1-intro-aws-setup-revisit.txt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221991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272284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226563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04-2-create-aws-account-revisit.txt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578608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28900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2583179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05-24-aws-account-creation-steps-resume.txt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2935224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85516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2939796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07-3-login-to-aws-using-root-user-and-go-to-iam-resume.txt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291840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342132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296412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08-35-upgrading-aws-account-resume.txt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648456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698748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61872" y="3653027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10-4-create-admin-user-with-console-and-programmatic-access-resume.txt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005072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055363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009644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11-5-download-and-install-aws-cli-resume.txt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61688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411979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4366259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12-6-create-access-key-for-aws-cli-access.txt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718304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768596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1872" y="4722876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13-7-configure-aws-cli-on-your-system.txt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074920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25212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5079492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14-8-vimp-set-up-three-aws-budgets.txt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431536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481827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1872" y="5436107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15-85-set-default-region-to-us-east-1.txt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788152"/>
            <a:ext cx="475488" cy="246888"/>
          </a:xfrm>
          <a:prstGeom prst="roundRect">
            <a:avLst/>
          </a:prstGeom>
          <a:solidFill>
            <a:srgbClr val="009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838444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61872" y="5792724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17-9-outtro-aws-set-up.txt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73368" y="1508760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1559051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6872" y="1513331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19-1-get-your-hands-dirty-with-unix.txt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73368" y="1865376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1915668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76872" y="1869948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20-2-continue-learning-unix.txt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73368" y="2221991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2272284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76872" y="2226563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21-3-assignment-simple-unix-shell-script.txt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73368" y="2578608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2628900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76872" y="2583179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22-4-what-next.txt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73368" y="2935224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2985516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76872" y="2939796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24-1-on-premise-set-up-and-cloud.txt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73368" y="3291840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3342132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76872" y="3296412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25-2-lift-and-shift-vs-rewriting-the-application-in-cloud-or-building-an-applicatio.txt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73368" y="3648456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0" y="3698748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T20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76872" y="3653027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26-3-ec2-console-and-cloudshell.txt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373368" y="4005072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0" y="4055363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T21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76872" y="4009644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27-4-spin-up-ec2-and-terminate-it.txt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73368" y="4361688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0" y="4411979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T22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76872" y="4366259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28-5-global-infrastructure-of-aws.txt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73368" y="4718304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4768596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76872" y="4722876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29-6-where-do-you-come-into-play-as-a-data-engineer-with-respect-to-ec2.txt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73368" y="5074920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00800" y="5125212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T24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76872" y="5079492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30-7-what-do-you-feel-review-.txt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373368" y="5431536"/>
            <a:ext cx="475488" cy="246888"/>
          </a:xfrm>
          <a:prstGeom prst="roundRect">
            <a:avLst/>
          </a:prstGeom>
          <a:solidFill>
            <a:srgbClr val="2C6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0" y="5481827"/>
            <a:ext cx="420624" cy="1097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T25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76872" y="5436107"/>
            <a:ext cx="48920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defRPr sz="750" b="0">
                <a:solidFill>
                  <a:srgbClr val="23313F"/>
                </a:solidFill>
                <a:latin typeface="Aptos"/>
              </a:defRPr>
            </a:pPr>
            <a:r>
              <a:t>31-8-where-do-you-go-next.txt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417320" y="6263640"/>
            <a:ext cx="9326880" cy="274320"/>
          </a:xfrm>
          <a:prstGeom prst="roundRect">
            <a:avLst/>
          </a:prstGeom>
          <a:solidFill>
            <a:srgbClr val="E9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72768" y="6318504"/>
            <a:ext cx="900684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r>
              <a:t>PDF01: Unix &amp; Cloud Foundations for Data Engineers.pdf (9-page course quick-reference guide; personal study only, not for public distribution).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Unix &amp; Cloud Foundations for Data Engineers</dc:title>
  <dc:subject>Detailed summary based on 25 transcripts and the course Unix command PDF</dc:subject>
  <dc:creator>RADE Learning Workspace</dc:creator>
  <cp:keywords>Unix, AWS, cloud, EC2, IAM, CLI, data engineering, course PDF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