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45720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72D7D2"/>
                </a:solidFill>
                <a:latin typeface="Calibri"/>
              </a:rPr>
              <a:t>RADE LEARNING PATH  |  MODULE 07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621792" y="987552"/>
            <a:ext cx="7955279" cy="1170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Agentic Data Engineering
with Amazon 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2395728"/>
            <a:ext cx="713232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CBD5E1"/>
                </a:solidFill>
                <a:latin typeface="Calibri"/>
              </a:rPr>
              <a:t>A human-led workflow for turning a data requirement into a verified AWS ingestion outcome.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3840480"/>
            <a:ext cx="1901952" cy="1143000"/>
          </a:xfrm>
          <a:prstGeom prst="roundRect">
            <a:avLst/>
          </a:prstGeom>
          <a:solidFill>
            <a:srgbClr val="17324B"/>
          </a:solidFill>
          <a:ln w="12700">
            <a:solidFill>
              <a:srgbClr val="365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4041648"/>
            <a:ext cx="15727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009B96"/>
                </a:solidFill>
                <a:latin typeface="Calibri"/>
              </a:rPr>
              <a:t>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370832"/>
            <a:ext cx="16824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NYC TLC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51760" y="4407408"/>
            <a:ext cx="228600" cy="0"/>
          </a:xfrm>
          <a:prstGeom prst="line">
            <a:avLst/>
          </a:prstGeom>
          <a:ln w="25400">
            <a:solidFill>
              <a:srgbClr val="72D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926080" y="3840480"/>
            <a:ext cx="1901952" cy="1143000"/>
          </a:xfrm>
          <a:prstGeom prst="roundRect">
            <a:avLst/>
          </a:prstGeom>
          <a:solidFill>
            <a:srgbClr val="17324B"/>
          </a:solidFill>
          <a:ln w="12700">
            <a:solidFill>
              <a:srgbClr val="365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90672" y="4041648"/>
            <a:ext cx="15727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6F52B8"/>
                </a:solidFill>
                <a:latin typeface="Calibri"/>
              </a:rPr>
              <a:t>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35808" y="4370832"/>
            <a:ext cx="16824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Kiro + Amazon Q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864608" y="4407408"/>
            <a:ext cx="228600" cy="0"/>
          </a:xfrm>
          <a:prstGeom prst="line">
            <a:avLst/>
          </a:prstGeom>
          <a:ln w="25400">
            <a:solidFill>
              <a:srgbClr val="72D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38928" y="3840480"/>
            <a:ext cx="1901952" cy="1143000"/>
          </a:xfrm>
          <a:prstGeom prst="roundRect">
            <a:avLst/>
          </a:prstGeom>
          <a:solidFill>
            <a:srgbClr val="17324B"/>
          </a:solidFill>
          <a:ln w="12700">
            <a:solidFill>
              <a:srgbClr val="365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4041648"/>
            <a:ext cx="15727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2C66DC"/>
                </a:solidFill>
                <a:latin typeface="Calibri"/>
              </a:rPr>
              <a:t>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48656" y="4370832"/>
            <a:ext cx="16824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Python + IaC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077456" y="4407408"/>
            <a:ext cx="228599" cy="0"/>
          </a:xfrm>
          <a:prstGeom prst="line">
            <a:avLst/>
          </a:prstGeom>
          <a:ln w="25400">
            <a:solidFill>
              <a:srgbClr val="72D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51775" y="3840480"/>
            <a:ext cx="1901952" cy="1143000"/>
          </a:xfrm>
          <a:prstGeom prst="roundRect">
            <a:avLst/>
          </a:prstGeom>
          <a:solidFill>
            <a:srgbClr val="17324B"/>
          </a:solidFill>
          <a:ln w="12700">
            <a:solidFill>
              <a:srgbClr val="365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16367" y="4041648"/>
            <a:ext cx="15727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E07736"/>
                </a:solidFill>
                <a:latin typeface="Calibri"/>
              </a:rPr>
              <a:t>AWS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61503" y="4370832"/>
            <a:ext cx="16824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Glue Python Shell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290304" y="4407408"/>
            <a:ext cx="228600" cy="0"/>
          </a:xfrm>
          <a:prstGeom prst="line">
            <a:avLst/>
          </a:prstGeom>
          <a:ln w="25400">
            <a:solidFill>
              <a:srgbClr val="72D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564624" y="3840480"/>
            <a:ext cx="1901952" cy="1143000"/>
          </a:xfrm>
          <a:prstGeom prst="roundRect">
            <a:avLst/>
          </a:prstGeom>
          <a:solidFill>
            <a:srgbClr val="17324B"/>
          </a:solidFill>
          <a:ln w="12700">
            <a:solidFill>
              <a:srgbClr val="365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29216" y="4041648"/>
            <a:ext cx="15727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2A9160"/>
                </a:solidFill>
                <a:latin typeface="Calibri"/>
              </a:rPr>
              <a:t>OUTCOME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74352" y="4370832"/>
            <a:ext cx="16824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Data in S3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" y="5577840"/>
            <a:ext cx="2103120" cy="292608"/>
          </a:xfrm>
          <a:prstGeom prst="roundRect">
            <a:avLst/>
          </a:prstGeom>
          <a:solidFill>
            <a:srgbClr val="26425A"/>
          </a:solidFill>
          <a:ln w="12700">
            <a:solidFill>
              <a:srgbClr val="26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5591555"/>
            <a:ext cx="1993391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A9E7E4"/>
                </a:solidFill>
                <a:latin typeface="Calibri"/>
              </a:rPr>
              <a:t>TRANSCRIPT-DERIVED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71800" y="5614416"/>
            <a:ext cx="79552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CBD5E1"/>
                </a:solidFill>
                <a:latin typeface="Calibri"/>
              </a:rPr>
              <a:t>Core: 20 Module 07 transcripts  |  Context: selected Project Labs transcripts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21792" y="6382512"/>
            <a:ext cx="10351008" cy="0"/>
          </a:xfrm>
          <a:prstGeom prst="line">
            <a:avLst/>
          </a:prstGeom>
          <a:ln w="19050">
            <a:solidFill>
              <a:srgbClr val="3651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 i="0">
                <a:solidFill>
                  <a:srgbClr val="CBD5E1"/>
                </a:solidFill>
                <a:latin typeface="Calibri"/>
              </a:rPr>
              <a:t>MODULE 07  |  AGENTIC DATA ENGINEERING WITH AMAZON Q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45952" y="32004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CBD5E1"/>
                </a:solidFill>
                <a:latin typeface="Calibr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9B96"/>
                </a:solidFill>
                <a:latin typeface="Calibri"/>
              </a:rPr>
              <a:t>ORIENT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556377"/>
                </a:solidFill>
                <a:latin typeface="Calibri"/>
              </a:rPr>
              <a:t>02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4233E"/>
                </a:solidFill>
                <a:latin typeface="Calibri"/>
              </a:rPr>
              <a:t>How to use this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25296"/>
            <a:ext cx="10561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556377"/>
                </a:solidFill>
                <a:latin typeface="Calibri"/>
              </a:rPr>
              <a:t>Move from setup to a bounded build, then explain the evidence—not just the generated code.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65208" y="1252728"/>
            <a:ext cx="1965960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20072" y="1266444"/>
            <a:ext cx="1856231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009B96"/>
                </a:solidFill>
                <a:latin typeface="Calibri"/>
              </a:rPr>
              <a:t>TRANSCRIPT + GUIDANCE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0579608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663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 i="0">
                <a:solidFill>
                  <a:srgbClr val="556377"/>
                </a:solidFill>
                <a:latin typeface="Calibri"/>
              </a:rPr>
              <a:t>MODULE 07  |  AGENTIC DATA ENGINEERING WITH AMAZON 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6473952"/>
            <a:ext cx="69311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40" b="0" i="0">
                <a:solidFill>
                  <a:srgbClr val="556377"/>
                </a:solidFill>
                <a:latin typeface="Calibri"/>
              </a:rPr>
              <a:t>Core transcripts 02–21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965960"/>
            <a:ext cx="3569208" cy="3456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965960"/>
            <a:ext cx="73152" cy="3456432"/>
          </a:xfrm>
          <a:prstGeom prst="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" y="2185415"/>
            <a:ext cx="475488" cy="292608"/>
          </a:xfrm>
          <a:prstGeom prst="round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5" y="2199132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167128"/>
            <a:ext cx="251764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Learn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2770632"/>
            <a:ext cx="3112008" cy="2468879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450">
                <a:solidFill>
                  <a:srgbClr val="556377"/>
                </a:solidFill>
                <a:latin typeface="Calibri"/>
              </a:defRPr>
            </a:pPr>
            <a:r>
              <a:t>•  Read the mental model before copying commands</a:t>
            </a:r>
          </a:p>
          <a:p>
            <a:pPr>
              <a:spcAft>
                <a:spcPts val="500"/>
              </a:spcAft>
              <a:defRPr sz="1450">
                <a:solidFill>
                  <a:srgbClr val="556377"/>
                </a:solidFill>
                <a:latin typeface="Calibri"/>
              </a:defRPr>
            </a:pPr>
            <a:r>
              <a:t>•  Connect every tool to the requirement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0728" y="1965960"/>
            <a:ext cx="3569208" cy="3456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00728" y="1965960"/>
            <a:ext cx="73152" cy="3456432"/>
          </a:xfrm>
          <a:prstGeom prst="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29328" y="2185415"/>
            <a:ext cx="475488" cy="292608"/>
          </a:xfrm>
          <a:prstGeom prst="round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84192" y="2199132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3688" y="2167128"/>
            <a:ext cx="251764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Build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9328" y="2770632"/>
            <a:ext cx="3112008" cy="2468879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450">
                <a:solidFill>
                  <a:srgbClr val="556377"/>
                </a:solidFill>
                <a:latin typeface="Calibri"/>
              </a:defRPr>
            </a:pPr>
            <a:r>
              <a:t>•  Reproduce one safe ingestion slice</a:t>
            </a:r>
          </a:p>
          <a:p>
            <a:pPr>
              <a:spcAft>
                <a:spcPts val="500"/>
              </a:spcAft>
              <a:defRPr sz="1450">
                <a:solidFill>
                  <a:srgbClr val="556377"/>
                </a:solidFill>
                <a:latin typeface="Calibri"/>
              </a:defRPr>
            </a:pPr>
            <a:r>
              <a:t>•  Pause at every human review gate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71104" y="1965960"/>
            <a:ext cx="3569208" cy="3456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71104" y="1965960"/>
            <a:ext cx="73152" cy="3456432"/>
          </a:xfrm>
          <a:prstGeom prst="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99704" y="2185415"/>
            <a:ext cx="475488" cy="292608"/>
          </a:xfrm>
          <a:prstGeom prst="round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54568" y="2199132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94064" y="2167128"/>
            <a:ext cx="251764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Explain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9704" y="2770632"/>
            <a:ext cx="3112008" cy="2468879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450">
                <a:solidFill>
                  <a:srgbClr val="556377"/>
                </a:solidFill>
                <a:latin typeface="Calibri"/>
              </a:defRPr>
            </a:pPr>
            <a:r>
              <a:t>•  Retell the failure-and-fix loop</a:t>
            </a:r>
          </a:p>
          <a:p>
            <a:pPr>
              <a:spcAft>
                <a:spcPts val="500"/>
              </a:spcAft>
              <a:defRPr sz="1450">
                <a:solidFill>
                  <a:srgbClr val="556377"/>
                </a:solidFill>
                <a:latin typeface="Calibri"/>
              </a:defRPr>
            </a:pPr>
            <a:r>
              <a:t>•  Turn evidence into an interview story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371600" y="5614416"/>
            <a:ext cx="9418320" cy="438912"/>
          </a:xfrm>
          <a:prstGeom prst="roundRect">
            <a:avLst/>
          </a:prstGeom>
          <a:solidFill>
            <a:srgbClr val="FBF0E9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36192" y="5705856"/>
            <a:ext cx="908913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14233E"/>
                </a:solidFill>
                <a:latin typeface="Calibri"/>
              </a:rPr>
              <a:t>Evidence labels tell you whether a point comes directly from transcripts or adds current safety guidance.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9B96"/>
                </a:solidFill>
                <a:latin typeface="Calibri"/>
              </a:rPr>
              <a:t>ORIENT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556377"/>
                </a:solidFill>
                <a:latin typeface="Calibri"/>
              </a:rPr>
              <a:t>03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4233E"/>
                </a:solidFill>
                <a:latin typeface="Calibri"/>
              </a:rPr>
              <a:t>What you will be able to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25296"/>
            <a:ext cx="10561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556377"/>
                </a:solidFill>
                <a:latin typeface="Calibri"/>
              </a:rPr>
              <a:t>The goal is controlled acceleration: faster implementation with stronger human judgment.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65208" y="1252728"/>
            <a:ext cx="1965960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20072" y="1266444"/>
            <a:ext cx="1856231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009B96"/>
                </a:solidFill>
                <a:latin typeface="Calibri"/>
              </a:rPr>
              <a:t>TRANSCRIPT-DERIVED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0579608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663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 i="0">
                <a:solidFill>
                  <a:srgbClr val="556377"/>
                </a:solidFill>
                <a:latin typeface="Calibri"/>
              </a:rPr>
              <a:t>MODULE 07  |  AGENTIC DATA ENGINEERING WITH AMAZON 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6473952"/>
            <a:ext cx="69311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40" b="0" i="0">
                <a:solidFill>
                  <a:srgbClr val="556377"/>
                </a:solidFill>
                <a:latin typeface="Calibri"/>
              </a:rPr>
              <a:t>12-1, 15-4, 17-1, 19-3, 21-5 core transcripts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993392"/>
            <a:ext cx="2654046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993392"/>
            <a:ext cx="73152" cy="3611880"/>
          </a:xfrm>
          <a:prstGeom prst="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" y="2212848"/>
            <a:ext cx="475488" cy="292608"/>
          </a:xfrm>
          <a:prstGeom prst="round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5" y="222656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194560"/>
            <a:ext cx="160248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Frame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2816352"/>
            <a:ext cx="2196846" cy="2606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56377"/>
                </a:solidFill>
                <a:latin typeface="Calibri"/>
              </a:rPr>
              <a:t>Translate a business ask into source, target, constraints, and proof.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48990" y="1993392"/>
            <a:ext cx="2654046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48990" y="1993392"/>
            <a:ext cx="73152" cy="3611880"/>
          </a:xfrm>
          <a:prstGeom prst="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577590" y="2212848"/>
            <a:ext cx="475488" cy="292608"/>
          </a:xfrm>
          <a:prstGeom prst="round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32454" y="222656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71950" y="2194560"/>
            <a:ext cx="160248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Direct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77590" y="2816352"/>
            <a:ext cx="2196846" cy="2606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56377"/>
                </a:solidFill>
                <a:latin typeface="Calibri"/>
              </a:rPr>
              <a:t>Use Kiro and Amazon Q as a copilot while you remain the pilot.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67628" y="1993392"/>
            <a:ext cx="2654046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67628" y="1993392"/>
            <a:ext cx="73152" cy="3611880"/>
          </a:xfrm>
          <a:prstGeom prst="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96228" y="2212848"/>
            <a:ext cx="475488" cy="292608"/>
          </a:xfrm>
          <a:prstGeom prst="round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51092" y="222656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0588" y="2194560"/>
            <a:ext cx="160248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Deliver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6228" y="2816352"/>
            <a:ext cx="2196846" cy="2606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56377"/>
                </a:solidFill>
                <a:latin typeface="Calibri"/>
              </a:rPr>
              <a:t>Generate code and IaC, deploy, run, diagnose, and correct.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86266" y="1993392"/>
            <a:ext cx="2654046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986266" y="1993392"/>
            <a:ext cx="73152" cy="3611880"/>
          </a:xfrm>
          <a:prstGeom prst="rect">
            <a:avLst/>
          </a:prstGeom>
          <a:solidFill>
            <a:srgbClr val="2A9160"/>
          </a:solidFill>
          <a:ln w="1270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214866" y="2212848"/>
            <a:ext cx="475488" cy="292608"/>
          </a:xfrm>
          <a:prstGeom prst="roundRect">
            <a:avLst/>
          </a:prstGeom>
          <a:solidFill>
            <a:srgbClr val="2A9160"/>
          </a:solidFill>
          <a:ln w="1270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69730" y="222656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09226" y="2194560"/>
            <a:ext cx="160248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Verify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14866" y="2816352"/>
            <a:ext cx="2196846" cy="2606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56377"/>
                </a:solidFill>
                <a:latin typeface="Calibri"/>
              </a:rPr>
              <a:t>Inspect S3 and runtime evidence before declaring success.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9B96"/>
                </a:solidFill>
                <a:latin typeface="Calibri"/>
              </a:rP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556377"/>
                </a:solidFill>
                <a:latin typeface="Calibri"/>
              </a:rPr>
              <a:t>04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4233E"/>
                </a:solidFill>
                <a:latin typeface="Calibri"/>
              </a:rPr>
              <a:t>Keep the source boundary explicit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25296"/>
            <a:ext cx="10561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556377"/>
                </a:solidFill>
                <a:latin typeface="Calibri"/>
              </a:rPr>
              <a:t>Both folders inform this deck, but they represent different courses and different learning moments.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65208" y="1252728"/>
            <a:ext cx="1965960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20072" y="1266444"/>
            <a:ext cx="1856231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009B96"/>
                </a:solidFill>
                <a:latin typeface="Calibri"/>
              </a:rPr>
              <a:t>TRANSCRIPT + PROJECT LABS CONTEXT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0579608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663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 i="0">
                <a:solidFill>
                  <a:srgbClr val="556377"/>
                </a:solidFill>
                <a:latin typeface="Calibri"/>
              </a:rPr>
              <a:t>MODULE 07  |  AGENTIC DATA ENGINEERING WITH AMAZON 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6473952"/>
            <a:ext cx="69311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40" b="0" i="0">
                <a:solidFill>
                  <a:srgbClr val="556377"/>
                </a:solidFill>
                <a:latin typeface="Calibri"/>
              </a:rPr>
              <a:t>Core folder + Project Labs lesson 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874519"/>
            <a:ext cx="5230368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874519"/>
            <a:ext cx="73152" cy="3886200"/>
          </a:xfrm>
          <a:prstGeom prst="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075688"/>
            <a:ext cx="472744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CORE MODULE 07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2679191"/>
            <a:ext cx="4773168" cy="28986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450">
                <a:solidFill>
                  <a:srgbClr val="556377"/>
                </a:solidFill>
                <a:latin typeface="Calibri"/>
              </a:defRPr>
            </a:pPr>
            <a:r>
              <a:t>•  20 transcripts: AWS prerequisites, Kiro/Amazon Q, and a bounded ingestion demo</a:t>
            </a:r>
          </a:p>
          <a:p>
            <a:pPr>
              <a:spcAft>
                <a:spcPts val="500"/>
              </a:spcAft>
              <a:defRPr sz="1450">
                <a:solidFill>
                  <a:srgbClr val="556377"/>
                </a:solidFill>
                <a:latin typeface="Calibri"/>
              </a:defRPr>
            </a:pPr>
            <a:r>
              <a:t>•  Primary evidence for slides 1–37 and 40–42</a:t>
            </a:r>
          </a:p>
          <a:p>
            <a:pPr>
              <a:spcAft>
                <a:spcPts val="500"/>
              </a:spcAft>
              <a:defRPr sz="1450">
                <a:solidFill>
                  <a:srgbClr val="556377"/>
                </a:solidFill>
                <a:latin typeface="Calibri"/>
              </a:defRPr>
            </a:pPr>
            <a:r>
              <a:t>•  Teaches the agentic workflow itself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61888" y="1874519"/>
            <a:ext cx="5678424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61888" y="1874519"/>
            <a:ext cx="73152" cy="3886200"/>
          </a:xfrm>
          <a:prstGeom prst="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2075688"/>
            <a:ext cx="517550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PROJECT LABS FOLLOW-ON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0488" y="2679191"/>
            <a:ext cx="5221224" cy="28986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450">
                <a:solidFill>
                  <a:srgbClr val="556377"/>
                </a:solidFill>
                <a:latin typeface="Calibri"/>
              </a:defRPr>
            </a:pPr>
            <a:r>
              <a:t>•  Lesson 25 explicitly pauses Project Labs and mandates Module 07</a:t>
            </a:r>
          </a:p>
          <a:p>
            <a:pPr>
              <a:spcAft>
                <a:spcPts val="500"/>
              </a:spcAft>
              <a:defRPr sz="1450">
                <a:solidFill>
                  <a:srgbClr val="556377"/>
                </a:solidFill>
                <a:latin typeface="Calibri"/>
              </a:defRPr>
            </a:pPr>
            <a:r>
              <a:t>•  Lessons 26–30 apply the ingestion output downstream</a:t>
            </a:r>
          </a:p>
          <a:p>
            <a:pPr>
              <a:spcAft>
                <a:spcPts val="500"/>
              </a:spcAft>
              <a:defRPr sz="1450">
                <a:solidFill>
                  <a:srgbClr val="556377"/>
                </a:solidFill>
                <a:latin typeface="Calibri"/>
              </a:defRPr>
            </a:pPr>
            <a:r>
              <a:t>•  Lesson 49 adds AI-assisted code vetting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53512" y="5559552"/>
            <a:ext cx="6309360" cy="457200"/>
          </a:xfrm>
          <a:prstGeom prst="roundRect">
            <a:avLst/>
          </a:prstGeom>
          <a:solidFill>
            <a:srgbClr val="14233E"/>
          </a:solidFill>
          <a:ln w="12700">
            <a:solidFill>
              <a:srgbClr val="142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08960" y="5660136"/>
            <a:ext cx="59984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CONTEXT SUPPORTS THE STORY; IT DOES NOT MERGE THE COURSES.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41148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2D7D2"/>
                </a:solidFill>
                <a:latin typeface="Calibri"/>
              </a:rPr>
              <a:t>SECTION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170432"/>
            <a:ext cx="13258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200" b="1" i="0">
                <a:solidFill>
                  <a:srgbClr val="009B96"/>
                </a:solidFill>
                <a:latin typeface="Calibri"/>
              </a:rPr>
              <a:t>01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2011680" y="1307592"/>
            <a:ext cx="9006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300" b="1" i="0">
                <a:solidFill>
                  <a:srgbClr val="FFFFFF"/>
                </a:solidFill>
                <a:latin typeface="Calibri"/>
              </a:rPr>
              <a:t>Set up a safe AWS practice environment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0" y="2834640"/>
            <a:ext cx="8961120" cy="1280160"/>
          </a:xfrm>
          <a:prstGeom prst="roundRect">
            <a:avLst/>
          </a:prstGeom>
          <a:solidFill>
            <a:srgbClr val="17324B"/>
          </a:solidFill>
          <a:ln w="12700">
            <a:solidFill>
              <a:srgbClr val="365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67712" y="3044952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72D7D2"/>
                </a:solidFill>
                <a:latin typeface="Calibri"/>
              </a:rPr>
              <a:t>BEGINNER PROMISE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67712" y="3401568"/>
            <a:ext cx="82753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Calibri"/>
              </a:rPr>
              <a:t>You will know which identity is used, how the CLI authenticates, and how spend is bounded before any agent runs a command.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4498848"/>
            <a:ext cx="8961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CBD5E1"/>
                </a:solidFill>
                <a:latin typeface="Calibri"/>
              </a:rPr>
              <a:t>Account → IAM admin → access key → AWS CLI → budgets → verification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21792" y="6382512"/>
            <a:ext cx="10351008" cy="0"/>
          </a:xfrm>
          <a:prstGeom prst="line">
            <a:avLst/>
          </a:prstGeom>
          <a:ln w="19050">
            <a:solidFill>
              <a:srgbClr val="3651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1792" y="6473952"/>
            <a:ext cx="4754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 i="0">
                <a:solidFill>
                  <a:srgbClr val="CBD5E1"/>
                </a:solidFill>
                <a:latin typeface="Calibri"/>
              </a:rPr>
              <a:t>MODULE 07  |  AGENTIC DATA ENGINEERING WITH AMAZON 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6473952"/>
            <a:ext cx="6217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40" b="0" i="0">
                <a:solidFill>
                  <a:srgbClr val="CBD5E1"/>
                </a:solidFill>
                <a:latin typeface="Calibri"/>
              </a:rPr>
              <a:t>Core transcripts 02–11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45952" y="32004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CBD5E1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9B96"/>
                </a:solidFill>
                <a:latin typeface="Calibri"/>
              </a:rPr>
              <a:t>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556377"/>
                </a:solidFill>
                <a:latin typeface="Calibri"/>
              </a:rPr>
              <a:t>06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4233E"/>
                </a:solidFill>
                <a:latin typeface="Calibri"/>
              </a:rPr>
              <a:t>Build the environment in a deliberate sequence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25296"/>
            <a:ext cx="10561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556377"/>
                </a:solidFill>
                <a:latin typeface="Calibri"/>
              </a:rPr>
              <a:t>Each step creates a dependency for the next; skipping identity and cost checks creates avoidable risk.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65208" y="1252728"/>
            <a:ext cx="1965960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20072" y="1266444"/>
            <a:ext cx="1856231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009B96"/>
                </a:solidFill>
                <a:latin typeface="Calibri"/>
              </a:rPr>
              <a:t>TRANSCRIPT-DERIVED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0579608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663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 i="0">
                <a:solidFill>
                  <a:srgbClr val="556377"/>
                </a:solidFill>
                <a:latin typeface="Calibri"/>
              </a:rPr>
              <a:t>MODULE 07  |  AGENTIC DATA ENGINEERING WITH AMAZON 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6473952"/>
            <a:ext cx="69311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40" b="0" i="0">
                <a:solidFill>
                  <a:srgbClr val="556377"/>
                </a:solidFill>
                <a:latin typeface="Calibri"/>
              </a:rPr>
              <a:t>02-1 through 11-9 core transcripts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2359152"/>
            <a:ext cx="1944014" cy="2267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359152"/>
            <a:ext cx="73152" cy="2267712"/>
          </a:xfrm>
          <a:prstGeom prst="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" y="2578608"/>
            <a:ext cx="475488" cy="292608"/>
          </a:xfrm>
          <a:prstGeom prst="round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5" y="259232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560320"/>
            <a:ext cx="89245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Account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3182112"/>
            <a:ext cx="1486814" cy="12618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556377"/>
                </a:solidFill>
                <a:latin typeface="Calibri"/>
              </a:rPr>
              <a:t>Create or prepare the practice AWS account.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510942" y="3493008"/>
            <a:ext cx="274320" cy="0"/>
          </a:xfrm>
          <a:prstGeom prst="line">
            <a:avLst/>
          </a:prstGeom>
          <a:ln w="25400">
            <a:solidFill>
              <a:srgbClr val="5563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821838" y="2359152"/>
            <a:ext cx="1944014" cy="2267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21838" y="2359152"/>
            <a:ext cx="73152" cy="2267712"/>
          </a:xfrm>
          <a:prstGeom prst="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050438" y="2578608"/>
            <a:ext cx="475488" cy="292608"/>
          </a:xfrm>
          <a:prstGeom prst="round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05302" y="259232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44798" y="2560320"/>
            <a:ext cx="89245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Identity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50438" y="3182112"/>
            <a:ext cx="1486814" cy="12618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556377"/>
                </a:solidFill>
                <a:latin typeface="Calibri"/>
              </a:rPr>
              <a:t>Use root only to establish an admin identity.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802428" y="3493008"/>
            <a:ext cx="274320" cy="0"/>
          </a:xfrm>
          <a:prstGeom prst="line">
            <a:avLst/>
          </a:prstGeom>
          <a:ln w="25400">
            <a:solidFill>
              <a:srgbClr val="5563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113324" y="2359152"/>
            <a:ext cx="1944014" cy="2267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113324" y="2359152"/>
            <a:ext cx="73152" cy="2267712"/>
          </a:xfrm>
          <a:prstGeom prst="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341924" y="2578608"/>
            <a:ext cx="475488" cy="292608"/>
          </a:xfrm>
          <a:prstGeom prst="round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96788" y="259232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36284" y="2560320"/>
            <a:ext cx="89245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CLI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1924" y="3182112"/>
            <a:ext cx="1486814" cy="12618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556377"/>
                </a:solidFill>
                <a:latin typeface="Calibri"/>
              </a:rPr>
              <a:t>Install and configure command-line access.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093915" y="3493008"/>
            <a:ext cx="274320" cy="0"/>
          </a:xfrm>
          <a:prstGeom prst="line">
            <a:avLst/>
          </a:prstGeom>
          <a:ln w="25400">
            <a:solidFill>
              <a:srgbClr val="5563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404811" y="2359152"/>
            <a:ext cx="1944014" cy="2267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404811" y="2359152"/>
            <a:ext cx="73152" cy="2267712"/>
          </a:xfrm>
          <a:prstGeom prst="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633411" y="2578608"/>
            <a:ext cx="475488" cy="292608"/>
          </a:xfrm>
          <a:prstGeom prst="round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8275" y="259232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7771" y="2560320"/>
            <a:ext cx="89245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Budgets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33411" y="3182112"/>
            <a:ext cx="1486814" cy="12618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556377"/>
                </a:solidFill>
                <a:latin typeface="Calibri"/>
              </a:rPr>
              <a:t>Create $10, $20, and $30 alerts.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385401" y="3493008"/>
            <a:ext cx="274320" cy="0"/>
          </a:xfrm>
          <a:prstGeom prst="line">
            <a:avLst/>
          </a:prstGeom>
          <a:ln w="25400">
            <a:solidFill>
              <a:srgbClr val="5563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9696297" y="2359152"/>
            <a:ext cx="1944014" cy="2267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696297" y="2359152"/>
            <a:ext cx="73152" cy="2267712"/>
          </a:xfrm>
          <a:prstGeom prst="rect">
            <a:avLst/>
          </a:prstGeom>
          <a:solidFill>
            <a:srgbClr val="2A9160"/>
          </a:solidFill>
          <a:ln w="1270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924897" y="2578608"/>
            <a:ext cx="475488" cy="292608"/>
          </a:xfrm>
          <a:prstGeom prst="roundRect">
            <a:avLst/>
          </a:prstGeom>
          <a:solidFill>
            <a:srgbClr val="2A9160"/>
          </a:solidFill>
          <a:ln w="1270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979761" y="259232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9257" y="2560320"/>
            <a:ext cx="89245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Prove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24897" y="3182112"/>
            <a:ext cx="1486814" cy="12618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556377"/>
                </a:solidFill>
                <a:latin typeface="Calibri"/>
              </a:rPr>
              <a:t>Confirm identity, region, and readiness.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9B96"/>
                </a:solidFill>
                <a:latin typeface="Calibri"/>
              </a:rPr>
              <a:t>IDENTITY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556377"/>
                </a:solidFill>
                <a:latin typeface="Calibri"/>
              </a:rPr>
              <a:t>07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4233E"/>
                </a:solidFill>
                <a:latin typeface="Calibri"/>
              </a:rPr>
              <a:t>Root establishes access; the admin performs practice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25296"/>
            <a:ext cx="10561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556377"/>
                </a:solidFill>
                <a:latin typeface="Calibri"/>
              </a:rPr>
              <a:t>The transcript uses an admin user for learning, while real companies commonly use controlled organizational access.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65208" y="1252728"/>
            <a:ext cx="1965960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20072" y="1266444"/>
            <a:ext cx="1856231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009B96"/>
                </a:solidFill>
                <a:latin typeface="Calibri"/>
              </a:rPr>
              <a:t>TRANSCRIPT + GUIDANCE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0579608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663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 i="0">
                <a:solidFill>
                  <a:srgbClr val="556377"/>
                </a:solidFill>
                <a:latin typeface="Calibri"/>
              </a:rPr>
              <a:t>MODULE 07  |  AGENTIC DATA ENGINEERING WITH AMAZON 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6473952"/>
            <a:ext cx="69311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40" b="0" i="0">
                <a:solidFill>
                  <a:srgbClr val="556377"/>
                </a:solidFill>
                <a:latin typeface="Calibri"/>
              </a:rPr>
              <a:t>04-3, 05-35, 06-4 core transcripts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938528"/>
            <a:ext cx="3569208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938528"/>
            <a:ext cx="73152" cy="3840480"/>
          </a:xfrm>
          <a:prstGeom prst="rect">
            <a:avLst/>
          </a:prstGeom>
          <a:solidFill>
            <a:srgbClr val="C94C4C"/>
          </a:solidFill>
          <a:ln w="12700">
            <a:solidFill>
              <a:srgbClr val="C9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" y="2157984"/>
            <a:ext cx="475488" cy="292608"/>
          </a:xfrm>
          <a:prstGeom prst="roundRect">
            <a:avLst/>
          </a:prstGeom>
          <a:solidFill>
            <a:srgbClr val="C94C4C"/>
          </a:solidFill>
          <a:ln w="12700">
            <a:solidFill>
              <a:srgbClr val="C9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5" y="217170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139696"/>
            <a:ext cx="251764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Root user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2743200"/>
            <a:ext cx="3112008" cy="285292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450">
                <a:solidFill>
                  <a:srgbClr val="556377"/>
                </a:solidFill>
                <a:latin typeface="Calibri"/>
              </a:defRPr>
            </a:pPr>
            <a:r>
              <a:t>•  Reserve for account-level setup</a:t>
            </a:r>
          </a:p>
          <a:p>
            <a:pPr>
              <a:spcAft>
                <a:spcPts val="500"/>
              </a:spcAft>
              <a:defRPr sz="1450">
                <a:solidFill>
                  <a:srgbClr val="556377"/>
                </a:solidFill>
                <a:latin typeface="Calibri"/>
              </a:defRPr>
            </a:pPr>
            <a:r>
              <a:t>•  Protect with MFA</a:t>
            </a:r>
          </a:p>
          <a:p>
            <a:pPr>
              <a:spcAft>
                <a:spcPts val="500"/>
              </a:spcAft>
              <a:defRPr sz="1450">
                <a:solidFill>
                  <a:srgbClr val="556377"/>
                </a:solidFill>
                <a:latin typeface="Calibri"/>
              </a:defRPr>
            </a:pPr>
            <a:r>
              <a:t>•  Do not use for daily work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0728" y="1938528"/>
            <a:ext cx="3569208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00728" y="1938528"/>
            <a:ext cx="73152" cy="3840480"/>
          </a:xfrm>
          <a:prstGeom prst="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29328" y="2157984"/>
            <a:ext cx="475488" cy="292608"/>
          </a:xfrm>
          <a:prstGeom prst="round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84192" y="217170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3688" y="2139696"/>
            <a:ext cx="251764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Practice admin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9328" y="2743200"/>
            <a:ext cx="3112008" cy="285292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450">
                <a:solidFill>
                  <a:srgbClr val="556377"/>
                </a:solidFill>
                <a:latin typeface="Calibri"/>
              </a:defRPr>
            </a:pPr>
            <a:r>
              <a:t>•  Console + programmatic access in the learning account</a:t>
            </a:r>
          </a:p>
          <a:p>
            <a:pPr>
              <a:spcAft>
                <a:spcPts val="500"/>
              </a:spcAft>
              <a:defRPr sz="1450">
                <a:solidFill>
                  <a:srgbClr val="556377"/>
                </a:solidFill>
                <a:latin typeface="Calibri"/>
              </a:defRPr>
            </a:pPr>
            <a:r>
              <a:t>•  Know that admin is broad privilege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71104" y="1938528"/>
            <a:ext cx="3569208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71104" y="1938528"/>
            <a:ext cx="73152" cy="3840480"/>
          </a:xfrm>
          <a:prstGeom prst="rect">
            <a:avLst/>
          </a:prstGeom>
          <a:solidFill>
            <a:srgbClr val="2A9160"/>
          </a:solidFill>
          <a:ln w="1270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99704" y="2157984"/>
            <a:ext cx="475488" cy="292608"/>
          </a:xfrm>
          <a:prstGeom prst="roundRect">
            <a:avLst/>
          </a:prstGeom>
          <a:solidFill>
            <a:srgbClr val="2A9160"/>
          </a:solidFill>
          <a:ln w="1270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54568" y="217170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94064" y="2139696"/>
            <a:ext cx="251764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Company boundary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9704" y="2743200"/>
            <a:ext cx="3112008" cy="285292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450">
                <a:solidFill>
                  <a:srgbClr val="556377"/>
                </a:solidFill>
                <a:latin typeface="Calibri"/>
              </a:defRPr>
            </a:pPr>
            <a:r>
              <a:t>•  Expect SSO, roles, approvals, and least privilege</a:t>
            </a:r>
          </a:p>
          <a:p>
            <a:pPr>
              <a:spcAft>
                <a:spcPts val="500"/>
              </a:spcAft>
              <a:defRPr sz="1450">
                <a:solidFill>
                  <a:srgbClr val="556377"/>
                </a:solidFill>
                <a:latin typeface="Calibri"/>
              </a:defRPr>
            </a:pPr>
            <a:r>
              <a:t>•  Follow the employer's access model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9B96"/>
                </a:solidFill>
                <a:latin typeface="Calibri"/>
              </a:rPr>
              <a:t>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556377"/>
                </a:solidFill>
                <a:latin typeface="Calibri"/>
              </a:rPr>
              <a:t>08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4233E"/>
                </a:solidFill>
                <a:latin typeface="Calibri"/>
              </a:rPr>
              <a:t>Treat an access key like a password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25296"/>
            <a:ext cx="10561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556377"/>
                </a:solidFill>
                <a:latin typeface="Calibri"/>
              </a:rPr>
              <a:t>Programmatic access enables the CLI—and creates a credential you must control.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65208" y="1252728"/>
            <a:ext cx="1965960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20072" y="1266444"/>
            <a:ext cx="1856231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009B96"/>
                </a:solidFill>
                <a:latin typeface="Calibri"/>
              </a:rPr>
              <a:t>CURRENT SAFETY GUIDANCE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0579608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663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 i="0">
                <a:solidFill>
                  <a:srgbClr val="556377"/>
                </a:solidFill>
                <a:latin typeface="Calibri"/>
              </a:rPr>
              <a:t>MODULE 07  |  AGENTIC DATA ENGINEERING WITH AMAZON 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6473952"/>
            <a:ext cx="69311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40" b="0" i="0">
                <a:solidFill>
                  <a:srgbClr val="556377"/>
                </a:solidFill>
                <a:latin typeface="Calibri"/>
              </a:rPr>
              <a:t>08-6 core transcript + safety guidance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920240"/>
            <a:ext cx="3493008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920240"/>
            <a:ext cx="73152" cy="3794760"/>
          </a:xfrm>
          <a:prstGeom prst="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121408"/>
            <a:ext cx="2990087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CREATE INTENTIONALLY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2724912"/>
            <a:ext cx="3035808" cy="28072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450">
                <a:solidFill>
                  <a:srgbClr val="556377"/>
                </a:solidFill>
                <a:latin typeface="Calibri"/>
              </a:defRPr>
            </a:pPr>
            <a:r>
              <a:t>•  Create only for the intended practice identity</a:t>
            </a:r>
          </a:p>
          <a:p>
            <a:pPr>
              <a:spcAft>
                <a:spcPts val="500"/>
              </a:spcAft>
              <a:defRPr sz="1450">
                <a:solidFill>
                  <a:srgbClr val="556377"/>
                </a:solidFill>
                <a:latin typeface="Calibri"/>
              </a:defRPr>
            </a:pPr>
            <a:r>
              <a:t>•  Record which profile and account it belongs to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9663" y="1920240"/>
            <a:ext cx="3493008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69663" y="1920240"/>
            <a:ext cx="73152" cy="3794760"/>
          </a:xfrm>
          <a:prstGeom prst="rect">
            <a:avLst/>
          </a:prstGeom>
          <a:solidFill>
            <a:srgbClr val="C94C4C"/>
          </a:solidFill>
          <a:ln w="12700">
            <a:solidFill>
              <a:srgbClr val="C9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25696" y="2121408"/>
            <a:ext cx="2990087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STORE SAFELY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98264" y="2724912"/>
            <a:ext cx="3035808" cy="28072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450">
                <a:solidFill>
                  <a:srgbClr val="556377"/>
                </a:solidFill>
                <a:latin typeface="Calibri"/>
              </a:defRPr>
            </a:pPr>
            <a:r>
              <a:t>•  Never paste keys into chat or source control</a:t>
            </a:r>
          </a:p>
          <a:p>
            <a:pPr>
              <a:spcAft>
                <a:spcPts val="500"/>
              </a:spcAft>
              <a:defRPr sz="1450">
                <a:solidFill>
                  <a:srgbClr val="556377"/>
                </a:solidFill>
                <a:latin typeface="Calibri"/>
              </a:defRPr>
            </a:pPr>
            <a:r>
              <a:t>•  Prefer short-lived credentials when available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08975" y="1920240"/>
            <a:ext cx="3831336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08975" y="1920240"/>
            <a:ext cx="73152" cy="3794760"/>
          </a:xfrm>
          <a:prstGeom prst="rect">
            <a:avLst/>
          </a:prstGeom>
          <a:solidFill>
            <a:srgbClr val="2A9160"/>
          </a:solidFill>
          <a:ln w="1270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65007" y="2121408"/>
            <a:ext cx="332841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REMOVE WHEN DONE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37575" y="2724912"/>
            <a:ext cx="3374136" cy="28072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450">
                <a:solidFill>
                  <a:srgbClr val="556377"/>
                </a:solidFill>
                <a:latin typeface="Calibri"/>
              </a:defRPr>
            </a:pPr>
            <a:r>
              <a:t>•  Rotate or deactivate exposed credentials</a:t>
            </a:r>
          </a:p>
          <a:p>
            <a:pPr>
              <a:spcAft>
                <a:spcPts val="500"/>
              </a:spcAft>
              <a:defRPr sz="1450">
                <a:solidFill>
                  <a:srgbClr val="556377"/>
                </a:solidFill>
                <a:latin typeface="Calibri"/>
              </a:defRPr>
            </a:pPr>
            <a:r>
              <a:t>•  Delete unused keys and verify no workloads depend on them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9B96"/>
                </a:solidFill>
                <a:latin typeface="Calibri"/>
              </a:rPr>
              <a:t>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556377"/>
                </a:solidFill>
                <a:latin typeface="Calibri"/>
              </a:rPr>
              <a:t>09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4233E"/>
                </a:solidFill>
                <a:latin typeface="Calibri"/>
              </a:rPr>
              <a:t>Configure first; verify before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25296"/>
            <a:ext cx="10561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556377"/>
                </a:solidFill>
                <a:latin typeface="Calibri"/>
              </a:rPr>
              <a:t>A valid CLI profile turns agent-proposed commands into actions against a specific AWS account and region.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65208" y="1252728"/>
            <a:ext cx="1965960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20072" y="1266444"/>
            <a:ext cx="1856231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009B96"/>
                </a:solidFill>
                <a:latin typeface="Calibri"/>
              </a:rPr>
              <a:t>TRANSCRIPT + GUIDANCE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0579608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663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 i="0">
                <a:solidFill>
                  <a:srgbClr val="556377"/>
                </a:solidFill>
                <a:latin typeface="Calibri"/>
              </a:rPr>
              <a:t>MODULE 07  |  AGENTIC DATA ENGINEERING WITH AMAZON 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6473952"/>
            <a:ext cx="69311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40" b="0" i="0">
                <a:solidFill>
                  <a:srgbClr val="556377"/>
                </a:solidFill>
                <a:latin typeface="Calibri"/>
              </a:rPr>
              <a:t>07-5, 08-6, 09-7 core transcripts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2331720"/>
            <a:ext cx="2516886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331720"/>
            <a:ext cx="73152" cy="2514600"/>
          </a:xfrm>
          <a:prstGeom prst="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" y="2551176"/>
            <a:ext cx="475488" cy="292608"/>
          </a:xfrm>
          <a:prstGeom prst="round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5" y="2564892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532888"/>
            <a:ext cx="146532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Install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3154679"/>
            <a:ext cx="2059686" cy="1508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56377"/>
                </a:solidFill>
                <a:latin typeface="Calibri"/>
              </a:rPr>
              <a:t>Install AWS CLI and confirm the executable is available.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083814" y="3589020"/>
            <a:ext cx="274320" cy="0"/>
          </a:xfrm>
          <a:prstGeom prst="line">
            <a:avLst/>
          </a:prstGeom>
          <a:ln w="25400">
            <a:solidFill>
              <a:srgbClr val="5563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394710" y="2331720"/>
            <a:ext cx="2516886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94710" y="2331720"/>
            <a:ext cx="73152" cy="2514600"/>
          </a:xfrm>
          <a:prstGeom prst="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3310" y="2551176"/>
            <a:ext cx="475488" cy="292608"/>
          </a:xfrm>
          <a:prstGeom prst="round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78174" y="2564892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17670" y="2532888"/>
            <a:ext cx="146532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Configure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23310" y="3154679"/>
            <a:ext cx="2059686" cy="1508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56377"/>
                </a:solidFill>
                <a:latin typeface="Calibri"/>
              </a:rPr>
              <a:t>Enter access key, secret, default region, and output format.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48172" y="3589020"/>
            <a:ext cx="274320" cy="0"/>
          </a:xfrm>
          <a:prstGeom prst="line">
            <a:avLst/>
          </a:prstGeom>
          <a:ln w="25400">
            <a:solidFill>
              <a:srgbClr val="5563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259068" y="2331720"/>
            <a:ext cx="2516886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59068" y="2331720"/>
            <a:ext cx="73152" cy="2514600"/>
          </a:xfrm>
          <a:prstGeom prst="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87668" y="2551176"/>
            <a:ext cx="475488" cy="292608"/>
          </a:xfrm>
          <a:prstGeom prst="round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42531" y="2564892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2028" y="2532888"/>
            <a:ext cx="146532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Identify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87668" y="3154679"/>
            <a:ext cx="2059686" cy="1508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56377"/>
                </a:solidFill>
                <a:latin typeface="Calibri"/>
              </a:rPr>
              <a:t>Run sts get-caller-identity to confirm the account and principal.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812530" y="3589020"/>
            <a:ext cx="274320" cy="0"/>
          </a:xfrm>
          <a:prstGeom prst="line">
            <a:avLst/>
          </a:prstGeom>
          <a:ln w="25400">
            <a:solidFill>
              <a:srgbClr val="5563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123426" y="2331720"/>
            <a:ext cx="2516886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123426" y="2331720"/>
            <a:ext cx="73152" cy="2514600"/>
          </a:xfrm>
          <a:prstGeom prst="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352026" y="2551176"/>
            <a:ext cx="475488" cy="292608"/>
          </a:xfrm>
          <a:prstGeom prst="round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06890" y="2564892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46386" y="2532888"/>
            <a:ext cx="146532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Scope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52026" y="3154679"/>
            <a:ext cx="2059686" cy="1508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56377"/>
                </a:solidFill>
                <a:latin typeface="Calibri"/>
              </a:rPr>
              <a:t>Confirm region and profile before approving resource creation.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011680" y="5166360"/>
            <a:ext cx="8183879" cy="530352"/>
          </a:xfrm>
          <a:prstGeom prst="roundRect">
            <a:avLst/>
          </a:prstGeom>
          <a:solidFill>
            <a:srgbClr val="EAF0FD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76272" y="5303520"/>
            <a:ext cx="78455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14233E"/>
                </a:solidFill>
                <a:latin typeface="Calibri"/>
              </a:rPr>
              <a:t>A syntactically correct command can still target the wrong account or region.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9B96"/>
                </a:solidFill>
                <a:latin typeface="Calibri"/>
              </a:rPr>
              <a:t>COST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556377"/>
                </a:solidFill>
                <a:latin typeface="Calibri"/>
              </a:rPr>
              <a:t>10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4233E"/>
                </a:solidFill>
                <a:latin typeface="Calibri"/>
              </a:rPr>
              <a:t>Use layered budgets as early-warning signals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25296"/>
            <a:ext cx="10561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556377"/>
                </a:solidFill>
                <a:latin typeface="Calibri"/>
              </a:rPr>
              <a:t>The course configures three thresholds so practice spend becomes visible before it becomes surprising.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65208" y="1252728"/>
            <a:ext cx="1965960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20072" y="1266444"/>
            <a:ext cx="1856231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009B96"/>
                </a:solidFill>
                <a:latin typeface="Calibri"/>
              </a:rPr>
              <a:t>TRANSCRIPT-DERIVED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0579608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663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 i="0">
                <a:solidFill>
                  <a:srgbClr val="556377"/>
                </a:solidFill>
                <a:latin typeface="Calibri"/>
              </a:rPr>
              <a:t>MODULE 07  |  AGENTIC DATA ENGINEERING WITH AMAZON 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6473952"/>
            <a:ext cx="69311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40" b="0" i="0">
                <a:solidFill>
                  <a:srgbClr val="556377"/>
                </a:solidFill>
                <a:latin typeface="Calibri"/>
              </a:rPr>
              <a:t>10-8-vimp-set-up-three-aws-budgets-revisit.txt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2057400"/>
            <a:ext cx="2606040" cy="2606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39" y="2514600"/>
            <a:ext cx="22402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400" b="1" i="0">
                <a:solidFill>
                  <a:srgbClr val="009B96"/>
                </a:solidFill>
                <a:latin typeface="Calibri"/>
              </a:rPr>
              <a:t>$10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39" y="342900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33E"/>
                </a:solidFill>
                <a:latin typeface="Calibri"/>
              </a:rPr>
              <a:t>EARLY SIGNAL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88620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556377"/>
                </a:solidFill>
                <a:latin typeface="Calibri"/>
              </a:rPr>
              <a:t>Alert, inspect resources, and decide the next action.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2057400"/>
            <a:ext cx="2606040" cy="2606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2514600"/>
            <a:ext cx="22402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400" b="1" i="0">
                <a:solidFill>
                  <a:srgbClr val="E07736"/>
                </a:solidFill>
                <a:latin typeface="Calibri"/>
              </a:rPr>
              <a:t>$20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42900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33E"/>
                </a:solidFill>
                <a:latin typeface="Calibri"/>
              </a:rPr>
              <a:t>INVESTIGATE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88620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556377"/>
                </a:solidFill>
                <a:latin typeface="Calibri"/>
              </a:rPr>
              <a:t>Alert, inspect resources, and decide the next action.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18120" y="2057400"/>
            <a:ext cx="2606040" cy="2606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9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01000" y="2514600"/>
            <a:ext cx="22402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400" b="1" i="0">
                <a:solidFill>
                  <a:srgbClr val="C94C4C"/>
                </a:solidFill>
                <a:latin typeface="Calibri"/>
              </a:rPr>
              <a:t>$30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342900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33E"/>
                </a:solidFill>
                <a:latin typeface="Calibri"/>
              </a:rPr>
              <a:t>STOP + CLEAN 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388620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556377"/>
                </a:solidFill>
                <a:latin typeface="Calibri"/>
              </a:rPr>
              <a:t>Alert, inspect resources, and decide the next action.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074920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4233E"/>
                </a:solidFill>
                <a:latin typeface="Calibri"/>
              </a:rPr>
              <a:t>Budgets alert you; they do not automatically guarantee that spending stops.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9B96"/>
                </a:solidFill>
                <a:latin typeface="Calibri"/>
              </a:rPr>
              <a:t>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556377"/>
                </a:solidFill>
                <a:latin typeface="Calibri"/>
              </a:rPr>
              <a:t>11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4233E"/>
                </a:solidFill>
                <a:latin typeface="Calibri"/>
              </a:rPr>
              <a:t>Prove the setup before asking an agent to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25296"/>
            <a:ext cx="10561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556377"/>
                </a:solidFill>
                <a:latin typeface="Calibri"/>
              </a:rPr>
              <a:t>Pause here. If you cannot explain the identity and cost boundary, do not automate yet.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65208" y="1252728"/>
            <a:ext cx="1965960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20072" y="1266444"/>
            <a:ext cx="1856231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009B96"/>
                </a:solidFill>
                <a:latin typeface="Calibri"/>
              </a:rPr>
              <a:t>TRANSCRIPT + GUIDANCE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0579608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663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 i="0">
                <a:solidFill>
                  <a:srgbClr val="556377"/>
                </a:solidFill>
                <a:latin typeface="Calibri"/>
              </a:rPr>
              <a:t>MODULE 07  |  AGENTIC DATA ENGINEERING WITH AMAZON 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6473952"/>
            <a:ext cx="69311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40" b="0" i="0">
                <a:solidFill>
                  <a:srgbClr val="556377"/>
                </a:solidFill>
                <a:latin typeface="Calibri"/>
              </a:rPr>
              <a:t>02–11 core transcripts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828800"/>
            <a:ext cx="5230368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828800"/>
            <a:ext cx="73152" cy="3611880"/>
          </a:xfrm>
          <a:prstGeom prst="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029968"/>
            <a:ext cx="472744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YOU CAN SHOW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2633472"/>
            <a:ext cx="4773168" cy="262432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556377"/>
                </a:solidFill>
                <a:latin typeface="Calibri"/>
              </a:defRPr>
            </a:pPr>
            <a:r>
              <a:t>•  The intended AWS account and principal</a:t>
            </a:r>
          </a:p>
          <a:p>
            <a:pPr>
              <a:spcAft>
                <a:spcPts val="500"/>
              </a:spcAft>
              <a:defRPr sz="1500">
                <a:solidFill>
                  <a:srgbClr val="556377"/>
                </a:solidFill>
                <a:latin typeface="Calibri"/>
              </a:defRPr>
            </a:pPr>
            <a:r>
              <a:t>•  The configured CLI profile and region</a:t>
            </a:r>
          </a:p>
          <a:p>
            <a:pPr>
              <a:spcAft>
                <a:spcPts val="500"/>
              </a:spcAft>
              <a:defRPr sz="1500">
                <a:solidFill>
                  <a:srgbClr val="556377"/>
                </a:solidFill>
                <a:latin typeface="Calibri"/>
              </a:defRPr>
            </a:pPr>
            <a:r>
              <a:t>•  Budget alerts at $10, $20, and $30</a:t>
            </a:r>
          </a:p>
          <a:p>
            <a:pPr>
              <a:spcAft>
                <a:spcPts val="500"/>
              </a:spcAft>
              <a:defRPr sz="1500">
                <a:solidFill>
                  <a:srgbClr val="556377"/>
                </a:solidFill>
                <a:latin typeface="Calibri"/>
              </a:defRPr>
            </a:pPr>
            <a:r>
              <a:t>•  A clean folder for the project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61888" y="1828800"/>
            <a:ext cx="5678424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61888" y="1828800"/>
            <a:ext cx="73152" cy="3611880"/>
          </a:xfrm>
          <a:prstGeom prst="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2029968"/>
            <a:ext cx="517550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YOU CAN EXPLAIN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0488" y="2633472"/>
            <a:ext cx="5221224" cy="262432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556377"/>
                </a:solidFill>
                <a:latin typeface="Calibri"/>
              </a:defRPr>
            </a:pPr>
            <a:r>
              <a:t>•  Why root is not the daily identity</a:t>
            </a:r>
          </a:p>
          <a:p>
            <a:pPr>
              <a:spcAft>
                <a:spcPts val="500"/>
              </a:spcAft>
              <a:defRPr sz="1500">
                <a:solidFill>
                  <a:srgbClr val="556377"/>
                </a:solidFill>
                <a:latin typeface="Calibri"/>
              </a:defRPr>
            </a:pPr>
            <a:r>
              <a:t>•  Where credentials are stored—and not stored</a:t>
            </a:r>
          </a:p>
          <a:p>
            <a:pPr>
              <a:spcAft>
                <a:spcPts val="500"/>
              </a:spcAft>
              <a:defRPr sz="1500">
                <a:solidFill>
                  <a:srgbClr val="556377"/>
                </a:solidFill>
                <a:latin typeface="Calibri"/>
              </a:defRPr>
            </a:pPr>
            <a:r>
              <a:t>•  What an approved command is allowed to create</a:t>
            </a:r>
          </a:p>
          <a:p>
            <a:pPr>
              <a:spcAft>
                <a:spcPts val="500"/>
              </a:spcAft>
              <a:defRPr sz="1500">
                <a:solidFill>
                  <a:srgbClr val="556377"/>
                </a:solidFill>
                <a:latin typeface="Calibri"/>
              </a:defRPr>
            </a:pPr>
            <a:r>
              <a:t>•  How you will detect and clean up spend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057400" y="5596128"/>
            <a:ext cx="8065008" cy="457200"/>
          </a:xfrm>
          <a:prstGeom prst="roundRect">
            <a:avLst/>
          </a:prstGeom>
          <a:solidFill>
            <a:srgbClr val="14233E"/>
          </a:solidFill>
          <a:ln w="12700">
            <a:solidFill>
              <a:srgbClr val="142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94560" y="5687568"/>
            <a:ext cx="77906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PASS CONDITION: IDENTITY + REGION + COST BOUNDARY ARE EXPLICIT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41148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2D7D2"/>
                </a:solidFill>
                <a:latin typeface="Calibri"/>
              </a:rPr>
              <a:t>SECTION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170432"/>
            <a:ext cx="13258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200" b="1" i="0">
                <a:solidFill>
                  <a:srgbClr val="009B96"/>
                </a:solidFill>
                <a:latin typeface="Calibri"/>
              </a:rPr>
              <a:t>02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2011680" y="1307592"/>
            <a:ext cx="9006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300" b="1" i="0">
                <a:solidFill>
                  <a:srgbClr val="FFFFFF"/>
                </a:solidFill>
                <a:latin typeface="Calibri"/>
              </a:rPr>
              <a:t>Frame agentic development correctly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0" y="2834640"/>
            <a:ext cx="8961120" cy="1280160"/>
          </a:xfrm>
          <a:prstGeom prst="roundRect">
            <a:avLst/>
          </a:prstGeom>
          <a:solidFill>
            <a:srgbClr val="17324B"/>
          </a:solidFill>
          <a:ln w="12700">
            <a:solidFill>
              <a:srgbClr val="365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67712" y="3044952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72D7D2"/>
                </a:solidFill>
                <a:latin typeface="Calibri"/>
              </a:rPr>
              <a:t>BEGINNER PROMISE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67712" y="3401568"/>
            <a:ext cx="82753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Calibri"/>
              </a:rPr>
              <a:t>You will use the agent as a coding accelerator without surrendering the requirement, technical judgment, or verification.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4498848"/>
            <a:ext cx="8961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CBD5E1"/>
                </a:solidFill>
                <a:latin typeface="Calibri"/>
              </a:rPr>
              <a:t>Mental model → Kiro setup → agent mode → business requirement → prompt contract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21792" y="6382512"/>
            <a:ext cx="10351008" cy="0"/>
          </a:xfrm>
          <a:prstGeom prst="line">
            <a:avLst/>
          </a:prstGeom>
          <a:ln w="19050">
            <a:solidFill>
              <a:srgbClr val="3651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1792" y="6473952"/>
            <a:ext cx="4754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 i="0">
                <a:solidFill>
                  <a:srgbClr val="CBD5E1"/>
                </a:solidFill>
                <a:latin typeface="Calibri"/>
              </a:rPr>
              <a:t>MODULE 07  |  AGENTIC DATA ENGINEERING WITH AMAZON 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6473952"/>
            <a:ext cx="6217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40" b="0" i="0">
                <a:solidFill>
                  <a:srgbClr val="CBD5E1"/>
                </a:solidFill>
                <a:latin typeface="Calibri"/>
              </a:rPr>
              <a:t>Core transcripts 12–16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45952" y="32004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CBD5E1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9B96"/>
                </a:solidFill>
                <a:latin typeface="Calibri"/>
              </a:rPr>
              <a:t>MENTAL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556377"/>
                </a:solidFill>
                <a:latin typeface="Calibri"/>
              </a:rPr>
              <a:t>13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4233E"/>
                </a:solidFill>
                <a:latin typeface="Calibri"/>
              </a:rPr>
              <a:t>The engineer is the pilot; the agent is the copilot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25296"/>
            <a:ext cx="10561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556377"/>
                </a:solidFill>
                <a:latin typeface="Calibri"/>
              </a:rPr>
              <a:t>Amazon Q and Kiro can propose and execute work quickly, but direction and accountability stay human.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65208" y="1252728"/>
            <a:ext cx="1965960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20072" y="1266444"/>
            <a:ext cx="1856231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009B96"/>
                </a:solidFill>
                <a:latin typeface="Calibri"/>
              </a:rPr>
              <a:t>TRANSCRIPT + GUIDANCE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0579608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663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 i="0">
                <a:solidFill>
                  <a:srgbClr val="556377"/>
                </a:solidFill>
                <a:latin typeface="Calibri"/>
              </a:rPr>
              <a:t>MODULE 07  |  AGENTIC DATA ENGINEERING WITH AMAZON 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6473952"/>
            <a:ext cx="69311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40" b="0" i="0">
                <a:solidFill>
                  <a:srgbClr val="556377"/>
                </a:solidFill>
                <a:latin typeface="Calibri"/>
              </a:rPr>
              <a:t>12-1, 15-4, 19-3, 21-5 core transcripts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1965960"/>
            <a:ext cx="516636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3232" y="1965960"/>
            <a:ext cx="73152" cy="3611880"/>
          </a:xfrm>
          <a:prstGeom prst="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167128"/>
            <a:ext cx="46634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ENGINEER / PILOT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770632"/>
            <a:ext cx="4709160" cy="262432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556377"/>
                </a:solidFill>
                <a:latin typeface="Calibri"/>
              </a:defRPr>
            </a:pPr>
            <a:r>
              <a:t>•  Own the business requirement</a:t>
            </a:r>
          </a:p>
          <a:p>
            <a:pPr>
              <a:spcAft>
                <a:spcPts val="500"/>
              </a:spcAft>
              <a:defRPr sz="1500">
                <a:solidFill>
                  <a:srgbClr val="556377"/>
                </a:solidFill>
                <a:latin typeface="Calibri"/>
              </a:defRPr>
            </a:pPr>
            <a:r>
              <a:t>•  Set constraints and approve actions</a:t>
            </a:r>
          </a:p>
          <a:p>
            <a:pPr>
              <a:spcAft>
                <a:spcPts val="500"/>
              </a:spcAft>
              <a:defRPr sz="1500">
                <a:solidFill>
                  <a:srgbClr val="556377"/>
                </a:solidFill>
                <a:latin typeface="Calibri"/>
              </a:defRPr>
            </a:pPr>
            <a:r>
              <a:t>•  Interpret evidence and accept the outcome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965960"/>
            <a:ext cx="516636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965960"/>
            <a:ext cx="73152" cy="3611880"/>
          </a:xfrm>
          <a:prstGeom prst="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2" y="2167128"/>
            <a:ext cx="46634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AI / COPILOT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770632"/>
            <a:ext cx="4709160" cy="262432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556377"/>
                </a:solidFill>
                <a:latin typeface="Calibri"/>
              </a:defRPr>
            </a:pPr>
            <a:r>
              <a:t>•  Suggest an approach</a:t>
            </a:r>
          </a:p>
          <a:p>
            <a:pPr>
              <a:spcAft>
                <a:spcPts val="500"/>
              </a:spcAft>
              <a:defRPr sz="1500">
                <a:solidFill>
                  <a:srgbClr val="556377"/>
                </a:solidFill>
                <a:latin typeface="Calibri"/>
              </a:defRPr>
            </a:pPr>
            <a:r>
              <a:t>•  Generate code, IaC, and commands</a:t>
            </a:r>
          </a:p>
          <a:p>
            <a:pPr>
              <a:spcAft>
                <a:spcPts val="500"/>
              </a:spcAft>
              <a:defRPr sz="1500">
                <a:solidFill>
                  <a:srgbClr val="556377"/>
                </a:solidFill>
                <a:latin typeface="Calibri"/>
              </a:defRPr>
            </a:pPr>
            <a:r>
              <a:t>•  Explain, diagnose, and revise from evidence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97880" y="3730752"/>
            <a:ext cx="365760" cy="0"/>
          </a:xfrm>
          <a:prstGeom prst="line">
            <a:avLst/>
          </a:prstGeom>
          <a:ln w="25400">
            <a:solidFill>
              <a:srgbClr val="5563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005072" y="5715000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C94C4C"/>
                </a:solidFill>
                <a:latin typeface="Calibri"/>
              </a:rPr>
              <a:t>FAST OUTPUT ≠ TRANSFERRED ACCOUNTABILITY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9B96"/>
                </a:solidFill>
                <a:latin typeface="Calibri"/>
              </a:rPr>
              <a:t>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556377"/>
                </a:solidFill>
                <a:latin typeface="Calibri"/>
              </a:rPr>
              <a:t>14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4233E"/>
                </a:solidFill>
                <a:latin typeface="Calibri"/>
              </a:rPr>
              <a:t>AI lowers the coding barrier—not the thinking barrier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25296"/>
            <a:ext cx="10561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556377"/>
                </a:solidFill>
                <a:latin typeface="Calibri"/>
              </a:rPr>
              <a:t>The transcript repeatedly returns to concepts: you must understand enough to direct, inspect, and explain.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65208" y="1252728"/>
            <a:ext cx="1965960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20072" y="1266444"/>
            <a:ext cx="1856231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009B96"/>
                </a:solidFill>
                <a:latin typeface="Calibri"/>
              </a:rPr>
              <a:t>TRANSCRIPT-DERIVED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0579608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663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 i="0">
                <a:solidFill>
                  <a:srgbClr val="556377"/>
                </a:solidFill>
                <a:latin typeface="Calibri"/>
              </a:rPr>
              <a:t>MODULE 07  |  AGENTIC DATA ENGINEERING WITH AMAZON 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6473952"/>
            <a:ext cx="69311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40" b="0" i="0">
                <a:solidFill>
                  <a:srgbClr val="556377"/>
                </a:solidFill>
                <a:latin typeface="Calibri"/>
              </a:rPr>
              <a:t>12-1 and 21-5 core transcripts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2084831"/>
            <a:ext cx="2654046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84831"/>
            <a:ext cx="73152" cy="3429000"/>
          </a:xfrm>
          <a:prstGeom prst="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" y="2304287"/>
            <a:ext cx="475488" cy="292608"/>
          </a:xfrm>
          <a:prstGeom prst="round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5" y="2318003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286000"/>
            <a:ext cx="160248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2907791"/>
            <a:ext cx="2196846" cy="24231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556377"/>
                </a:solidFill>
                <a:latin typeface="Calibri"/>
              </a:rPr>
              <a:t>Reason about data, joins, validation, and analyst needs.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48990" y="2084831"/>
            <a:ext cx="2654046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48990" y="2084831"/>
            <a:ext cx="73152" cy="3429000"/>
          </a:xfrm>
          <a:prstGeom prst="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577590" y="2304287"/>
            <a:ext cx="475488" cy="292608"/>
          </a:xfrm>
          <a:prstGeom prst="round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32454" y="2318003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71950" y="2286000"/>
            <a:ext cx="160248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Python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77590" y="2907791"/>
            <a:ext cx="2196846" cy="24231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556377"/>
                </a:solidFill>
                <a:latin typeface="Calibri"/>
              </a:rPr>
              <a:t>Read generated logic, dependencies, errors, and control flow.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67628" y="2084831"/>
            <a:ext cx="2654046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67628" y="2084831"/>
            <a:ext cx="73152" cy="3429000"/>
          </a:xfrm>
          <a:prstGeom prst="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96228" y="2304287"/>
            <a:ext cx="475488" cy="292608"/>
          </a:xfrm>
          <a:prstGeom prst="round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51092" y="2318003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0588" y="2286000"/>
            <a:ext cx="160248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AWS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6228" y="2907791"/>
            <a:ext cx="2196846" cy="24231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556377"/>
                </a:solidFill>
                <a:latin typeface="Calibri"/>
              </a:rPr>
              <a:t>Choose services, identities, regions, and cost controls.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86266" y="2084831"/>
            <a:ext cx="2654046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986266" y="2084831"/>
            <a:ext cx="73152" cy="3429000"/>
          </a:xfrm>
          <a:prstGeom prst="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214866" y="2304287"/>
            <a:ext cx="475488" cy="292608"/>
          </a:xfrm>
          <a:prstGeom prst="round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69730" y="2318003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09226" y="2286000"/>
            <a:ext cx="160248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Architecture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14866" y="2907791"/>
            <a:ext cx="2196846" cy="24231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556377"/>
                </a:solidFill>
                <a:latin typeface="Calibri"/>
              </a:rPr>
              <a:t>Explain boundaries, data flow, failure modes, and trade-offs.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34440" y="5669280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14233E"/>
                </a:solidFill>
                <a:latin typeface="Calibri"/>
              </a:rPr>
              <a:t>The stronger your concepts, the better your prompts—and the safer your approvals.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9B96"/>
                </a:solidFill>
                <a:latin typeface="Calibri"/>
              </a:rPr>
              <a:t>KIRO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556377"/>
                </a:solidFill>
                <a:latin typeface="Calibri"/>
              </a:rPr>
              <a:t>15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4233E"/>
                </a:solidFill>
                <a:latin typeface="Calibri"/>
              </a:rPr>
              <a:t>Install Kiro and sign in with an AWS Builder 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25296"/>
            <a:ext cx="10561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556377"/>
                </a:solidFill>
                <a:latin typeface="Calibri"/>
              </a:rPr>
              <a:t>The setup creates the workspace where chat, files, and terminal actions become one development loop.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65208" y="1252728"/>
            <a:ext cx="1965960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20072" y="1266444"/>
            <a:ext cx="1856231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009B96"/>
                </a:solidFill>
                <a:latin typeface="Calibri"/>
              </a:rPr>
              <a:t>TRANSCRIPT-DERIVED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0579608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663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 i="0">
                <a:solidFill>
                  <a:srgbClr val="556377"/>
                </a:solidFill>
                <a:latin typeface="Calibri"/>
              </a:rPr>
              <a:t>MODULE 07  |  AGENTIC DATA ENGINEERING WITH AMAZON 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6473952"/>
            <a:ext cx="69311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40" b="0" i="0">
                <a:solidFill>
                  <a:srgbClr val="556377"/>
                </a:solidFill>
                <a:latin typeface="Calibri"/>
              </a:rPr>
              <a:t>14-3-kiro-installation-and-setup-by-hema-revisit.txt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2395728"/>
            <a:ext cx="2516886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395728"/>
            <a:ext cx="73152" cy="2331720"/>
          </a:xfrm>
          <a:prstGeom prst="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" y="2615184"/>
            <a:ext cx="475488" cy="292608"/>
          </a:xfrm>
          <a:prstGeom prst="round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5" y="262890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596896"/>
            <a:ext cx="146532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Install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3218688"/>
            <a:ext cx="2059686" cy="132587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56377"/>
                </a:solidFill>
                <a:latin typeface="Calibri"/>
              </a:rPr>
              <a:t>Download and install Kiro for the workstation.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083814" y="3561588"/>
            <a:ext cx="274320" cy="0"/>
          </a:xfrm>
          <a:prstGeom prst="line">
            <a:avLst/>
          </a:prstGeom>
          <a:ln w="25400">
            <a:solidFill>
              <a:srgbClr val="5563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394710" y="2395728"/>
            <a:ext cx="2516886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94710" y="2395728"/>
            <a:ext cx="73152" cy="2331720"/>
          </a:xfrm>
          <a:prstGeom prst="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3310" y="2615184"/>
            <a:ext cx="475488" cy="292608"/>
          </a:xfrm>
          <a:prstGeom prst="round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78174" y="262890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17670" y="2596896"/>
            <a:ext cx="146532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Sign 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23310" y="3218688"/>
            <a:ext cx="2059686" cy="132587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56377"/>
                </a:solidFill>
                <a:latin typeface="Calibri"/>
              </a:rPr>
              <a:t>Use an AWS Builder ID for the developer experience.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48172" y="3561588"/>
            <a:ext cx="274320" cy="0"/>
          </a:xfrm>
          <a:prstGeom prst="line">
            <a:avLst/>
          </a:prstGeom>
          <a:ln w="25400">
            <a:solidFill>
              <a:srgbClr val="5563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259068" y="2395728"/>
            <a:ext cx="2516886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59068" y="2395728"/>
            <a:ext cx="73152" cy="2331720"/>
          </a:xfrm>
          <a:prstGeom prst="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87668" y="2615184"/>
            <a:ext cx="475488" cy="292608"/>
          </a:xfrm>
          <a:prstGeom prst="round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42531" y="262890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2028" y="2596896"/>
            <a:ext cx="146532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Open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87668" y="3218688"/>
            <a:ext cx="2059686" cy="132587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56377"/>
                </a:solidFill>
                <a:latin typeface="Calibri"/>
              </a:rPr>
              <a:t>Create or open the project folder in Kiro.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812530" y="3561588"/>
            <a:ext cx="274320" cy="0"/>
          </a:xfrm>
          <a:prstGeom prst="line">
            <a:avLst/>
          </a:prstGeom>
          <a:ln w="25400">
            <a:solidFill>
              <a:srgbClr val="5563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123426" y="2395728"/>
            <a:ext cx="2516886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123426" y="2395728"/>
            <a:ext cx="73152" cy="2331720"/>
          </a:xfrm>
          <a:prstGeom prst="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352026" y="2615184"/>
            <a:ext cx="475488" cy="292608"/>
          </a:xfrm>
          <a:prstGeom prst="round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06890" y="262890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46386" y="2596896"/>
            <a:ext cx="146532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Confirm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52026" y="3218688"/>
            <a:ext cx="2059686" cy="132587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56377"/>
                </a:solidFill>
                <a:latin typeface="Calibri"/>
              </a:rPr>
              <a:t>Verify chat and agent capabilities are available.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023360" y="5257800"/>
            <a:ext cx="4160520" cy="292608"/>
          </a:xfrm>
          <a:prstGeom prst="roundRect">
            <a:avLst/>
          </a:prstGeom>
          <a:solidFill>
            <a:srgbClr val="F0ECF8"/>
          </a:solidFill>
          <a:ln w="12700">
            <a:solidFill>
              <a:srgbClr val="F0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078224" y="5271516"/>
            <a:ext cx="4050791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F52B8"/>
                </a:solidFill>
                <a:latin typeface="Calibri"/>
              </a:rPr>
              <a:t>TERMINOLOGY NORMALIZED: “CAIRO” → KIRO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9B96"/>
                </a:solidFill>
                <a:latin typeface="Calibri"/>
              </a:rPr>
              <a:t>AGENT MODE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556377"/>
                </a:solidFill>
                <a:latin typeface="Calibri"/>
              </a:rPr>
              <a:t>16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4233E"/>
                </a:solidFill>
                <a:latin typeface="Calibri"/>
              </a:rPr>
              <a:t>Start with a small, visible workspace change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25296"/>
            <a:ext cx="10561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556377"/>
                </a:solidFill>
                <a:latin typeface="Calibri"/>
              </a:rPr>
              <a:t>The quick demo shows the agent proposing folders and commands while the learner observes and approves.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65208" y="1252728"/>
            <a:ext cx="1965960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20072" y="1266444"/>
            <a:ext cx="1856231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009B96"/>
                </a:solidFill>
                <a:latin typeface="Calibri"/>
              </a:rPr>
              <a:t>TRANSCRIPT-DERIVED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0579608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663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 i="0">
                <a:solidFill>
                  <a:srgbClr val="556377"/>
                </a:solidFill>
                <a:latin typeface="Calibri"/>
              </a:rPr>
              <a:t>MODULE 07  |  AGENTIC DATA ENGINEERING WITH AMAZON 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6473952"/>
            <a:ext cx="69311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40" b="0" i="0">
                <a:solidFill>
                  <a:srgbClr val="556377"/>
                </a:solidFill>
                <a:latin typeface="Calibri"/>
              </a:rPr>
              <a:t>15-4-amazon-q-developer-quick-demo-revisit.txt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2286000"/>
            <a:ext cx="3471672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286000"/>
            <a:ext cx="73152" cy="2514600"/>
          </a:xfrm>
          <a:prstGeom prst="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" y="2505456"/>
            <a:ext cx="475488" cy="292608"/>
          </a:xfrm>
          <a:prstGeom prst="round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5" y="2519172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487168"/>
            <a:ext cx="242011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Ask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3108960"/>
            <a:ext cx="3014472" cy="1508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56377"/>
                </a:solidFill>
                <a:latin typeface="Calibri"/>
              </a:rPr>
              <a:t>Request a simple project structure for the data-engineering use case.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038600" y="3543300"/>
            <a:ext cx="274320" cy="0"/>
          </a:xfrm>
          <a:prstGeom prst="line">
            <a:avLst/>
          </a:prstGeom>
          <a:ln w="25400">
            <a:solidFill>
              <a:srgbClr val="5563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349496" y="2286000"/>
            <a:ext cx="3471672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9496" y="2286000"/>
            <a:ext cx="73152" cy="2514600"/>
          </a:xfrm>
          <a:prstGeom prst="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78096" y="2505456"/>
            <a:ext cx="475488" cy="292608"/>
          </a:xfrm>
          <a:prstGeom prst="round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32960" y="2519172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2456" y="2487168"/>
            <a:ext cx="242011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Inspect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8096" y="3108960"/>
            <a:ext cx="3014472" cy="1508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56377"/>
                </a:solidFill>
                <a:latin typeface="Calibri"/>
              </a:rPr>
              <a:t>Review proposed infrastructure and src/glue folders.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857744" y="3543300"/>
            <a:ext cx="274320" cy="0"/>
          </a:xfrm>
          <a:prstGeom prst="line">
            <a:avLst/>
          </a:prstGeom>
          <a:ln w="25400">
            <a:solidFill>
              <a:srgbClr val="5563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168640" y="2286000"/>
            <a:ext cx="3471672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68640" y="2286000"/>
            <a:ext cx="73152" cy="2514600"/>
          </a:xfrm>
          <a:prstGeom prst="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397240" y="2505456"/>
            <a:ext cx="475488" cy="292608"/>
          </a:xfrm>
          <a:prstGeom prst="round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52104" y="2519172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91600" y="2487168"/>
            <a:ext cx="242011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Approve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7240" y="3108960"/>
            <a:ext cx="3014472" cy="1508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56377"/>
                </a:solidFill>
                <a:latin typeface="Calibri"/>
              </a:rPr>
              <a:t>Allow only the commands you understand and intend.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828800" y="5120640"/>
            <a:ext cx="8549640" cy="594360"/>
          </a:xfrm>
          <a:prstGeom prst="roundRect">
            <a:avLst/>
          </a:prstGeom>
          <a:solidFill>
            <a:srgbClr val="FBF0E9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057400" y="5276088"/>
            <a:ext cx="8092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4233E"/>
                </a:solidFill>
                <a:latin typeface="Calibri"/>
              </a:rPr>
              <a:t>A useful first task is bounded, reversible, and easy to verify in the file tree.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9B96"/>
                </a:solidFill>
                <a:latin typeface="Calibri"/>
              </a:rPr>
              <a:t>REQUIREMENT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556377"/>
                </a:solidFill>
                <a:latin typeface="Calibri"/>
              </a:rPr>
              <a:t>17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4233E"/>
                </a:solidFill>
                <a:latin typeface="Calibri"/>
              </a:rPr>
              <a:t>Frame the NYC TLC ingestion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25296"/>
            <a:ext cx="10561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556377"/>
                </a:solidFill>
                <a:latin typeface="Calibri"/>
              </a:rPr>
              <a:t>The project asks for public Parquet data to land in an AWS data lake—not merely for code to be generated.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65208" y="1252728"/>
            <a:ext cx="1965960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20072" y="1266444"/>
            <a:ext cx="1856231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009B96"/>
                </a:solidFill>
                <a:latin typeface="Calibri"/>
              </a:rPr>
              <a:t>TRANSCRIPT-DERIVED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0579608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663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 i="0">
                <a:solidFill>
                  <a:srgbClr val="556377"/>
                </a:solidFill>
                <a:latin typeface="Calibri"/>
              </a:rPr>
              <a:t>MODULE 07  |  AGENTIC DATA ENGINEERING WITH AMAZON 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6473952"/>
            <a:ext cx="69311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40" b="0" i="0">
                <a:solidFill>
                  <a:srgbClr val="556377"/>
                </a:solidFill>
                <a:latin typeface="Calibri"/>
              </a:rPr>
              <a:t>16-5-requirements-of-the-data-engineering-project-revisit.txt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874519"/>
            <a:ext cx="365760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874519"/>
            <a:ext cx="73152" cy="3931920"/>
          </a:xfrm>
          <a:prstGeom prst="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075688"/>
            <a:ext cx="31546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2679191"/>
            <a:ext cx="3200400" cy="29443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450">
                <a:solidFill>
                  <a:srgbClr val="556377"/>
                </a:solidFill>
                <a:latin typeface="Calibri"/>
              </a:defRPr>
            </a:pPr>
            <a:r>
              <a:t>•  NYC Taxi &amp; Limousine Commission data</a:t>
            </a:r>
          </a:p>
          <a:p>
            <a:pPr>
              <a:spcAft>
                <a:spcPts val="500"/>
              </a:spcAft>
              <a:defRPr sz="1450">
                <a:solidFill>
                  <a:srgbClr val="556377"/>
                </a:solidFill>
                <a:latin typeface="Calibri"/>
              </a:defRPr>
            </a:pPr>
            <a:r>
              <a:t>•  Publicly reachable Parquet files</a:t>
            </a:r>
          </a:p>
          <a:p>
            <a:pPr>
              <a:spcAft>
                <a:spcPts val="500"/>
              </a:spcAft>
              <a:defRPr sz="1450">
                <a:solidFill>
                  <a:srgbClr val="556377"/>
                </a:solidFill>
                <a:latin typeface="Calibri"/>
              </a:defRPr>
            </a:pPr>
            <a:r>
              <a:t>•  Time period must be explicit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70248" y="1874519"/>
            <a:ext cx="365760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70248" y="1874519"/>
            <a:ext cx="73152" cy="3931920"/>
          </a:xfrm>
          <a:prstGeom prst="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2075688"/>
            <a:ext cx="31546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2679191"/>
            <a:ext cx="3200400" cy="29443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450">
                <a:solidFill>
                  <a:srgbClr val="556377"/>
                </a:solidFill>
                <a:latin typeface="Calibri"/>
              </a:defRPr>
            </a:pPr>
            <a:r>
              <a:t>•  A uniquely named S3 bucket</a:t>
            </a:r>
          </a:p>
          <a:p>
            <a:pPr>
              <a:spcAft>
                <a:spcPts val="500"/>
              </a:spcAft>
              <a:defRPr sz="1450">
                <a:solidFill>
                  <a:srgbClr val="556377"/>
                </a:solidFill>
                <a:latin typeface="Calibri"/>
              </a:defRPr>
            </a:pPr>
            <a:r>
              <a:t>•  A deliberate prefix/folder layout</a:t>
            </a:r>
          </a:p>
          <a:p>
            <a:pPr>
              <a:spcAft>
                <a:spcPts val="500"/>
              </a:spcAft>
              <a:defRPr sz="1450">
                <a:solidFill>
                  <a:srgbClr val="556377"/>
                </a:solidFill>
                <a:latin typeface="Calibri"/>
              </a:defRPr>
            </a:pPr>
            <a:r>
              <a:t>•  Correct account and region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10144" y="1874519"/>
            <a:ext cx="3630168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0144" y="1874519"/>
            <a:ext cx="73152" cy="3931920"/>
          </a:xfrm>
          <a:prstGeom prst="rect">
            <a:avLst/>
          </a:prstGeom>
          <a:solidFill>
            <a:srgbClr val="2A9160"/>
          </a:solidFill>
          <a:ln w="1270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6175" y="2075688"/>
            <a:ext cx="312724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PROOF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2679191"/>
            <a:ext cx="3172968" cy="29443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450">
                <a:solidFill>
                  <a:srgbClr val="556377"/>
                </a:solidFill>
                <a:latin typeface="Calibri"/>
              </a:defRPr>
            </a:pPr>
            <a:r>
              <a:t>•  Glue job completes</a:t>
            </a:r>
          </a:p>
          <a:p>
            <a:pPr>
              <a:spcAft>
                <a:spcPts val="500"/>
              </a:spcAft>
              <a:defRPr sz="1450">
                <a:solidFill>
                  <a:srgbClr val="556377"/>
                </a:solidFill>
                <a:latin typeface="Calibri"/>
              </a:defRPr>
            </a:pPr>
            <a:r>
              <a:t>•  Expected objects appear in S3</a:t>
            </a:r>
          </a:p>
          <a:p>
            <a:pPr>
              <a:spcAft>
                <a:spcPts val="500"/>
              </a:spcAft>
              <a:defRPr sz="1450">
                <a:solidFill>
                  <a:srgbClr val="556377"/>
                </a:solidFill>
                <a:latin typeface="Calibri"/>
              </a:defRPr>
            </a:pPr>
            <a:r>
              <a:t>•  Files and run evidence are inspected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9B96"/>
                </a:solidFill>
                <a:latin typeface="Calibri"/>
              </a:rPr>
              <a:t>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556377"/>
                </a:solidFill>
                <a:latin typeface="Calibri"/>
              </a:rPr>
              <a:t>18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4233E"/>
                </a:solidFill>
                <a:latin typeface="Calibri"/>
              </a:rPr>
              <a:t>Connect each noun to its role in the data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25296"/>
            <a:ext cx="10561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556377"/>
                </a:solidFill>
                <a:latin typeface="Calibri"/>
              </a:rPr>
              <a:t>Understanding the system lets you challenge an agent response instead of treating it as magic.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65208" y="1252728"/>
            <a:ext cx="1965960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20072" y="1266444"/>
            <a:ext cx="1856231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009B96"/>
                </a:solidFill>
                <a:latin typeface="Calibri"/>
              </a:rPr>
              <a:t>TRANSCRIPT + GUIDANCE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0579608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663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 i="0">
                <a:solidFill>
                  <a:srgbClr val="556377"/>
                </a:solidFill>
                <a:latin typeface="Calibri"/>
              </a:rPr>
              <a:t>MODULE 07  |  AGENTIC DATA ENGINEERING WITH AMAZON 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6473952"/>
            <a:ext cx="69311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40" b="0" i="0">
                <a:solidFill>
                  <a:srgbClr val="556377"/>
                </a:solidFill>
                <a:latin typeface="Calibri"/>
              </a:rPr>
              <a:t>16-5 through 19-3 core transcripts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2331720"/>
            <a:ext cx="1944014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331720"/>
            <a:ext cx="73152" cy="2331720"/>
          </a:xfrm>
          <a:prstGeom prst="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" y="2551176"/>
            <a:ext cx="475488" cy="292608"/>
          </a:xfrm>
          <a:prstGeom prst="round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5" y="2564892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532888"/>
            <a:ext cx="89245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Source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3154679"/>
            <a:ext cx="1486814" cy="132587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556377"/>
                </a:solidFill>
                <a:latin typeface="Calibri"/>
              </a:rPr>
              <a:t>NYC TLC publishes the data.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510942" y="3497579"/>
            <a:ext cx="274320" cy="0"/>
          </a:xfrm>
          <a:prstGeom prst="line">
            <a:avLst/>
          </a:prstGeom>
          <a:ln w="25400">
            <a:solidFill>
              <a:srgbClr val="5563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821838" y="2331720"/>
            <a:ext cx="1944014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21838" y="2331720"/>
            <a:ext cx="73152" cy="2331720"/>
          </a:xfrm>
          <a:prstGeom prst="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050438" y="2551176"/>
            <a:ext cx="475488" cy="292608"/>
          </a:xfrm>
          <a:prstGeom prst="round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05302" y="2564892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44798" y="2532888"/>
            <a:ext cx="89245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Parquet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50438" y="3154679"/>
            <a:ext cx="1486814" cy="132587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556377"/>
                </a:solidFill>
                <a:latin typeface="Calibri"/>
              </a:rPr>
              <a:t>Columnar files carry the dataset.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802428" y="3497579"/>
            <a:ext cx="274320" cy="0"/>
          </a:xfrm>
          <a:prstGeom prst="line">
            <a:avLst/>
          </a:prstGeom>
          <a:ln w="25400">
            <a:solidFill>
              <a:srgbClr val="5563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113324" y="2331720"/>
            <a:ext cx="1944014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113324" y="2331720"/>
            <a:ext cx="73152" cy="2331720"/>
          </a:xfrm>
          <a:prstGeom prst="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341924" y="2551176"/>
            <a:ext cx="475488" cy="292608"/>
          </a:xfrm>
          <a:prstGeom prst="round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96788" y="2564892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36284" y="2532888"/>
            <a:ext cx="89245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CloudFront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1924" y="3154679"/>
            <a:ext cx="1486814" cy="132587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556377"/>
                </a:solidFill>
                <a:latin typeface="Calibri"/>
              </a:rPr>
              <a:t>A delivery URL exposes the files.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093915" y="3497579"/>
            <a:ext cx="274320" cy="0"/>
          </a:xfrm>
          <a:prstGeom prst="line">
            <a:avLst/>
          </a:prstGeom>
          <a:ln w="25400">
            <a:solidFill>
              <a:srgbClr val="5563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404811" y="2331720"/>
            <a:ext cx="1944014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404811" y="2331720"/>
            <a:ext cx="73152" cy="2331720"/>
          </a:xfrm>
          <a:prstGeom prst="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633411" y="2551176"/>
            <a:ext cx="475488" cy="292608"/>
          </a:xfrm>
          <a:prstGeom prst="round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8275" y="2564892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7771" y="2532888"/>
            <a:ext cx="89245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Glue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33411" y="3154679"/>
            <a:ext cx="1486814" cy="132587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556377"/>
                </a:solidFill>
                <a:latin typeface="Calibri"/>
              </a:rPr>
              <a:t>Python Shell runs ingestion logic.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385401" y="3497579"/>
            <a:ext cx="274320" cy="0"/>
          </a:xfrm>
          <a:prstGeom prst="line">
            <a:avLst/>
          </a:prstGeom>
          <a:ln w="25400">
            <a:solidFill>
              <a:srgbClr val="5563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9696297" y="2331720"/>
            <a:ext cx="1944014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696297" y="2331720"/>
            <a:ext cx="73152" cy="2331720"/>
          </a:xfrm>
          <a:prstGeom prst="rect">
            <a:avLst/>
          </a:prstGeom>
          <a:solidFill>
            <a:srgbClr val="2A9160"/>
          </a:solidFill>
          <a:ln w="1270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924897" y="2551176"/>
            <a:ext cx="475488" cy="292608"/>
          </a:xfrm>
          <a:prstGeom prst="roundRect">
            <a:avLst/>
          </a:prstGeom>
          <a:solidFill>
            <a:srgbClr val="2A9160"/>
          </a:solidFill>
          <a:ln w="1270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979761" y="2564892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9257" y="2532888"/>
            <a:ext cx="89245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S3 lake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24897" y="3154679"/>
            <a:ext cx="1486814" cy="132587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556377"/>
                </a:solidFill>
                <a:latin typeface="Calibri"/>
              </a:rPr>
              <a:t>Durable objects become the landing zone.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43000" y="5138928"/>
            <a:ext cx="99212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556377"/>
                </a:solidFill>
                <a:latin typeface="Calibri"/>
              </a:rPr>
              <a:t>The Glue job moves bytes; later catalog, crawler, Athena, and transformation steps make the data analytically useful.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9B96"/>
                </a:solidFill>
                <a:latin typeface="Calibri"/>
              </a:rPr>
              <a:t>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556377"/>
                </a:solidFill>
                <a:latin typeface="Calibri"/>
              </a:rPr>
              <a:t>19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4233E"/>
                </a:solidFill>
                <a:latin typeface="Calibri"/>
              </a:rPr>
              <a:t>Give the agent a prompt contract—not a vague wish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25296"/>
            <a:ext cx="10561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556377"/>
                </a:solidFill>
                <a:latin typeface="Calibri"/>
              </a:rPr>
              <a:t>A strong request names the outcome, environment, constraints, artifacts, and verification evidence.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65208" y="1252728"/>
            <a:ext cx="1965960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20072" y="1266444"/>
            <a:ext cx="1856231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009B96"/>
                </a:solidFill>
                <a:latin typeface="Calibri"/>
              </a:rPr>
              <a:t>TRANSCRIPT + GUIDANCE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0579608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663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 i="0">
                <a:solidFill>
                  <a:srgbClr val="556377"/>
                </a:solidFill>
                <a:latin typeface="Calibri"/>
              </a:rPr>
              <a:t>MODULE 07  |  AGENTIC DATA ENGINEERING WITH AMAZON 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6473952"/>
            <a:ext cx="69311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40" b="0" i="0">
                <a:solidFill>
                  <a:srgbClr val="556377"/>
                </a:solidFill>
                <a:latin typeface="Calibri"/>
              </a:rPr>
              <a:t>16-5, 17-1, 18-2, 19-3 core transcripts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2249424"/>
            <a:ext cx="1944014" cy="2487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249424"/>
            <a:ext cx="73152" cy="2487168"/>
          </a:xfrm>
          <a:prstGeom prst="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" y="2468880"/>
            <a:ext cx="475488" cy="292608"/>
          </a:xfrm>
          <a:prstGeom prst="round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5" y="2482596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450592"/>
            <a:ext cx="89245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Outcome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3072384"/>
            <a:ext cx="1486814" cy="1481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556377"/>
                </a:solidFill>
                <a:latin typeface="Calibri"/>
              </a:rPr>
              <a:t>What data must exist where?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510942" y="3493008"/>
            <a:ext cx="274320" cy="0"/>
          </a:xfrm>
          <a:prstGeom prst="line">
            <a:avLst/>
          </a:prstGeom>
          <a:ln w="25400">
            <a:solidFill>
              <a:srgbClr val="5563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821838" y="2249424"/>
            <a:ext cx="1944014" cy="2487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21838" y="2249424"/>
            <a:ext cx="73152" cy="2487168"/>
          </a:xfrm>
          <a:prstGeom prst="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050438" y="2468880"/>
            <a:ext cx="475488" cy="292608"/>
          </a:xfrm>
          <a:prstGeom prst="round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05302" y="2482596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44798" y="2450592"/>
            <a:ext cx="89245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Context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50438" y="3072384"/>
            <a:ext cx="1486814" cy="1481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556377"/>
                </a:solidFill>
                <a:latin typeface="Calibri"/>
              </a:rPr>
              <a:t>Which account, region, folder, and services?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802428" y="3493008"/>
            <a:ext cx="274320" cy="0"/>
          </a:xfrm>
          <a:prstGeom prst="line">
            <a:avLst/>
          </a:prstGeom>
          <a:ln w="25400">
            <a:solidFill>
              <a:srgbClr val="5563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113324" y="2249424"/>
            <a:ext cx="1944014" cy="2487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113324" y="2249424"/>
            <a:ext cx="73152" cy="2487168"/>
          </a:xfrm>
          <a:prstGeom prst="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341924" y="2468880"/>
            <a:ext cx="475488" cy="292608"/>
          </a:xfrm>
          <a:prstGeom prst="round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96788" y="2482596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36284" y="2450592"/>
            <a:ext cx="89245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Constraints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1924" y="3072384"/>
            <a:ext cx="1486814" cy="1481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556377"/>
                </a:solidFill>
                <a:latin typeface="Calibri"/>
              </a:rPr>
              <a:t>What must not be exposed or over-provisioned?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093915" y="3493008"/>
            <a:ext cx="274320" cy="0"/>
          </a:xfrm>
          <a:prstGeom prst="line">
            <a:avLst/>
          </a:prstGeom>
          <a:ln w="25400">
            <a:solidFill>
              <a:srgbClr val="5563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404811" y="2249424"/>
            <a:ext cx="1944014" cy="2487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404811" y="2249424"/>
            <a:ext cx="73152" cy="2487168"/>
          </a:xfrm>
          <a:prstGeom prst="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633411" y="2468880"/>
            <a:ext cx="475488" cy="292608"/>
          </a:xfrm>
          <a:prstGeom prst="round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8275" y="2482596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7771" y="2450592"/>
            <a:ext cx="89245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Artifacts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33411" y="3072384"/>
            <a:ext cx="1486814" cy="1481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556377"/>
                </a:solidFill>
                <a:latin typeface="Calibri"/>
              </a:rPr>
              <a:t>Which code, IaC, and deployment files are expected?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385401" y="3493008"/>
            <a:ext cx="274320" cy="0"/>
          </a:xfrm>
          <a:prstGeom prst="line">
            <a:avLst/>
          </a:prstGeom>
          <a:ln w="25400">
            <a:solidFill>
              <a:srgbClr val="5563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9696297" y="2249424"/>
            <a:ext cx="1944014" cy="2487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696297" y="2249424"/>
            <a:ext cx="73152" cy="2487168"/>
          </a:xfrm>
          <a:prstGeom prst="rect">
            <a:avLst/>
          </a:prstGeom>
          <a:solidFill>
            <a:srgbClr val="2A9160"/>
          </a:solidFill>
          <a:ln w="1270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924897" y="2468880"/>
            <a:ext cx="475488" cy="292608"/>
          </a:xfrm>
          <a:prstGeom prst="roundRect">
            <a:avLst/>
          </a:prstGeom>
          <a:solidFill>
            <a:srgbClr val="2A9160"/>
          </a:solidFill>
          <a:ln w="1270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979761" y="2482596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9257" y="2450592"/>
            <a:ext cx="89245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Proof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24897" y="3072384"/>
            <a:ext cx="1486814" cy="1481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556377"/>
                </a:solidFill>
                <a:latin typeface="Calibri"/>
              </a:rPr>
              <a:t>How will success and cleanup be verified?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234440" y="5138928"/>
            <a:ext cx="9710928" cy="566928"/>
          </a:xfrm>
          <a:prstGeom prst="roundRect">
            <a:avLst/>
          </a:prstGeom>
          <a:solidFill>
            <a:srgbClr val="14233E"/>
          </a:solidFill>
          <a:ln w="12700">
            <a:solidFill>
              <a:srgbClr val="142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463040" y="5294376"/>
            <a:ext cx="92537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PROMPT QUALITY IS REQUIREMENT QUALITY MADE VISIBLE.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41148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2D7D2"/>
                </a:solidFill>
                <a:latin typeface="Calibri"/>
              </a:rPr>
              <a:t>SECTION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170432"/>
            <a:ext cx="13258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200" b="1" i="0">
                <a:solidFill>
                  <a:srgbClr val="009B96"/>
                </a:solidFill>
                <a:latin typeface="Calibri"/>
              </a:rPr>
              <a:t>03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2011680" y="1307592"/>
            <a:ext cx="9006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300" b="1" i="0">
                <a:solidFill>
                  <a:srgbClr val="FFFFFF"/>
                </a:solidFill>
                <a:latin typeface="Calibri"/>
              </a:rPr>
              <a:t>Build, run, diagnose, and verify with the agent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0" y="2834640"/>
            <a:ext cx="8961120" cy="1280160"/>
          </a:xfrm>
          <a:prstGeom prst="roundRect">
            <a:avLst/>
          </a:prstGeom>
          <a:solidFill>
            <a:srgbClr val="17324B"/>
          </a:solidFill>
          <a:ln w="12700">
            <a:solidFill>
              <a:srgbClr val="365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67712" y="3044952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72D7D2"/>
                </a:solidFill>
                <a:latin typeface="Calibri"/>
              </a:rPr>
              <a:t>BEGINNER PROMISE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67712" y="3401568"/>
            <a:ext cx="82753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Calibri"/>
              </a:rPr>
              <a:t>You will treat generation as the beginning of the engineering loop, not the end.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4498848"/>
            <a:ext cx="8961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CBD5E1"/>
                </a:solidFill>
                <a:latin typeface="Calibri"/>
              </a:rPr>
              <a:t>Plan → create bucket → generate artifacts → deploy → diagnose → verify S3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21792" y="6382512"/>
            <a:ext cx="10351008" cy="0"/>
          </a:xfrm>
          <a:prstGeom prst="line">
            <a:avLst/>
          </a:prstGeom>
          <a:ln w="19050">
            <a:solidFill>
              <a:srgbClr val="3651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1792" y="6473952"/>
            <a:ext cx="4754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 i="0">
                <a:solidFill>
                  <a:srgbClr val="CBD5E1"/>
                </a:solidFill>
                <a:latin typeface="Calibri"/>
              </a:rPr>
              <a:t>MODULE 07  |  AGENTIC DATA ENGINEERING WITH AMAZON 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6473952"/>
            <a:ext cx="6217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40" b="0" i="0">
                <a:solidFill>
                  <a:srgbClr val="CBD5E1"/>
                </a:solidFill>
                <a:latin typeface="Calibri"/>
              </a:rPr>
              <a:t>Core transcripts 17–19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45952" y="32004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CBD5E1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9B96"/>
                </a:solidFill>
                <a:latin typeface="Calibri"/>
              </a:rPr>
              <a:t>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556377"/>
                </a:solidFill>
                <a:latin typeface="Calibri"/>
              </a:rPr>
              <a:t>21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4233E"/>
                </a:solidFill>
                <a:latin typeface="Calibri"/>
              </a:rPr>
              <a:t>Reduce the use case to three accountable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25296"/>
            <a:ext cx="10561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556377"/>
                </a:solidFill>
                <a:latin typeface="Calibri"/>
              </a:rPr>
              <a:t>The transcript creates a simple sequence that keeps the learner oriented while the agent accelerates execution.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65208" y="1252728"/>
            <a:ext cx="1965960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20072" y="1266444"/>
            <a:ext cx="1856231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009B96"/>
                </a:solidFill>
                <a:latin typeface="Calibri"/>
              </a:rPr>
              <a:t>TRANSCRIPT-DERIVED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0579608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663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 i="0">
                <a:solidFill>
                  <a:srgbClr val="556377"/>
                </a:solidFill>
                <a:latin typeface="Calibri"/>
              </a:rPr>
              <a:t>MODULE 07  |  AGENTIC DATA ENGINEERING WITH AMAZON 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6473952"/>
            <a:ext cx="69311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40" b="0" i="0">
                <a:solidFill>
                  <a:srgbClr val="556377"/>
                </a:solidFill>
                <a:latin typeface="Calibri"/>
              </a:rPr>
              <a:t>17-1-steps-in-our-data-engineering-pipeline-use-case-revisit.txt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2304288"/>
            <a:ext cx="3471672" cy="2670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304288"/>
            <a:ext cx="73152" cy="2670048"/>
          </a:xfrm>
          <a:prstGeom prst="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" y="2523744"/>
            <a:ext cx="475488" cy="292608"/>
          </a:xfrm>
          <a:prstGeom prst="round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5" y="253746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505456"/>
            <a:ext cx="242011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Create target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3127248"/>
            <a:ext cx="3014472" cy="166420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556377"/>
                </a:solidFill>
                <a:latin typeface="Calibri"/>
              </a:rPr>
              <a:t>Create the unique S3 data-lake bucket.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038600" y="3639312"/>
            <a:ext cx="274320" cy="0"/>
          </a:xfrm>
          <a:prstGeom prst="line">
            <a:avLst/>
          </a:prstGeom>
          <a:ln w="25400">
            <a:solidFill>
              <a:srgbClr val="5563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349496" y="2304288"/>
            <a:ext cx="3471672" cy="2670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9496" y="2304288"/>
            <a:ext cx="73152" cy="2670048"/>
          </a:xfrm>
          <a:prstGeom prst="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78096" y="2523744"/>
            <a:ext cx="475488" cy="292608"/>
          </a:xfrm>
          <a:prstGeom prst="round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32960" y="253746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2456" y="2505456"/>
            <a:ext cx="242011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Choose retrieval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8096" y="3127248"/>
            <a:ext cx="3014472" cy="166420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556377"/>
                </a:solidFill>
                <a:latin typeface="Calibri"/>
              </a:rPr>
              <a:t>Determine how the NYC TLC files can be reached.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857744" y="3639312"/>
            <a:ext cx="274320" cy="0"/>
          </a:xfrm>
          <a:prstGeom prst="line">
            <a:avLst/>
          </a:prstGeom>
          <a:ln w="25400">
            <a:solidFill>
              <a:srgbClr val="5563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168640" y="2304288"/>
            <a:ext cx="3471672" cy="2670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68640" y="2304288"/>
            <a:ext cx="73152" cy="2670048"/>
          </a:xfrm>
          <a:prstGeom prst="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397240" y="2523744"/>
            <a:ext cx="475488" cy="292608"/>
          </a:xfrm>
          <a:prstGeom prst="round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52104" y="253746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91600" y="2505456"/>
            <a:ext cx="242011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Run ingestion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7240" y="3127248"/>
            <a:ext cx="3014472" cy="166420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556377"/>
                </a:solidFill>
                <a:latin typeface="Calibri"/>
              </a:rPr>
              <a:t>Execute code in Glue Python Shell and verify S3.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11680" y="5303520"/>
            <a:ext cx="818387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4233E"/>
                </a:solidFill>
                <a:latin typeface="Calibri"/>
              </a:rPr>
              <a:t>Every step has a visible artifact and a verification question.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9B96"/>
                </a:solidFill>
                <a:latin typeface="Calibr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556377"/>
                </a:solidFill>
                <a:latin typeface="Calibri"/>
              </a:rPr>
              <a:t>22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4233E"/>
                </a:solidFill>
                <a:latin typeface="Calibri"/>
              </a:rPr>
              <a:t>Trace the bounded ingestion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25296"/>
            <a:ext cx="10561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556377"/>
                </a:solidFill>
                <a:latin typeface="Calibri"/>
              </a:rPr>
              <a:t>A public delivery endpoint feeds a managed Python runtime, which writes durable objects to the lake.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65208" y="1252728"/>
            <a:ext cx="1965960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20072" y="1266444"/>
            <a:ext cx="1856231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009B96"/>
                </a:solidFill>
                <a:latin typeface="Calibri"/>
              </a:rPr>
              <a:t>TRANSCRIPT-DERIVED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0579608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663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 i="0">
                <a:solidFill>
                  <a:srgbClr val="556377"/>
                </a:solidFill>
                <a:latin typeface="Calibri"/>
              </a:rPr>
              <a:t>MODULE 07  |  AGENTIC DATA ENGINEERING WITH AMAZON 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6473952"/>
            <a:ext cx="69311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40" b="0" i="0">
                <a:solidFill>
                  <a:srgbClr val="556377"/>
                </a:solidFill>
                <a:latin typeface="Calibri"/>
              </a:rPr>
              <a:t>19-3-ai-driven-development-vibe-coding-revisit.txt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2240280"/>
            <a:ext cx="2286000" cy="2011680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542032"/>
            <a:ext cx="18470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14233E"/>
                </a:solidFill>
                <a:latin typeface="Calibri"/>
              </a:rPr>
              <a:t>NYC TLC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127248"/>
            <a:ext cx="184708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556377"/>
                </a:solidFill>
                <a:latin typeface="Calibri"/>
              </a:rPr>
              <a:t>Public Parquet files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01568" y="2240280"/>
            <a:ext cx="2286000" cy="2011680"/>
          </a:xfrm>
          <a:prstGeom prst="roundRect">
            <a:avLst/>
          </a:prstGeom>
          <a:solidFill>
            <a:srgbClr val="F0ECF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80" y="2542032"/>
            <a:ext cx="18653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14233E"/>
                </a:solidFill>
                <a:latin typeface="Calibri"/>
              </a:rPr>
              <a:t>CloudFront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3127248"/>
            <a:ext cx="186537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556377"/>
                </a:solidFill>
                <a:latin typeface="Calibri"/>
              </a:rPr>
              <a:t>Reachable delivery URL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9904" y="2240280"/>
            <a:ext cx="2514600" cy="2011680"/>
          </a:xfrm>
          <a:prstGeom prst="roundRect">
            <a:avLst/>
          </a:prstGeom>
          <a:solidFill>
            <a:srgbClr val="FBF0E9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18504" y="2514600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14233E"/>
                </a:solidFill>
                <a:latin typeface="Calibri"/>
              </a:rPr>
              <a:t>AWS Glue
Python Shell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18504" y="3337560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556377"/>
                </a:solidFill>
                <a:latin typeface="Calibri"/>
              </a:rPr>
              <a:t>Ingestion runtime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6840" y="2240280"/>
            <a:ext cx="2468880" cy="2011680"/>
          </a:xfrm>
          <a:prstGeom prst="roundRect">
            <a:avLst/>
          </a:prstGeom>
          <a:solidFill>
            <a:srgbClr val="EAF5EF"/>
          </a:solidFill>
          <a:ln w="1270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254203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14233E"/>
                </a:solidFill>
                <a:latin typeface="Calibri"/>
              </a:rPr>
              <a:t>Amazon S3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3127248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556377"/>
                </a:solidFill>
                <a:latin typeface="Calibri"/>
              </a:rPr>
              <a:t>Data-lake landing zone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035808" y="3246120"/>
            <a:ext cx="310896" cy="0"/>
          </a:xfrm>
          <a:prstGeom prst="line">
            <a:avLst/>
          </a:prstGeom>
          <a:ln w="27940">
            <a:solidFill>
              <a:srgbClr val="5563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724144" y="3246120"/>
            <a:ext cx="310896" cy="0"/>
          </a:xfrm>
          <a:prstGeom prst="line">
            <a:avLst/>
          </a:prstGeom>
          <a:ln w="27940">
            <a:solidFill>
              <a:srgbClr val="5563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641080" y="3246120"/>
            <a:ext cx="310896" cy="0"/>
          </a:xfrm>
          <a:prstGeom prst="line">
            <a:avLst/>
          </a:prstGeom>
          <a:ln w="27940">
            <a:solidFill>
              <a:srgbClr val="5563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965960" y="4846320"/>
            <a:ext cx="82753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94560" y="5029200"/>
            <a:ext cx="7818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14233E"/>
                </a:solidFill>
                <a:latin typeface="Calibri"/>
              </a:rPr>
              <a:t>Control plane: CloudFormation defines the job; a shell script packages and deploys it.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9B96"/>
                </a:solidFill>
                <a:latin typeface="Calibri"/>
              </a:rPr>
              <a:t>S3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556377"/>
                </a:solidFill>
                <a:latin typeface="Calibri"/>
              </a:rPr>
              <a:t>23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4233E"/>
                </a:solidFill>
                <a:latin typeface="Calibri"/>
              </a:rPr>
              <a:t>Create a globally unique bucket—then prove where it exists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25296"/>
            <a:ext cx="10561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556377"/>
                </a:solidFill>
                <a:latin typeface="Calibri"/>
              </a:rPr>
              <a:t>The agent can propose the AWS CLI command, but the engineer owns the name, account, region, and result.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65208" y="1252728"/>
            <a:ext cx="1965960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20072" y="1266444"/>
            <a:ext cx="1856231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009B96"/>
                </a:solidFill>
                <a:latin typeface="Calibri"/>
              </a:rPr>
              <a:t>TRANSCRIPT + GUIDANCE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0579608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663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 i="0">
                <a:solidFill>
                  <a:srgbClr val="556377"/>
                </a:solidFill>
                <a:latin typeface="Calibri"/>
              </a:rPr>
              <a:t>MODULE 07  |  AGENTIC DATA ENGINEERING WITH AMAZON 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6473952"/>
            <a:ext cx="69311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40" b="0" i="0">
                <a:solidFill>
                  <a:srgbClr val="556377"/>
                </a:solidFill>
                <a:latin typeface="Calibri"/>
              </a:rPr>
              <a:t>18-2-create-the-bucket-in-data-lake-with-amazon-q-revisit.txt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2267712"/>
            <a:ext cx="2516886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267712"/>
            <a:ext cx="73152" cy="2542032"/>
          </a:xfrm>
          <a:prstGeom prst="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" y="2487168"/>
            <a:ext cx="475488" cy="292608"/>
          </a:xfrm>
          <a:prstGeom prst="round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5" y="250088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468880"/>
            <a:ext cx="146532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Name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3090672"/>
            <a:ext cx="2059686" cy="1536191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56377"/>
                </a:solidFill>
                <a:latin typeface="Calibri"/>
              </a:rPr>
              <a:t>Choose a globally unique, project-specific bucket name.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083814" y="3538728"/>
            <a:ext cx="274320" cy="0"/>
          </a:xfrm>
          <a:prstGeom prst="line">
            <a:avLst/>
          </a:prstGeom>
          <a:ln w="25400">
            <a:solidFill>
              <a:srgbClr val="5563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394710" y="2267712"/>
            <a:ext cx="2516886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94710" y="2267712"/>
            <a:ext cx="73152" cy="2542032"/>
          </a:xfrm>
          <a:prstGeom prst="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3310" y="2487168"/>
            <a:ext cx="475488" cy="292608"/>
          </a:xfrm>
          <a:prstGeom prst="round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78174" y="250088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17670" y="2468880"/>
            <a:ext cx="146532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23310" y="3090672"/>
            <a:ext cx="2059686" cy="1536191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56377"/>
                </a:solidFill>
                <a:latin typeface="Calibri"/>
              </a:rPr>
              <a:t>Inspect profile, region, flags, and intended ownership.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48172" y="3538728"/>
            <a:ext cx="274320" cy="0"/>
          </a:xfrm>
          <a:prstGeom prst="line">
            <a:avLst/>
          </a:prstGeom>
          <a:ln w="25400">
            <a:solidFill>
              <a:srgbClr val="5563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259068" y="2267712"/>
            <a:ext cx="2516886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59068" y="2267712"/>
            <a:ext cx="73152" cy="2542032"/>
          </a:xfrm>
          <a:prstGeom prst="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87668" y="2487168"/>
            <a:ext cx="475488" cy="292608"/>
          </a:xfrm>
          <a:prstGeom prst="round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42531" y="250088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2028" y="2468880"/>
            <a:ext cx="146532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Run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87668" y="3090672"/>
            <a:ext cx="2059686" cy="1536191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56377"/>
                </a:solidFill>
                <a:latin typeface="Calibri"/>
              </a:rPr>
              <a:t>Approve the agent-proposed AWS CLI command.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812530" y="3538728"/>
            <a:ext cx="274320" cy="0"/>
          </a:xfrm>
          <a:prstGeom prst="line">
            <a:avLst/>
          </a:prstGeom>
          <a:ln w="25400">
            <a:solidFill>
              <a:srgbClr val="5563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123426" y="2267712"/>
            <a:ext cx="2516886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123426" y="2267712"/>
            <a:ext cx="73152" cy="2542032"/>
          </a:xfrm>
          <a:prstGeom prst="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352026" y="2487168"/>
            <a:ext cx="475488" cy="292608"/>
          </a:xfrm>
          <a:prstGeom prst="round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06890" y="250088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46386" y="2468880"/>
            <a:ext cx="146532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Verify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52026" y="3090672"/>
            <a:ext cx="2059686" cy="1536191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56377"/>
                </a:solidFill>
                <a:latin typeface="Calibri"/>
              </a:rPr>
              <a:t>List or open the bucket and confirm account + region.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874519" y="5138928"/>
            <a:ext cx="8458200" cy="566928"/>
          </a:xfrm>
          <a:prstGeom prst="roundRect">
            <a:avLst/>
          </a:prstGeom>
          <a:solidFill>
            <a:srgbClr val="FBF0E9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0" y="5294376"/>
            <a:ext cx="8001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14233E"/>
                </a:solidFill>
                <a:latin typeface="Calibri"/>
              </a:rPr>
              <a:t>DO NOT PUT CREDENTIALS, EMAIL ADDRESSES, OR SENSITIVE DATA IN THE BUCKET NAME.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9B96"/>
                </a:solidFill>
                <a:latin typeface="Calibri"/>
              </a:rPr>
              <a:t>ASSUMPTIONS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556377"/>
                </a:solidFill>
                <a:latin typeface="Calibri"/>
              </a:rPr>
              <a:t>24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4233E"/>
                </a:solidFill>
                <a:latin typeface="Calibri"/>
              </a:rPr>
              <a:t>Interrogate the proposed source-access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25296"/>
            <a:ext cx="10561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556377"/>
                </a:solidFill>
                <a:latin typeface="Calibri"/>
              </a:rPr>
              <a:t>The useful question is not only “Can you write code?” but “Why is this source path and runtime appropriate?”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65208" y="1252728"/>
            <a:ext cx="1965960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20072" y="1266444"/>
            <a:ext cx="1856231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009B96"/>
                </a:solidFill>
                <a:latin typeface="Calibri"/>
              </a:rPr>
              <a:t>TRANSCRIPT + GUIDANCE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0579608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663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 i="0">
                <a:solidFill>
                  <a:srgbClr val="556377"/>
                </a:solidFill>
                <a:latin typeface="Calibri"/>
              </a:rPr>
              <a:t>MODULE 07  |  AGENTIC DATA ENGINEERING WITH AMAZON 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6473952"/>
            <a:ext cx="69311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40" b="0" i="0">
                <a:solidFill>
                  <a:srgbClr val="556377"/>
                </a:solidFill>
                <a:latin typeface="Calibri"/>
              </a:rPr>
              <a:t>19-3-ai-driven-development-vibe-coding-revisit.txt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874519"/>
            <a:ext cx="3569208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874519"/>
            <a:ext cx="73152" cy="3977639"/>
          </a:xfrm>
          <a:prstGeom prst="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" y="2093976"/>
            <a:ext cx="475488" cy="292608"/>
          </a:xfrm>
          <a:prstGeom prst="round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5" y="2107692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075688"/>
            <a:ext cx="251764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Availability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2679191"/>
            <a:ext cx="3112008" cy="2990087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450">
                <a:solidFill>
                  <a:srgbClr val="556377"/>
                </a:solidFill>
                <a:latin typeface="Calibri"/>
              </a:defRPr>
            </a:pPr>
            <a:r>
              <a:t>•  Is the URL public and stable?</a:t>
            </a:r>
          </a:p>
          <a:p>
            <a:pPr>
              <a:spcAft>
                <a:spcPts val="500"/>
              </a:spcAft>
              <a:defRPr sz="1450">
                <a:solidFill>
                  <a:srgbClr val="556377"/>
                </a:solidFill>
                <a:latin typeface="Calibri"/>
              </a:defRPr>
            </a:pPr>
            <a:r>
              <a:t>•  Which months and file names exist?</a:t>
            </a:r>
          </a:p>
          <a:p>
            <a:pPr>
              <a:spcAft>
                <a:spcPts val="500"/>
              </a:spcAft>
              <a:defRPr sz="1450">
                <a:solidFill>
                  <a:srgbClr val="556377"/>
                </a:solidFill>
                <a:latin typeface="Calibri"/>
              </a:defRPr>
            </a:pPr>
            <a:r>
              <a:t>•  What happens on 404 or timeout?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0728" y="1874519"/>
            <a:ext cx="3569208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00728" y="1874519"/>
            <a:ext cx="73152" cy="3977639"/>
          </a:xfrm>
          <a:prstGeom prst="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29328" y="2093976"/>
            <a:ext cx="475488" cy="292608"/>
          </a:xfrm>
          <a:prstGeom prst="round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84192" y="2107692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3688" y="2075688"/>
            <a:ext cx="251764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Data contract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9328" y="2679191"/>
            <a:ext cx="3112008" cy="2990087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450">
                <a:solidFill>
                  <a:srgbClr val="556377"/>
                </a:solidFill>
                <a:latin typeface="Calibri"/>
              </a:defRPr>
            </a:pPr>
            <a:r>
              <a:t>•  Is the response really Parquet?</a:t>
            </a:r>
          </a:p>
          <a:p>
            <a:pPr>
              <a:spcAft>
                <a:spcPts val="500"/>
              </a:spcAft>
              <a:defRPr sz="1450">
                <a:solidFill>
                  <a:srgbClr val="556377"/>
                </a:solidFill>
                <a:latin typeface="Calibri"/>
              </a:defRPr>
            </a:pPr>
            <a:r>
              <a:t>•  How large are files?</a:t>
            </a:r>
          </a:p>
          <a:p>
            <a:pPr>
              <a:spcAft>
                <a:spcPts val="500"/>
              </a:spcAft>
              <a:defRPr sz="1450">
                <a:solidFill>
                  <a:srgbClr val="556377"/>
                </a:solidFill>
                <a:latin typeface="Calibri"/>
              </a:defRPr>
            </a:pPr>
            <a:r>
              <a:t>•  Should checksums or sizes be verified?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71104" y="1874519"/>
            <a:ext cx="3569208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71104" y="1874519"/>
            <a:ext cx="73152" cy="3977639"/>
          </a:xfrm>
          <a:prstGeom prst="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99704" y="2093976"/>
            <a:ext cx="475488" cy="292608"/>
          </a:xfrm>
          <a:prstGeom prst="round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54568" y="2107692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94064" y="2075688"/>
            <a:ext cx="251764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Runtime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9704" y="2679191"/>
            <a:ext cx="3112008" cy="2990087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450">
                <a:solidFill>
                  <a:srgbClr val="556377"/>
                </a:solidFill>
                <a:latin typeface="Calibri"/>
              </a:defRPr>
            </a:pPr>
            <a:r>
              <a:t>•  Can Glue Python Shell use required libraries?</a:t>
            </a:r>
          </a:p>
          <a:p>
            <a:pPr>
              <a:spcAft>
                <a:spcPts val="500"/>
              </a:spcAft>
              <a:defRPr sz="1450">
                <a:solidFill>
                  <a:srgbClr val="556377"/>
                </a:solidFill>
                <a:latin typeface="Calibri"/>
              </a:defRPr>
            </a:pPr>
            <a:r>
              <a:t>•  Are timeout, retries, and IAM permissions adequate?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9B96"/>
                </a:solidFill>
                <a:latin typeface="Calibri"/>
              </a:rPr>
              <a:t>SERVICE 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556377"/>
                </a:solidFill>
                <a:latin typeface="Calibri"/>
              </a:rPr>
              <a:t>25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4233E"/>
                </a:solidFill>
                <a:latin typeface="Calibri"/>
              </a:rPr>
              <a:t>Use CloudFront for reachability and Glue Python Shell for 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25296"/>
            <a:ext cx="10561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556377"/>
                </a:solidFill>
                <a:latin typeface="Calibri"/>
              </a:rPr>
              <a:t>The demo chooses a lightweight managed runtime for a bounded download-and-upload task.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65208" y="1252728"/>
            <a:ext cx="1965960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20072" y="1266444"/>
            <a:ext cx="1856231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009B96"/>
                </a:solidFill>
                <a:latin typeface="Calibri"/>
              </a:rPr>
              <a:t>TRANSCRIPT-DERIVED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0579608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663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 i="0">
                <a:solidFill>
                  <a:srgbClr val="556377"/>
                </a:solidFill>
                <a:latin typeface="Calibri"/>
              </a:rPr>
              <a:t>MODULE 07  |  AGENTIC DATA ENGINEERING WITH AMAZON 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6473952"/>
            <a:ext cx="69311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40" b="0" i="0">
                <a:solidFill>
                  <a:srgbClr val="556377"/>
                </a:solidFill>
                <a:latin typeface="Calibri"/>
              </a:rPr>
              <a:t>19-3-ai-driven-development-vibe-coding-revisit.txt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1938528"/>
            <a:ext cx="5166360" cy="3767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3232" y="1938528"/>
            <a:ext cx="73152" cy="3767328"/>
          </a:xfrm>
          <a:prstGeom prst="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139696"/>
            <a:ext cx="46634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CLOUDFRONT URL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743200"/>
            <a:ext cx="4709160" cy="2779776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450">
                <a:solidFill>
                  <a:srgbClr val="556377"/>
                </a:solidFill>
                <a:latin typeface="Calibri"/>
              </a:defRPr>
            </a:pPr>
            <a:r>
              <a:t>•  Delivers source files through an accessible endpoint</a:t>
            </a:r>
          </a:p>
          <a:p>
            <a:pPr>
              <a:spcAft>
                <a:spcPts val="500"/>
              </a:spcAft>
              <a:defRPr sz="1450">
                <a:solidFill>
                  <a:srgbClr val="556377"/>
                </a:solidFill>
                <a:latin typeface="Calibri"/>
              </a:defRPr>
            </a:pPr>
            <a:r>
              <a:t>•  Avoids manual browser downloading for each file</a:t>
            </a:r>
          </a:p>
          <a:p>
            <a:pPr>
              <a:spcAft>
                <a:spcPts val="500"/>
              </a:spcAft>
              <a:defRPr sz="1450">
                <a:solidFill>
                  <a:srgbClr val="556377"/>
                </a:solidFill>
                <a:latin typeface="Calibri"/>
              </a:defRPr>
            </a:pPr>
            <a:r>
              <a:t>•  Still requires URL and response validation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938528"/>
            <a:ext cx="5166360" cy="3767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938528"/>
            <a:ext cx="73152" cy="3767328"/>
          </a:xfrm>
          <a:prstGeom prst="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2" y="2139696"/>
            <a:ext cx="46634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GLUE PYTHON SHELL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743200"/>
            <a:ext cx="4709160" cy="2779776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450">
                <a:solidFill>
                  <a:srgbClr val="556377"/>
                </a:solidFill>
                <a:latin typeface="Calibri"/>
              </a:defRPr>
            </a:pPr>
            <a:r>
              <a:t>•  Runs the generated Python ingestion script</a:t>
            </a:r>
          </a:p>
          <a:p>
            <a:pPr>
              <a:spcAft>
                <a:spcPts val="500"/>
              </a:spcAft>
              <a:defRPr sz="1450">
                <a:solidFill>
                  <a:srgbClr val="556377"/>
                </a:solidFill>
                <a:latin typeface="Calibri"/>
              </a:defRPr>
            </a:pPr>
            <a:r>
              <a:t>•  Fits a lightweight, non-Spark transfer demo</a:t>
            </a:r>
          </a:p>
          <a:p>
            <a:pPr>
              <a:spcAft>
                <a:spcPts val="500"/>
              </a:spcAft>
              <a:defRPr sz="1450">
                <a:solidFill>
                  <a:srgbClr val="556377"/>
                </a:solidFill>
                <a:latin typeface="Calibri"/>
              </a:defRPr>
            </a:pPr>
            <a:r>
              <a:t>•  Needs IAM, dependency, timeout, and logging review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07024" y="3767328"/>
            <a:ext cx="347472" cy="0"/>
          </a:xfrm>
          <a:prstGeom prst="line">
            <a:avLst/>
          </a:prstGeom>
          <a:ln w="25400">
            <a:solidFill>
              <a:srgbClr val="5563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9B96"/>
                </a:solidFill>
                <a:latin typeface="Calibri"/>
              </a:rPr>
              <a:t>ARTIFACTS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556377"/>
                </a:solidFill>
                <a:latin typeface="Calibri"/>
              </a:rPr>
              <a:t>26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4233E"/>
                </a:solidFill>
                <a:latin typeface="Calibri"/>
              </a:rPr>
              <a:t>Understand the three generated artifacts as one deployable unit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25296"/>
            <a:ext cx="10561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556377"/>
                </a:solidFill>
                <a:latin typeface="Calibri"/>
              </a:rPr>
              <a:t>The agent produces code, infrastructure definition, and an execution wrapper; each has a different responsibility.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65208" y="1252728"/>
            <a:ext cx="1965960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20072" y="1266444"/>
            <a:ext cx="1856231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009B96"/>
                </a:solidFill>
                <a:latin typeface="Calibri"/>
              </a:rPr>
              <a:t>TRANSCRIPT-DERIVED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0579608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663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 i="0">
                <a:solidFill>
                  <a:srgbClr val="556377"/>
                </a:solidFill>
                <a:latin typeface="Calibri"/>
              </a:rPr>
              <a:t>MODULE 07  |  AGENTIC DATA ENGINEERING WITH AMAZON 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6473952"/>
            <a:ext cx="69311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40" b="0" i="0">
                <a:solidFill>
                  <a:srgbClr val="556377"/>
                </a:solidFill>
                <a:latin typeface="Calibri"/>
              </a:rPr>
              <a:t>19-3-ai-driven-development-vibe-coding-revisit.txt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874519"/>
            <a:ext cx="3569208" cy="40050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874519"/>
            <a:ext cx="73152" cy="4005072"/>
          </a:xfrm>
          <a:prstGeom prst="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" y="2093976"/>
            <a:ext cx="475488" cy="292608"/>
          </a:xfrm>
          <a:prstGeom prst="round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5" y="2107692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075688"/>
            <a:ext cx="251764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Python script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2679191"/>
            <a:ext cx="3112008" cy="30175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450">
                <a:solidFill>
                  <a:srgbClr val="556377"/>
                </a:solidFill>
                <a:latin typeface="Calibri"/>
              </a:defRPr>
            </a:pPr>
            <a:r>
              <a:t>•  Download from source</a:t>
            </a:r>
          </a:p>
          <a:p>
            <a:pPr>
              <a:spcAft>
                <a:spcPts val="500"/>
              </a:spcAft>
              <a:defRPr sz="1450">
                <a:solidFill>
                  <a:srgbClr val="556377"/>
                </a:solidFill>
                <a:latin typeface="Calibri"/>
              </a:defRPr>
            </a:pPr>
            <a:r>
              <a:t>•  Upload objects to S3</a:t>
            </a:r>
          </a:p>
          <a:p>
            <a:pPr>
              <a:spcAft>
                <a:spcPts val="500"/>
              </a:spcAft>
              <a:defRPr sz="1450">
                <a:solidFill>
                  <a:srgbClr val="556377"/>
                </a:solidFill>
                <a:latin typeface="Calibri"/>
              </a:defRPr>
            </a:pPr>
            <a:r>
              <a:t>•  Log and surface failures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0728" y="1874519"/>
            <a:ext cx="3569208" cy="40050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00728" y="1874519"/>
            <a:ext cx="73152" cy="4005072"/>
          </a:xfrm>
          <a:prstGeom prst="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29328" y="2093976"/>
            <a:ext cx="475488" cy="292608"/>
          </a:xfrm>
          <a:prstGeom prst="round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84192" y="2107692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3688" y="2075688"/>
            <a:ext cx="251764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CloudFormation YAML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9328" y="2679191"/>
            <a:ext cx="3112008" cy="30175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450">
                <a:solidFill>
                  <a:srgbClr val="556377"/>
                </a:solidFill>
                <a:latin typeface="Calibri"/>
              </a:defRPr>
            </a:pPr>
            <a:r>
              <a:t>•  Define Glue job and supporting resources</a:t>
            </a:r>
          </a:p>
          <a:p>
            <a:pPr>
              <a:spcAft>
                <a:spcPts val="500"/>
              </a:spcAft>
              <a:defRPr sz="1450">
                <a:solidFill>
                  <a:srgbClr val="556377"/>
                </a:solidFill>
                <a:latin typeface="Calibri"/>
              </a:defRPr>
            </a:pPr>
            <a:r>
              <a:t>•  Make infrastructure repeatable</a:t>
            </a:r>
          </a:p>
          <a:p>
            <a:pPr>
              <a:spcAft>
                <a:spcPts val="500"/>
              </a:spcAft>
              <a:defRPr sz="1450">
                <a:solidFill>
                  <a:srgbClr val="556377"/>
                </a:solidFill>
                <a:latin typeface="Calibri"/>
              </a:defRPr>
            </a:pPr>
            <a:r>
              <a:t>•  Expose parameters and IAM choices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71104" y="1874519"/>
            <a:ext cx="3569208" cy="40050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71104" y="1874519"/>
            <a:ext cx="73152" cy="4005072"/>
          </a:xfrm>
          <a:prstGeom prst="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99704" y="2093976"/>
            <a:ext cx="475488" cy="292608"/>
          </a:xfrm>
          <a:prstGeom prst="round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54568" y="2107692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94064" y="2075688"/>
            <a:ext cx="251764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Deployment shell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9704" y="2679191"/>
            <a:ext cx="3112008" cy="30175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450">
                <a:solidFill>
                  <a:srgbClr val="556377"/>
                </a:solidFill>
                <a:latin typeface="Calibri"/>
              </a:defRPr>
            </a:pPr>
            <a:r>
              <a:t>•  Package/upload script</a:t>
            </a:r>
          </a:p>
          <a:p>
            <a:pPr>
              <a:spcAft>
                <a:spcPts val="500"/>
              </a:spcAft>
              <a:defRPr sz="1450">
                <a:solidFill>
                  <a:srgbClr val="556377"/>
                </a:solidFill>
                <a:latin typeface="Calibri"/>
              </a:defRPr>
            </a:pPr>
            <a:r>
              <a:t>•  Deploy or update the stack</a:t>
            </a:r>
          </a:p>
          <a:p>
            <a:pPr>
              <a:spcAft>
                <a:spcPts val="500"/>
              </a:spcAft>
              <a:defRPr sz="1450">
                <a:solidFill>
                  <a:srgbClr val="556377"/>
                </a:solidFill>
                <a:latin typeface="Calibri"/>
              </a:defRPr>
            </a:pPr>
            <a:r>
              <a:t>•  Invoke consistent CLI commands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9B96"/>
                </a:solidFill>
                <a:latin typeface="Calibr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556377"/>
                </a:solidFill>
                <a:latin typeface="Calibri"/>
              </a:rPr>
              <a:t>27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4233E"/>
                </a:solidFill>
                <a:latin typeface="Calibri"/>
              </a:rPr>
              <a:t>Infrastructure as code replaces clicks with reviewable intent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25296"/>
            <a:ext cx="10561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556377"/>
                </a:solidFill>
                <a:latin typeface="Calibri"/>
              </a:rPr>
              <a:t>The console path remains useful for understanding; the template path makes repeat deployment explicit.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65208" y="1252728"/>
            <a:ext cx="1965960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20072" y="1266444"/>
            <a:ext cx="1856231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009B96"/>
                </a:solidFill>
                <a:latin typeface="Calibri"/>
              </a:rPr>
              <a:t>TRANSCRIPT + GUIDANCE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0579608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663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 i="0">
                <a:solidFill>
                  <a:srgbClr val="556377"/>
                </a:solidFill>
                <a:latin typeface="Calibri"/>
              </a:rPr>
              <a:t>MODULE 07  |  AGENTIC DATA ENGINEERING WITH AMAZON 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6473952"/>
            <a:ext cx="69311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40" b="0" i="0">
                <a:solidFill>
                  <a:srgbClr val="556377"/>
                </a:solidFill>
                <a:latin typeface="Calibri"/>
              </a:rPr>
              <a:t>19-3-ai-driven-development-vibe-coding-revisit.txt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1938528"/>
            <a:ext cx="5321808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1938528"/>
            <a:ext cx="73152" cy="3794760"/>
          </a:xfrm>
          <a:prstGeom prst="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2139696"/>
            <a:ext cx="481888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MANUAL CONSOLE PATH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2743200"/>
            <a:ext cx="4864608" cy="28072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450">
                <a:solidFill>
                  <a:srgbClr val="556377"/>
                </a:solidFill>
                <a:latin typeface="Calibri"/>
              </a:defRPr>
            </a:pPr>
            <a:r>
              <a:t>•  Choose Glue Python Shell</a:t>
            </a:r>
          </a:p>
          <a:p>
            <a:pPr>
              <a:spcAft>
                <a:spcPts val="500"/>
              </a:spcAft>
              <a:defRPr sz="1450">
                <a:solidFill>
                  <a:srgbClr val="556377"/>
                </a:solidFill>
                <a:latin typeface="Calibri"/>
              </a:defRPr>
            </a:pPr>
            <a:r>
              <a:t>•  Paste or upload the script</a:t>
            </a:r>
          </a:p>
          <a:p>
            <a:pPr>
              <a:spcAft>
                <a:spcPts val="500"/>
              </a:spcAft>
              <a:defRPr sz="1450">
                <a:solidFill>
                  <a:srgbClr val="556377"/>
                </a:solidFill>
                <a:latin typeface="Calibri"/>
              </a:defRPr>
            </a:pPr>
            <a:r>
              <a:t>•  Set role, runtime, capacity, and timeout</a:t>
            </a:r>
          </a:p>
          <a:p>
            <a:pPr>
              <a:spcAft>
                <a:spcPts val="500"/>
              </a:spcAft>
              <a:defRPr sz="1450">
                <a:solidFill>
                  <a:srgbClr val="556377"/>
                </a:solidFill>
                <a:latin typeface="Calibri"/>
              </a:defRPr>
            </a:pPr>
            <a:r>
              <a:t>•  Save, run, and inspect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5352" y="1938528"/>
            <a:ext cx="5321808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45352" y="1938528"/>
            <a:ext cx="73152" cy="3794760"/>
          </a:xfrm>
          <a:prstGeom prst="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2139696"/>
            <a:ext cx="481888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CLOUDFORMATION PATH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2743200"/>
            <a:ext cx="4864608" cy="28072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450">
                <a:solidFill>
                  <a:srgbClr val="556377"/>
                </a:solidFill>
                <a:latin typeface="Calibri"/>
              </a:defRPr>
            </a:pPr>
            <a:r>
              <a:t>•  Review YAML as the intended state</a:t>
            </a:r>
          </a:p>
          <a:p>
            <a:pPr>
              <a:spcAft>
                <a:spcPts val="500"/>
              </a:spcAft>
              <a:defRPr sz="1450">
                <a:solidFill>
                  <a:srgbClr val="556377"/>
                </a:solidFill>
                <a:latin typeface="Calibri"/>
              </a:defRPr>
            </a:pPr>
            <a:r>
              <a:t>•  Parameterize names and locations</a:t>
            </a:r>
          </a:p>
          <a:p>
            <a:pPr>
              <a:spcAft>
                <a:spcPts val="500"/>
              </a:spcAft>
              <a:defRPr sz="1450">
                <a:solidFill>
                  <a:srgbClr val="556377"/>
                </a:solidFill>
                <a:latin typeface="Calibri"/>
              </a:defRPr>
            </a:pPr>
            <a:r>
              <a:t>•  Deploy consistently</a:t>
            </a:r>
          </a:p>
          <a:p>
            <a:pPr>
              <a:spcAft>
                <a:spcPts val="500"/>
              </a:spcAft>
              <a:defRPr sz="1450">
                <a:solidFill>
                  <a:srgbClr val="556377"/>
                </a:solidFill>
                <a:latin typeface="Calibri"/>
              </a:defRPr>
            </a:pPr>
            <a:r>
              <a:t>•  Track changes and recreate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30368" y="3319272"/>
            <a:ext cx="1719072" cy="292608"/>
          </a:xfrm>
          <a:prstGeom prst="roundRect">
            <a:avLst/>
          </a:prstGeom>
          <a:solidFill>
            <a:srgbClr val="EAF0FD"/>
          </a:solidFill>
          <a:ln w="12700">
            <a:solidFill>
              <a:srgbClr val="EA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85231" y="3332988"/>
            <a:ext cx="1609343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2C66DC"/>
                </a:solidFill>
                <a:latin typeface="Calibri"/>
              </a:rPr>
              <a:t>SAME GOAL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9B96"/>
                </a:solidFill>
                <a:latin typeface="Calibri"/>
              </a:rPr>
              <a:t>REVIEW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556377"/>
                </a:solidFill>
                <a:latin typeface="Calibri"/>
              </a:rPr>
              <a:t>28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4233E"/>
                </a:solidFill>
                <a:latin typeface="Calibri"/>
              </a:rPr>
              <a:t>Approve generated work only after four checks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25296"/>
            <a:ext cx="10561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556377"/>
                </a:solidFill>
                <a:latin typeface="Calibri"/>
              </a:rPr>
              <a:t>Agent speed makes a deliberate review gate more—not less—important.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65208" y="1252728"/>
            <a:ext cx="1965960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20072" y="1266444"/>
            <a:ext cx="1856231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009B96"/>
                </a:solidFill>
                <a:latin typeface="Calibri"/>
              </a:rPr>
              <a:t>CURRENT SAFETY GUIDANCE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0579608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663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 i="0">
                <a:solidFill>
                  <a:srgbClr val="556377"/>
                </a:solidFill>
                <a:latin typeface="Calibri"/>
              </a:rPr>
              <a:t>MODULE 07  |  AGENTIC DATA ENGINEERING WITH AMAZON 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6473952"/>
            <a:ext cx="69311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40" b="0" i="0">
                <a:solidFill>
                  <a:srgbClr val="556377"/>
                </a:solidFill>
                <a:latin typeface="Calibri"/>
              </a:rPr>
              <a:t>19-3 core transcript + safety guidance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2029968"/>
            <a:ext cx="2654046" cy="3639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29968"/>
            <a:ext cx="73152" cy="3639312"/>
          </a:xfrm>
          <a:prstGeom prst="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" y="2249424"/>
            <a:ext cx="475488" cy="292608"/>
          </a:xfrm>
          <a:prstGeom prst="round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5" y="226314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231136"/>
            <a:ext cx="160248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Intent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2852928"/>
            <a:ext cx="2196846" cy="2633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556377"/>
                </a:solidFill>
                <a:latin typeface="Calibri"/>
              </a:rPr>
              <a:t>Does the change solve the stated requirement—and nothing broader?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48990" y="2029968"/>
            <a:ext cx="2654046" cy="3639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48990" y="2029968"/>
            <a:ext cx="73152" cy="3639312"/>
          </a:xfrm>
          <a:prstGeom prst="rect">
            <a:avLst/>
          </a:prstGeom>
          <a:solidFill>
            <a:srgbClr val="C94C4C"/>
          </a:solidFill>
          <a:ln w="12700">
            <a:solidFill>
              <a:srgbClr val="C9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577590" y="2249424"/>
            <a:ext cx="475488" cy="292608"/>
          </a:xfrm>
          <a:prstGeom prst="roundRect">
            <a:avLst/>
          </a:prstGeom>
          <a:solidFill>
            <a:srgbClr val="C94C4C"/>
          </a:solidFill>
          <a:ln w="12700">
            <a:solidFill>
              <a:srgbClr val="C9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32454" y="226314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71950" y="2231136"/>
            <a:ext cx="160248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Security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77590" y="2852928"/>
            <a:ext cx="2196846" cy="2633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556377"/>
                </a:solidFill>
                <a:latin typeface="Calibri"/>
              </a:rPr>
              <a:t>Are IAM permissions least-privilege and secrets absent?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67628" y="2029968"/>
            <a:ext cx="2654046" cy="3639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67628" y="2029968"/>
            <a:ext cx="73152" cy="3639312"/>
          </a:xfrm>
          <a:prstGeom prst="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96228" y="2249424"/>
            <a:ext cx="475488" cy="292608"/>
          </a:xfrm>
          <a:prstGeom prst="round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51092" y="226314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0588" y="2231136"/>
            <a:ext cx="160248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Operations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6228" y="2852928"/>
            <a:ext cx="2196846" cy="2633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556377"/>
                </a:solidFill>
                <a:latin typeface="Calibri"/>
              </a:rPr>
              <a:t>Are logs, retries, names, region, cost, and cleanup understood?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86266" y="2029968"/>
            <a:ext cx="2654046" cy="3639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986266" y="2029968"/>
            <a:ext cx="73152" cy="3639312"/>
          </a:xfrm>
          <a:prstGeom prst="rect">
            <a:avLst/>
          </a:prstGeom>
          <a:solidFill>
            <a:srgbClr val="2A9160"/>
          </a:solidFill>
          <a:ln w="1270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214866" y="2249424"/>
            <a:ext cx="475488" cy="292608"/>
          </a:xfrm>
          <a:prstGeom prst="roundRect">
            <a:avLst/>
          </a:prstGeom>
          <a:solidFill>
            <a:srgbClr val="2A9160"/>
          </a:solidFill>
          <a:ln w="1270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69730" y="226314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09226" y="2231136"/>
            <a:ext cx="160248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Verification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14866" y="2852928"/>
            <a:ext cx="2196846" cy="2633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556377"/>
                </a:solidFill>
                <a:latin typeface="Calibri"/>
              </a:rPr>
              <a:t>Is there a concrete way to prove data and runtime outcomes?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9B96"/>
                </a:solidFill>
                <a:latin typeface="Calibri"/>
              </a:rPr>
              <a:t>EXECUTE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556377"/>
                </a:solidFill>
                <a:latin typeface="Calibri"/>
              </a:rPr>
              <a:t>29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4233E"/>
                </a:solidFill>
                <a:latin typeface="Calibri"/>
              </a:rPr>
              <a:t>Deploy, run, and observe the Glue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25296"/>
            <a:ext cx="10561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556377"/>
                </a:solidFill>
                <a:latin typeface="Calibri"/>
              </a:rPr>
              <a:t>Execution creates evidence: a stack, a job, a run state, logs, and eventually S3 objects.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65208" y="1252728"/>
            <a:ext cx="1965960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20072" y="1266444"/>
            <a:ext cx="1856231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009B96"/>
                </a:solidFill>
                <a:latin typeface="Calibri"/>
              </a:rPr>
              <a:t>TRANSCRIPT-DERIVED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0579608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663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 i="0">
                <a:solidFill>
                  <a:srgbClr val="556377"/>
                </a:solidFill>
                <a:latin typeface="Calibri"/>
              </a:rPr>
              <a:t>MODULE 07  |  AGENTIC DATA ENGINEERING WITH AMAZON 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6473952"/>
            <a:ext cx="69311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40" b="0" i="0">
                <a:solidFill>
                  <a:srgbClr val="556377"/>
                </a:solidFill>
                <a:latin typeface="Calibri"/>
              </a:rPr>
              <a:t>19-3-ai-driven-development-vibe-coding-revisit.txt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2286000"/>
            <a:ext cx="2516886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286000"/>
            <a:ext cx="73152" cy="2542032"/>
          </a:xfrm>
          <a:prstGeom prst="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" y="2505456"/>
            <a:ext cx="475488" cy="292608"/>
          </a:xfrm>
          <a:prstGeom prst="round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5" y="2519172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487168"/>
            <a:ext cx="146532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Deploy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3108960"/>
            <a:ext cx="2059686" cy="1536191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56377"/>
                </a:solidFill>
                <a:latin typeface="Calibri"/>
              </a:rPr>
              <a:t>Run the reviewed deployment script and wait for the stack.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083814" y="3557015"/>
            <a:ext cx="274320" cy="0"/>
          </a:xfrm>
          <a:prstGeom prst="line">
            <a:avLst/>
          </a:prstGeom>
          <a:ln w="25400">
            <a:solidFill>
              <a:srgbClr val="5563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394710" y="2286000"/>
            <a:ext cx="2516886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94710" y="2286000"/>
            <a:ext cx="73152" cy="2542032"/>
          </a:xfrm>
          <a:prstGeom prst="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3310" y="2505456"/>
            <a:ext cx="475488" cy="292608"/>
          </a:xfrm>
          <a:prstGeom prst="round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78174" y="2519172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17670" y="2487168"/>
            <a:ext cx="146532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Inspect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23310" y="3108960"/>
            <a:ext cx="2059686" cy="1536191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56377"/>
                </a:solidFill>
                <a:latin typeface="Calibri"/>
              </a:rPr>
              <a:t>Open Glue and confirm the job configuration and script.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48172" y="3557015"/>
            <a:ext cx="274320" cy="0"/>
          </a:xfrm>
          <a:prstGeom prst="line">
            <a:avLst/>
          </a:prstGeom>
          <a:ln w="25400">
            <a:solidFill>
              <a:srgbClr val="5563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259068" y="2286000"/>
            <a:ext cx="2516886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59068" y="2286000"/>
            <a:ext cx="73152" cy="2542032"/>
          </a:xfrm>
          <a:prstGeom prst="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87668" y="2505456"/>
            <a:ext cx="475488" cy="292608"/>
          </a:xfrm>
          <a:prstGeom prst="round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42531" y="2519172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2028" y="2487168"/>
            <a:ext cx="146532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Run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87668" y="3108960"/>
            <a:ext cx="2059686" cy="1536191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56377"/>
                </a:solidFill>
                <a:latin typeface="Calibri"/>
              </a:rPr>
              <a:t>Start the job through an approved CLI command or console.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812530" y="3557015"/>
            <a:ext cx="274320" cy="0"/>
          </a:xfrm>
          <a:prstGeom prst="line">
            <a:avLst/>
          </a:prstGeom>
          <a:ln w="25400">
            <a:solidFill>
              <a:srgbClr val="5563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123426" y="2286000"/>
            <a:ext cx="2516886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123426" y="2286000"/>
            <a:ext cx="73152" cy="2542032"/>
          </a:xfrm>
          <a:prstGeom prst="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352026" y="2505456"/>
            <a:ext cx="475488" cy="292608"/>
          </a:xfrm>
          <a:prstGeom prst="round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06890" y="2519172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46386" y="2487168"/>
            <a:ext cx="146532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Observe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52026" y="3108960"/>
            <a:ext cx="2059686" cy="1536191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56377"/>
                </a:solidFill>
                <a:latin typeface="Calibri"/>
              </a:rPr>
              <a:t>Track run state and retain the run ID and logs.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00200" y="5193792"/>
            <a:ext cx="9006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4233E"/>
                </a:solidFill>
                <a:latin typeface="Calibri"/>
              </a:rPr>
              <a:t>“The command returned” is an event. “The data arrived correctly” is an outcome.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9B96"/>
                </a:solidFill>
                <a:latin typeface="Calibri"/>
              </a:rPr>
              <a:t>DIAGNOSE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556377"/>
                </a:solidFill>
                <a:latin typeface="Calibri"/>
              </a:rPr>
              <a:t>30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4233E"/>
                </a:solidFill>
                <a:latin typeface="Calibri"/>
              </a:rPr>
              <a:t>Feed concrete runtime evidence back into the agent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25296"/>
            <a:ext cx="10561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556377"/>
                </a:solidFill>
                <a:latin typeface="Calibri"/>
              </a:rPr>
              <a:t>The demo's first run fails; the useful pattern is evidence → focused diagnosis → reviewed correction.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65208" y="1252728"/>
            <a:ext cx="1965960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20072" y="1266444"/>
            <a:ext cx="1856231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009B96"/>
                </a:solidFill>
                <a:latin typeface="Calibri"/>
              </a:rPr>
              <a:t>TRANSCRIPT-DERIVED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0579608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663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 i="0">
                <a:solidFill>
                  <a:srgbClr val="556377"/>
                </a:solidFill>
                <a:latin typeface="Calibri"/>
              </a:rPr>
              <a:t>MODULE 07  |  AGENTIC DATA ENGINEERING WITH AMAZON 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6473952"/>
            <a:ext cx="69311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40" b="0" i="0">
                <a:solidFill>
                  <a:srgbClr val="556377"/>
                </a:solidFill>
                <a:latin typeface="Calibri"/>
              </a:rPr>
              <a:t>19-3-ai-driven-development-vibe-coding-revisit.txt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2212848"/>
            <a:ext cx="1944014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212848"/>
            <a:ext cx="73152" cy="2514600"/>
          </a:xfrm>
          <a:prstGeom prst="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" y="2432304"/>
            <a:ext cx="475488" cy="292608"/>
          </a:xfrm>
          <a:prstGeom prst="round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5" y="244602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414016"/>
            <a:ext cx="89245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Failure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3035808"/>
            <a:ext cx="1486814" cy="1508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556377"/>
                </a:solidFill>
                <a:latin typeface="Calibri"/>
              </a:rPr>
              <a:t>Capture run ID, state, and exact error.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510942" y="3470148"/>
            <a:ext cx="274320" cy="0"/>
          </a:xfrm>
          <a:prstGeom prst="line">
            <a:avLst/>
          </a:prstGeom>
          <a:ln w="25400">
            <a:solidFill>
              <a:srgbClr val="5563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821838" y="2212848"/>
            <a:ext cx="1944014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21838" y="2212848"/>
            <a:ext cx="73152" cy="2514600"/>
          </a:xfrm>
          <a:prstGeom prst="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050438" y="2432304"/>
            <a:ext cx="475488" cy="292608"/>
          </a:xfrm>
          <a:prstGeom prst="round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05302" y="244602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44798" y="2414016"/>
            <a:ext cx="89245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Logs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50438" y="3035808"/>
            <a:ext cx="1486814" cy="1508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556377"/>
                </a:solidFill>
                <a:latin typeface="Calibri"/>
              </a:rPr>
              <a:t>Retrieve the relevant CloudWatch output.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802428" y="3470148"/>
            <a:ext cx="274320" cy="0"/>
          </a:xfrm>
          <a:prstGeom prst="line">
            <a:avLst/>
          </a:prstGeom>
          <a:ln w="25400">
            <a:solidFill>
              <a:srgbClr val="5563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113324" y="2212848"/>
            <a:ext cx="1944014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113324" y="2212848"/>
            <a:ext cx="73152" cy="2514600"/>
          </a:xfrm>
          <a:prstGeom prst="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341924" y="2432304"/>
            <a:ext cx="475488" cy="292608"/>
          </a:xfrm>
          <a:prstGeom prst="round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96788" y="244602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36284" y="2414016"/>
            <a:ext cx="89245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Diagnosis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1924" y="3035808"/>
            <a:ext cx="1486814" cy="1508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556377"/>
                </a:solidFill>
                <a:latin typeface="Calibri"/>
              </a:rPr>
              <a:t>Ask the agent to explain the failure against artifacts.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093915" y="3470148"/>
            <a:ext cx="274320" cy="0"/>
          </a:xfrm>
          <a:prstGeom prst="line">
            <a:avLst/>
          </a:prstGeom>
          <a:ln w="25400">
            <a:solidFill>
              <a:srgbClr val="5563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404811" y="2212848"/>
            <a:ext cx="1944014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404811" y="2212848"/>
            <a:ext cx="73152" cy="2514600"/>
          </a:xfrm>
          <a:prstGeom prst="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633411" y="2432304"/>
            <a:ext cx="475488" cy="292608"/>
          </a:xfrm>
          <a:prstGeom prst="round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8275" y="244602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7771" y="2414016"/>
            <a:ext cx="89245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Change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33411" y="3035808"/>
            <a:ext cx="1486814" cy="1508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556377"/>
                </a:solidFill>
                <a:latin typeface="Calibri"/>
              </a:rPr>
              <a:t>Review the proposed code or configuration correction.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385401" y="3470148"/>
            <a:ext cx="274320" cy="0"/>
          </a:xfrm>
          <a:prstGeom prst="line">
            <a:avLst/>
          </a:prstGeom>
          <a:ln w="25400">
            <a:solidFill>
              <a:srgbClr val="5563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9696297" y="2212848"/>
            <a:ext cx="1944014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696297" y="2212848"/>
            <a:ext cx="73152" cy="2514600"/>
          </a:xfrm>
          <a:prstGeom prst="rect">
            <a:avLst/>
          </a:prstGeom>
          <a:solidFill>
            <a:srgbClr val="2A9160"/>
          </a:solidFill>
          <a:ln w="1270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924897" y="2432304"/>
            <a:ext cx="475488" cy="292608"/>
          </a:xfrm>
          <a:prstGeom prst="roundRect">
            <a:avLst/>
          </a:prstGeom>
          <a:solidFill>
            <a:srgbClr val="2A9160"/>
          </a:solidFill>
          <a:ln w="1270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979761" y="244602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9257" y="2414016"/>
            <a:ext cx="89245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Redeploy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24897" y="3035808"/>
            <a:ext cx="1486814" cy="1508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556377"/>
                </a:solidFill>
                <a:latin typeface="Calibri"/>
              </a:rPr>
              <a:t>Update, rerun, and compare new evidence.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463040" y="5120640"/>
            <a:ext cx="9281160" cy="612648"/>
          </a:xfrm>
          <a:prstGeom prst="roundRect">
            <a:avLst/>
          </a:prstGeom>
          <a:solidFill>
            <a:srgbClr val="F0ECF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691640" y="5285232"/>
            <a:ext cx="8823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30" b="1" i="0">
                <a:solidFill>
                  <a:srgbClr val="14233E"/>
                </a:solidFill>
                <a:latin typeface="Calibri"/>
              </a:rPr>
              <a:t>BAD: “It failed—fix it.”   BETTER: run ID + error + logs + expected behavior + relevant files.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9B96"/>
                </a:solidFill>
                <a:latin typeface="Calibri"/>
              </a:rPr>
              <a:t>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556377"/>
                </a:solidFill>
                <a:latin typeface="Calibri"/>
              </a:rPr>
              <a:t>31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4233E"/>
                </a:solidFill>
                <a:latin typeface="Calibri"/>
              </a:rPr>
              <a:t>Prove the data outcome in S3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25296"/>
            <a:ext cx="10561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556377"/>
                </a:solidFill>
                <a:latin typeface="Calibri"/>
              </a:rPr>
              <a:t>A successful run matters only if the expected objects landed in the intended location and are usable.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65208" y="1252728"/>
            <a:ext cx="1965960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20072" y="1266444"/>
            <a:ext cx="1856231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009B96"/>
                </a:solidFill>
                <a:latin typeface="Calibri"/>
              </a:rPr>
              <a:t>TRANSCRIPT + GUIDANCE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0579608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663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 i="0">
                <a:solidFill>
                  <a:srgbClr val="556377"/>
                </a:solidFill>
                <a:latin typeface="Calibri"/>
              </a:rPr>
              <a:t>MODULE 07  |  AGENTIC DATA ENGINEERING WITH AMAZON 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6473952"/>
            <a:ext cx="69311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40" b="0" i="0">
                <a:solidFill>
                  <a:srgbClr val="556377"/>
                </a:solidFill>
                <a:latin typeface="Calibri"/>
              </a:rPr>
              <a:t>19-3-ai-driven-development-vibe-coding-revisit.txt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25880" y="1993392"/>
            <a:ext cx="9555480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27048" y="2157984"/>
            <a:ext cx="13898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C66DC"/>
                </a:solidFill>
                <a:latin typeface="Calibri"/>
              </a:rPr>
              <a:t>1  RUN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39" y="2139696"/>
            <a:ext cx="781811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4233E"/>
                </a:solidFill>
                <a:latin typeface="Calibri"/>
              </a:rPr>
              <a:t>Glue reports success for the intended run ID.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74519" y="2834640"/>
            <a:ext cx="8458200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75688" y="2999232"/>
            <a:ext cx="13898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09B96"/>
                </a:solidFill>
                <a:latin typeface="Calibri"/>
              </a:rPr>
              <a:t>2  LOCATION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79" y="2980944"/>
            <a:ext cx="6720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4233E"/>
                </a:solidFill>
                <a:latin typeface="Calibri"/>
              </a:rPr>
              <a:t>Objects exist in the expected bucket and prefix.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23160" y="3675887"/>
            <a:ext cx="7360920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24328" y="3840479"/>
            <a:ext cx="13898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6F52B8"/>
                </a:solidFill>
                <a:latin typeface="Calibri"/>
              </a:rPr>
              <a:t>3  CONTENT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3822191"/>
            <a:ext cx="5623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4233E"/>
                </a:solidFill>
                <a:latin typeface="Calibri"/>
              </a:rPr>
              <a:t>Names, counts, sizes, dates, and Parquet readability make sense.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71800" y="4517136"/>
            <a:ext cx="6263640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72968" y="4681728"/>
            <a:ext cx="13898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A9160"/>
                </a:solidFill>
                <a:latin typeface="Calibri"/>
              </a:rPr>
              <a:t>4  REPEATABILITY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4663440"/>
            <a:ext cx="452627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4233E"/>
                </a:solidFill>
                <a:latin typeface="Calibri"/>
              </a:rPr>
              <a:t>A rerun is safe, observable, and does not silently corrupt output.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9B96"/>
                </a:solidFill>
                <a:latin typeface="Calibri"/>
              </a:rPr>
              <a:t>VIBE CODING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556377"/>
                </a:solidFill>
                <a:latin typeface="Calibri"/>
              </a:rPr>
              <a:t>32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4233E"/>
                </a:solidFill>
                <a:latin typeface="Calibri"/>
              </a:rPr>
              <a:t>Reframe vibe coding as evidence-driven iteration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25296"/>
            <a:ext cx="10561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556377"/>
                </a:solidFill>
                <a:latin typeface="Calibri"/>
              </a:rPr>
              <a:t>Conversation accelerates the loop; engineering discipline keeps the loop safe and explainable.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65208" y="1252728"/>
            <a:ext cx="1965960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20072" y="1266444"/>
            <a:ext cx="1856231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009B96"/>
                </a:solidFill>
                <a:latin typeface="Calibri"/>
              </a:rPr>
              <a:t>TRANSCRIPT + GUIDANCE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0579608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663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 i="0">
                <a:solidFill>
                  <a:srgbClr val="556377"/>
                </a:solidFill>
                <a:latin typeface="Calibri"/>
              </a:rPr>
              <a:t>MODULE 07  |  AGENTIC DATA ENGINEERING WITH AMAZON 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6473952"/>
            <a:ext cx="69311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40" b="0" i="0">
                <a:solidFill>
                  <a:srgbClr val="556377"/>
                </a:solidFill>
                <a:latin typeface="Calibri"/>
              </a:rPr>
              <a:t>19-3-ai-driven-development-vibe-coding-revisit.txt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2011680"/>
            <a:ext cx="2654046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11680"/>
            <a:ext cx="73152" cy="3657600"/>
          </a:xfrm>
          <a:prstGeom prst="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" y="2231136"/>
            <a:ext cx="475488" cy="292608"/>
          </a:xfrm>
          <a:prstGeom prst="round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5" y="2244852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212848"/>
            <a:ext cx="160248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Conversational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2834640"/>
            <a:ext cx="2196846" cy="2651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556377"/>
                </a:solidFill>
                <a:latin typeface="Calibri"/>
              </a:rPr>
              <a:t>State intent and ask clarifying questions in natural language.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48990" y="2011680"/>
            <a:ext cx="2654046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48990" y="2011680"/>
            <a:ext cx="73152" cy="3657600"/>
          </a:xfrm>
          <a:prstGeom prst="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577590" y="2231136"/>
            <a:ext cx="475488" cy="292608"/>
          </a:xfrm>
          <a:prstGeom prst="round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32454" y="2244852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71950" y="2212848"/>
            <a:ext cx="160248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Artifact-aware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77590" y="2834640"/>
            <a:ext cx="2196846" cy="2651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556377"/>
                </a:solidFill>
                <a:latin typeface="Calibri"/>
              </a:rPr>
              <a:t>Keep generated code, IaC, and scripts visible and organized.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67628" y="2011680"/>
            <a:ext cx="2654046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67628" y="2011680"/>
            <a:ext cx="73152" cy="3657600"/>
          </a:xfrm>
          <a:prstGeom prst="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96228" y="2231136"/>
            <a:ext cx="475488" cy="292608"/>
          </a:xfrm>
          <a:prstGeom prst="round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51092" y="2244852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0588" y="2212848"/>
            <a:ext cx="160248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Evidence-fed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6228" y="2834640"/>
            <a:ext cx="2196846" cy="2651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556377"/>
                </a:solidFill>
                <a:latin typeface="Calibri"/>
              </a:rPr>
              <a:t>Return logs, status, diffs, and observed outcomes—not guesses.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86266" y="2011680"/>
            <a:ext cx="2654046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986266" y="2011680"/>
            <a:ext cx="73152" cy="3657600"/>
          </a:xfrm>
          <a:prstGeom prst="rect">
            <a:avLst/>
          </a:prstGeom>
          <a:solidFill>
            <a:srgbClr val="2A9160"/>
          </a:solidFill>
          <a:ln w="1270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214866" y="2231136"/>
            <a:ext cx="475488" cy="292608"/>
          </a:xfrm>
          <a:prstGeom prst="roundRect">
            <a:avLst/>
          </a:prstGeom>
          <a:solidFill>
            <a:srgbClr val="2A9160"/>
          </a:solidFill>
          <a:ln w="1270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69730" y="2244852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09226" y="2212848"/>
            <a:ext cx="160248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Human-controlled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14866" y="2834640"/>
            <a:ext cx="2196846" cy="2651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556377"/>
                </a:solidFill>
                <a:latin typeface="Calibri"/>
              </a:rPr>
              <a:t>Review, approve, verify, and remain accountable for every action.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9B96"/>
                </a:solidFill>
                <a:latin typeface="Calibri"/>
              </a:rPr>
              <a:t>BUILD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556377"/>
                </a:solidFill>
                <a:latin typeface="Calibri"/>
              </a:rPr>
              <a:t>33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4233E"/>
                </a:solidFill>
                <a:latin typeface="Calibri"/>
              </a:rPr>
              <a:t>Reproduce one bounded ingestion slice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25296"/>
            <a:ext cx="10561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556377"/>
                </a:solidFill>
                <a:latin typeface="Calibri"/>
              </a:rPr>
              <a:t>Hands-on proof is the point: build the smallest useful path and retain evidence you can explain.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65208" y="1252728"/>
            <a:ext cx="1965960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20072" y="1266444"/>
            <a:ext cx="1856231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009B96"/>
                </a:solidFill>
                <a:latin typeface="Calibri"/>
              </a:rPr>
              <a:t>TRANSCRIPT + GUIDANCE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0579608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663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 i="0">
                <a:solidFill>
                  <a:srgbClr val="556377"/>
                </a:solidFill>
                <a:latin typeface="Calibri"/>
              </a:rPr>
              <a:t>MODULE 07  |  AGENTIC DATA ENGINEERING WITH AMAZON 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6473952"/>
            <a:ext cx="69311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40" b="0" i="0">
                <a:solidFill>
                  <a:srgbClr val="556377"/>
                </a:solidFill>
                <a:latin typeface="Calibri"/>
              </a:rPr>
              <a:t>17-1, 18-2, 19-3 core transcripts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828800"/>
            <a:ext cx="5230368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828800"/>
            <a:ext cx="73152" cy="3611880"/>
          </a:xfrm>
          <a:prstGeom prst="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029968"/>
            <a:ext cx="472744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2633472"/>
            <a:ext cx="4773168" cy="262432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556377"/>
                </a:solidFill>
                <a:latin typeface="Calibri"/>
              </a:defRPr>
            </a:pPr>
            <a:r>
              <a:t>•  Create a uniquely named, budgeted S3 target</a:t>
            </a:r>
          </a:p>
          <a:p>
            <a:pPr>
              <a:spcAft>
                <a:spcPts val="500"/>
              </a:spcAft>
              <a:defRPr sz="1500">
                <a:solidFill>
                  <a:srgbClr val="556377"/>
                </a:solidFill>
                <a:latin typeface="Calibri"/>
              </a:defRPr>
            </a:pPr>
            <a:r>
              <a:t>•  Generate and review Python + IaC + deployment artifacts</a:t>
            </a:r>
          </a:p>
          <a:p>
            <a:pPr>
              <a:spcAft>
                <a:spcPts val="500"/>
              </a:spcAft>
              <a:defRPr sz="1500">
                <a:solidFill>
                  <a:srgbClr val="556377"/>
                </a:solidFill>
                <a:latin typeface="Calibri"/>
              </a:defRPr>
            </a:pPr>
            <a:r>
              <a:t>•  Deploy and run the Glue Python Shell job</a:t>
            </a:r>
          </a:p>
          <a:p>
            <a:pPr>
              <a:spcAft>
                <a:spcPts val="500"/>
              </a:spcAft>
              <a:defRPr sz="1500">
                <a:solidFill>
                  <a:srgbClr val="556377"/>
                </a:solidFill>
                <a:latin typeface="Calibri"/>
              </a:defRPr>
            </a:pPr>
            <a:r>
              <a:t>•  Correct at least one evidence-backed issue if encountered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61888" y="1828800"/>
            <a:ext cx="5678424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61888" y="1828800"/>
            <a:ext cx="73152" cy="3611880"/>
          </a:xfrm>
          <a:prstGeom prst="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2029968"/>
            <a:ext cx="517550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CAPTURE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0488" y="2633472"/>
            <a:ext cx="5221224" cy="262432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556377"/>
                </a:solidFill>
                <a:latin typeface="Calibri"/>
              </a:defRPr>
            </a:pPr>
            <a:r>
              <a:t>•  Architecture and requirement statement</a:t>
            </a:r>
          </a:p>
          <a:p>
            <a:pPr>
              <a:spcAft>
                <a:spcPts val="500"/>
              </a:spcAft>
              <a:defRPr sz="1500">
                <a:solidFill>
                  <a:srgbClr val="556377"/>
                </a:solidFill>
                <a:latin typeface="Calibri"/>
              </a:defRPr>
            </a:pPr>
            <a:r>
              <a:t>•  Reviewed commands and key configuration choices</a:t>
            </a:r>
          </a:p>
          <a:p>
            <a:pPr>
              <a:spcAft>
                <a:spcPts val="500"/>
              </a:spcAft>
              <a:defRPr sz="1500">
                <a:solidFill>
                  <a:srgbClr val="556377"/>
                </a:solidFill>
                <a:latin typeface="Calibri"/>
              </a:defRPr>
            </a:pPr>
            <a:r>
              <a:t>•  Run ID, logs, correction, and rerun evidence</a:t>
            </a:r>
          </a:p>
          <a:p>
            <a:pPr>
              <a:spcAft>
                <a:spcPts val="500"/>
              </a:spcAft>
              <a:defRPr sz="1500">
                <a:solidFill>
                  <a:srgbClr val="556377"/>
                </a:solidFill>
                <a:latin typeface="Calibri"/>
              </a:defRPr>
            </a:pPr>
            <a:r>
              <a:t>•  S3 object proof plus cleanup steps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057400" y="5596128"/>
            <a:ext cx="8065008" cy="457200"/>
          </a:xfrm>
          <a:prstGeom prst="roundRect">
            <a:avLst/>
          </a:prstGeom>
          <a:solidFill>
            <a:srgbClr val="14233E"/>
          </a:solidFill>
          <a:ln w="12700">
            <a:solidFill>
              <a:srgbClr val="142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94560" y="5687568"/>
            <a:ext cx="77906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DONE MEANS VERIFIED DATA + AN EXPLAINABLE DECISION TRAIL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41148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2D7D2"/>
                </a:solidFill>
                <a:latin typeface="Calibri"/>
              </a:rPr>
              <a:t>SECTION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170432"/>
            <a:ext cx="13258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200" b="1" i="0">
                <a:solidFill>
                  <a:srgbClr val="009B96"/>
                </a:solidFill>
                <a:latin typeface="Calibri"/>
              </a:rPr>
              <a:t>04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2011680" y="1307592"/>
            <a:ext cx="9006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300" b="1" i="0">
                <a:solidFill>
                  <a:srgbClr val="FFFFFF"/>
                </a:solidFill>
                <a:latin typeface="Calibri"/>
              </a:rPr>
              <a:t>Extend the workflow and prepare for 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0" y="2834640"/>
            <a:ext cx="8961120" cy="1280160"/>
          </a:xfrm>
          <a:prstGeom prst="roundRect">
            <a:avLst/>
          </a:prstGeom>
          <a:solidFill>
            <a:srgbClr val="17324B"/>
          </a:solidFill>
          <a:ln w="12700">
            <a:solidFill>
              <a:srgbClr val="365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67712" y="3044952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72D7D2"/>
                </a:solidFill>
                <a:latin typeface="Calibri"/>
              </a:rPr>
              <a:t>BEGINNER PROMISE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67712" y="3401568"/>
            <a:ext cx="82753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Calibri"/>
              </a:rPr>
              <a:t>You will reuse the same human-led pattern for documentation, interviews, inherited code, and the larger Project Labs journey.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4498848"/>
            <a:ext cx="8961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CBD5E1"/>
                </a:solidFill>
                <a:latin typeface="Calibri"/>
              </a:rPr>
              <a:t>Additional use cases → organizational safety → career impact → Project Labs handoff → STAR story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21792" y="6382512"/>
            <a:ext cx="10351008" cy="0"/>
          </a:xfrm>
          <a:prstGeom prst="line">
            <a:avLst/>
          </a:prstGeom>
          <a:ln w="19050">
            <a:solidFill>
              <a:srgbClr val="3651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1792" y="6473952"/>
            <a:ext cx="4754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 i="0">
                <a:solidFill>
                  <a:srgbClr val="CBD5E1"/>
                </a:solidFill>
                <a:latin typeface="Calibri"/>
              </a:rPr>
              <a:t>MODULE 07  |  AGENTIC DATA ENGINEERING WITH AMAZON 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6473952"/>
            <a:ext cx="6217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40" b="0" i="0">
                <a:solidFill>
                  <a:srgbClr val="CBD5E1"/>
                </a:solidFill>
                <a:latin typeface="Calibri"/>
              </a:rPr>
              <a:t>Core transcripts 20–21 + selected Project Labs 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45952" y="32004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CBD5E1"/>
                </a:solidFill>
                <a:latin typeface="Calibr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9B96"/>
                </a:solidFill>
                <a:latin typeface="Calibri"/>
              </a:rPr>
              <a:t>EXTEND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556377"/>
                </a:solidFill>
                <a:latin typeface="Calibri"/>
              </a:rPr>
              <a:t>35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4233E"/>
                </a:solidFill>
                <a:latin typeface="Calibri"/>
              </a:rPr>
              <a:t>Use the agent beyond initial code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25296"/>
            <a:ext cx="10561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556377"/>
                </a:solidFill>
                <a:latin typeface="Calibri"/>
              </a:rPr>
              <a:t>The transcript highlights three practical uses that turn project evidence into reusable understanding.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65208" y="1252728"/>
            <a:ext cx="1965960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20072" y="1266444"/>
            <a:ext cx="1856231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009B96"/>
                </a:solidFill>
                <a:latin typeface="Calibri"/>
              </a:rPr>
              <a:t>TRANSCRIPT-DERIVED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0579608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663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 i="0">
                <a:solidFill>
                  <a:srgbClr val="556377"/>
                </a:solidFill>
                <a:latin typeface="Calibri"/>
              </a:rPr>
              <a:t>MODULE 07  |  AGENTIC DATA ENGINEERING WITH AMAZON 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6473952"/>
            <a:ext cx="69311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40" b="0" i="0">
                <a:solidFill>
                  <a:srgbClr val="556377"/>
                </a:solidFill>
                <a:latin typeface="Calibri"/>
              </a:rPr>
              <a:t>20-4-below-three-important-use-cases-of-amazon-q-kiro-revisit.txt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874519"/>
            <a:ext cx="3569208" cy="40050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874519"/>
            <a:ext cx="73152" cy="4005072"/>
          </a:xfrm>
          <a:prstGeom prst="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" y="2093976"/>
            <a:ext cx="475488" cy="292608"/>
          </a:xfrm>
          <a:prstGeom prst="round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5" y="2107692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075688"/>
            <a:ext cx="251764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Documentation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2679191"/>
            <a:ext cx="3112008" cy="30175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450">
                <a:solidFill>
                  <a:srgbClr val="556377"/>
                </a:solidFill>
                <a:latin typeface="Calibri"/>
              </a:defRPr>
            </a:pPr>
            <a:r>
              <a:t>•  Explain architecture and artifacts</a:t>
            </a:r>
          </a:p>
          <a:p>
            <a:pPr>
              <a:spcAft>
                <a:spcPts val="500"/>
              </a:spcAft>
              <a:defRPr sz="1450">
                <a:solidFill>
                  <a:srgbClr val="556377"/>
                </a:solidFill>
                <a:latin typeface="Calibri"/>
              </a:defRPr>
            </a:pPr>
            <a:r>
              <a:t>•  Generate runbooks or README drafts</a:t>
            </a:r>
          </a:p>
          <a:p>
            <a:pPr>
              <a:spcAft>
                <a:spcPts val="500"/>
              </a:spcAft>
              <a:defRPr sz="1450">
                <a:solidFill>
                  <a:srgbClr val="556377"/>
                </a:solidFill>
                <a:latin typeface="Calibri"/>
              </a:defRPr>
            </a:pPr>
            <a:r>
              <a:t>•  Review for factual accuracy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0728" y="1874519"/>
            <a:ext cx="3569208" cy="40050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00728" y="1874519"/>
            <a:ext cx="73152" cy="4005072"/>
          </a:xfrm>
          <a:prstGeom prst="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29328" y="2093976"/>
            <a:ext cx="475488" cy="292608"/>
          </a:xfrm>
          <a:prstGeom prst="round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84192" y="2107692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3688" y="2075688"/>
            <a:ext cx="251764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Interview preparation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9328" y="2679191"/>
            <a:ext cx="3112008" cy="30175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450">
                <a:solidFill>
                  <a:srgbClr val="556377"/>
                </a:solidFill>
                <a:latin typeface="Calibri"/>
              </a:defRPr>
            </a:pPr>
            <a:r>
              <a:t>•  Ask for questions grounded in your project</a:t>
            </a:r>
          </a:p>
          <a:p>
            <a:pPr>
              <a:spcAft>
                <a:spcPts val="500"/>
              </a:spcAft>
              <a:defRPr sz="1450">
                <a:solidFill>
                  <a:srgbClr val="556377"/>
                </a:solidFill>
                <a:latin typeface="Calibri"/>
              </a:defRPr>
            </a:pPr>
            <a:r>
              <a:t>•  Practice explaining trade-offs and failures</a:t>
            </a:r>
          </a:p>
          <a:p>
            <a:pPr>
              <a:spcAft>
                <a:spcPts val="500"/>
              </a:spcAft>
              <a:defRPr sz="1450">
                <a:solidFill>
                  <a:srgbClr val="556377"/>
                </a:solidFill>
                <a:latin typeface="Calibri"/>
              </a:defRPr>
            </a:pPr>
            <a:r>
              <a:t>•  Keep answers in your own words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71104" y="1874519"/>
            <a:ext cx="3569208" cy="40050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71104" y="1874519"/>
            <a:ext cx="73152" cy="4005072"/>
          </a:xfrm>
          <a:prstGeom prst="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99704" y="2093976"/>
            <a:ext cx="475488" cy="292608"/>
          </a:xfrm>
          <a:prstGeom prst="round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54568" y="2107692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94064" y="2075688"/>
            <a:ext cx="251764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Inherited code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9704" y="2679191"/>
            <a:ext cx="3112008" cy="30175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450">
                <a:solidFill>
                  <a:srgbClr val="556377"/>
                </a:solidFill>
                <a:latin typeface="Calibri"/>
              </a:defRPr>
            </a:pPr>
            <a:r>
              <a:t>•  Trace unfamiliar files and data flow</a:t>
            </a:r>
          </a:p>
          <a:p>
            <a:pPr>
              <a:spcAft>
                <a:spcPts val="500"/>
              </a:spcAft>
              <a:defRPr sz="1450">
                <a:solidFill>
                  <a:srgbClr val="556377"/>
                </a:solidFill>
                <a:latin typeface="Calibri"/>
              </a:defRPr>
            </a:pPr>
            <a:r>
              <a:t>•  Ask for focused explanations</a:t>
            </a:r>
          </a:p>
          <a:p>
            <a:pPr>
              <a:spcAft>
                <a:spcPts val="500"/>
              </a:spcAft>
              <a:defRPr sz="1450">
                <a:solidFill>
                  <a:srgbClr val="556377"/>
                </a:solidFill>
                <a:latin typeface="Calibri"/>
              </a:defRPr>
            </a:pPr>
            <a:r>
              <a:t>•  Verify claims against code and runtime evidence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9B96"/>
                </a:solidFill>
                <a:latin typeface="Calibri"/>
              </a:rPr>
              <a:t>ORGANIZATIONAL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556377"/>
                </a:solidFill>
                <a:latin typeface="Calibri"/>
              </a:rPr>
              <a:t>36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4233E"/>
                </a:solidFill>
                <a:latin typeface="Calibri"/>
              </a:rPr>
              <a:t>Use only approved tools, data, and permissions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25296"/>
            <a:ext cx="10561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556377"/>
                </a:solidFill>
                <a:latin typeface="Calibri"/>
              </a:rPr>
              <a:t>Company adoption varies; the safe workflow starts with policy and keeps sensitive context out of unauthorized systems.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65208" y="1252728"/>
            <a:ext cx="1965960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20072" y="1266444"/>
            <a:ext cx="1856231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009B96"/>
                </a:solidFill>
                <a:latin typeface="Calibri"/>
              </a:rPr>
              <a:t>CURRENT SAFETY GUIDANCE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0579608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663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 i="0">
                <a:solidFill>
                  <a:srgbClr val="556377"/>
                </a:solidFill>
                <a:latin typeface="Calibri"/>
              </a:rPr>
              <a:t>MODULE 07  |  AGENTIC DATA ENGINEERING WITH AMAZON 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6473952"/>
            <a:ext cx="69311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40" b="0" i="0">
                <a:solidFill>
                  <a:srgbClr val="556377"/>
                </a:solidFill>
                <a:latin typeface="Calibri"/>
              </a:rPr>
              <a:t>21-5 core transcript + safety guidance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1901952"/>
            <a:ext cx="5321808" cy="382219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1901952"/>
            <a:ext cx="73152" cy="3822191"/>
          </a:xfrm>
          <a:prstGeom prst="rect">
            <a:avLst/>
          </a:prstGeom>
          <a:solidFill>
            <a:srgbClr val="2A9160"/>
          </a:solidFill>
          <a:ln w="1270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2103120"/>
            <a:ext cx="481888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2706624"/>
            <a:ext cx="4864608" cy="2834639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450">
                <a:solidFill>
                  <a:srgbClr val="556377"/>
                </a:solidFill>
                <a:latin typeface="Calibri"/>
              </a:defRPr>
            </a:pPr>
            <a:r>
              <a:t>•  Use employer-approved AI and repositories</a:t>
            </a:r>
          </a:p>
          <a:p>
            <a:pPr>
              <a:spcAft>
                <a:spcPts val="500"/>
              </a:spcAft>
              <a:defRPr sz="1450">
                <a:solidFill>
                  <a:srgbClr val="556377"/>
                </a:solidFill>
                <a:latin typeface="Calibri"/>
              </a:defRPr>
            </a:pPr>
            <a:r>
              <a:t>•  Apply least privilege and review generated commands</a:t>
            </a:r>
          </a:p>
          <a:p>
            <a:pPr>
              <a:spcAft>
                <a:spcPts val="500"/>
              </a:spcAft>
              <a:defRPr sz="1450">
                <a:solidFill>
                  <a:srgbClr val="556377"/>
                </a:solidFill>
                <a:latin typeface="Calibri"/>
              </a:defRPr>
            </a:pPr>
            <a:r>
              <a:t>•  Redact secrets and sensitive data</a:t>
            </a:r>
          </a:p>
          <a:p>
            <a:pPr>
              <a:spcAft>
                <a:spcPts val="500"/>
              </a:spcAft>
              <a:defRPr sz="1450">
                <a:solidFill>
                  <a:srgbClr val="556377"/>
                </a:solidFill>
                <a:latin typeface="Calibri"/>
              </a:defRPr>
            </a:pPr>
            <a:r>
              <a:t>•  Retain code review, test, and change controls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5352" y="1901952"/>
            <a:ext cx="5321808" cy="382219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45352" y="1901952"/>
            <a:ext cx="73152" cy="3822191"/>
          </a:xfrm>
          <a:prstGeom prst="rect">
            <a:avLst/>
          </a:prstGeom>
          <a:solidFill>
            <a:srgbClr val="C94C4C"/>
          </a:solidFill>
          <a:ln w="12700">
            <a:solidFill>
              <a:srgbClr val="C9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2103120"/>
            <a:ext cx="481888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DO NOT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2706624"/>
            <a:ext cx="4864608" cy="2834639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450">
                <a:solidFill>
                  <a:srgbClr val="556377"/>
                </a:solidFill>
                <a:latin typeface="Calibri"/>
              </a:defRPr>
            </a:pPr>
            <a:r>
              <a:t>•  Paste credentials, customer data, or proprietary code into unapproved tools</a:t>
            </a:r>
          </a:p>
          <a:p>
            <a:pPr>
              <a:spcAft>
                <a:spcPts val="500"/>
              </a:spcAft>
              <a:defRPr sz="1450">
                <a:solidFill>
                  <a:srgbClr val="556377"/>
                </a:solidFill>
                <a:latin typeface="Calibri"/>
              </a:defRPr>
            </a:pPr>
            <a:r>
              <a:t>•  Bypass review because output looks plausible</a:t>
            </a:r>
          </a:p>
          <a:p>
            <a:pPr>
              <a:spcAft>
                <a:spcPts val="500"/>
              </a:spcAft>
              <a:defRPr sz="1450">
                <a:solidFill>
                  <a:srgbClr val="556377"/>
                </a:solidFill>
                <a:latin typeface="Calibri"/>
              </a:defRPr>
            </a:pPr>
            <a:r>
              <a:t>•  Let an agent broaden scope silently</a:t>
            </a:r>
          </a:p>
          <a:p>
            <a:pPr>
              <a:spcAft>
                <a:spcPts val="500"/>
              </a:spcAft>
              <a:defRPr sz="1450">
                <a:solidFill>
                  <a:srgbClr val="556377"/>
                </a:solidFill>
                <a:latin typeface="Calibri"/>
              </a:defRPr>
            </a:pPr>
            <a:r>
              <a:t>•  Assume vendor availability equals company authorization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9B96"/>
                </a:solidFill>
                <a:latin typeface="Calibri"/>
              </a:rPr>
              <a:t>CAREER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556377"/>
                </a:solidFill>
                <a:latin typeface="Calibri"/>
              </a:rPr>
              <a:t>37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4233E"/>
                </a:solidFill>
                <a:latin typeface="Calibri"/>
              </a:rPr>
              <a:t>AI increases the value of end-to-end engineering judgment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25296"/>
            <a:ext cx="10561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556377"/>
                </a:solidFill>
                <a:latin typeface="Calibri"/>
              </a:rPr>
              <a:t>The transcript argues that productivity rises while conceptual maturity and communication become stronger differentiators.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65208" y="1252728"/>
            <a:ext cx="1965960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20072" y="1266444"/>
            <a:ext cx="1856231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009B96"/>
                </a:solidFill>
                <a:latin typeface="Calibri"/>
              </a:rPr>
              <a:t>TRANSCRIPT-DERIVED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0579608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663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 i="0">
                <a:solidFill>
                  <a:srgbClr val="556377"/>
                </a:solidFill>
                <a:latin typeface="Calibri"/>
              </a:rPr>
              <a:t>MODULE 07  |  AGENTIC DATA ENGINEERING WITH AMAZON 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6473952"/>
            <a:ext cx="69311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40" b="0" i="0">
                <a:solidFill>
                  <a:srgbClr val="556377"/>
                </a:solidFill>
                <a:latin typeface="Calibri"/>
              </a:rPr>
              <a:t>21-5-is-ai-taking-away-jobs-where-does-this-leave-us-revisit.txt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965960"/>
            <a:ext cx="2654046" cy="3703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965960"/>
            <a:ext cx="73152" cy="3703320"/>
          </a:xfrm>
          <a:prstGeom prst="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" y="2185415"/>
            <a:ext cx="475488" cy="292608"/>
          </a:xfrm>
          <a:prstGeom prst="round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5" y="2199132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167128"/>
            <a:ext cx="160248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More scope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2788920"/>
            <a:ext cx="2196846" cy="269747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556377"/>
                </a:solidFill>
                <a:latin typeface="Calibri"/>
              </a:rPr>
              <a:t>Smaller teams may deliver more; engineers own a wider path.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48990" y="1965960"/>
            <a:ext cx="2654046" cy="3703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48990" y="1965960"/>
            <a:ext cx="73152" cy="3703320"/>
          </a:xfrm>
          <a:prstGeom prst="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577590" y="2185415"/>
            <a:ext cx="475488" cy="292608"/>
          </a:xfrm>
          <a:prstGeom prst="round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32454" y="2199132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71950" y="2167128"/>
            <a:ext cx="160248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Deeper concepts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77590" y="2788920"/>
            <a:ext cx="2196846" cy="269747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556377"/>
                </a:solidFill>
                <a:latin typeface="Calibri"/>
              </a:rPr>
              <a:t>Service choice, data modeling, reliability, and cost still require judgment.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67628" y="1965960"/>
            <a:ext cx="2654046" cy="3703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67628" y="1965960"/>
            <a:ext cx="73152" cy="3703320"/>
          </a:xfrm>
          <a:prstGeom prst="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96228" y="2185415"/>
            <a:ext cx="475488" cy="292608"/>
          </a:xfrm>
          <a:prstGeom prst="round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51092" y="2199132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0588" y="2167128"/>
            <a:ext cx="160248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Clear communication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6228" y="2788920"/>
            <a:ext cx="2196846" cy="269747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556377"/>
                </a:solidFill>
                <a:latin typeface="Calibri"/>
              </a:rPr>
              <a:t>Requirements, trade-offs, incidents, and outcomes must be explainable.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86266" y="1965960"/>
            <a:ext cx="2654046" cy="3703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986266" y="1965960"/>
            <a:ext cx="73152" cy="3703320"/>
          </a:xfrm>
          <a:prstGeom prst="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214866" y="2185415"/>
            <a:ext cx="475488" cy="292608"/>
          </a:xfrm>
          <a:prstGeom prst="round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69730" y="2199132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09226" y="2167128"/>
            <a:ext cx="160248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Production awareness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14866" y="2788920"/>
            <a:ext cx="2196846" cy="269747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556377"/>
                </a:solidFill>
                <a:latin typeface="Calibri"/>
              </a:rPr>
              <a:t>Architecture, security, DevOps, and operations separate demos from systems.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9B96"/>
                </a:solidFill>
                <a:latin typeface="Calibri"/>
              </a:rPr>
              <a:t>PROJECT LABS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556377"/>
                </a:solidFill>
                <a:latin typeface="Calibri"/>
              </a:rPr>
              <a:t>38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4233E"/>
                </a:solidFill>
                <a:latin typeface="Calibri"/>
              </a:rPr>
              <a:t>Module 07 is the mandatory bridge back into Project 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25296"/>
            <a:ext cx="10561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556377"/>
                </a:solidFill>
                <a:latin typeface="Calibri"/>
              </a:rPr>
              <a:t>Project Labs lesson 25 pauses the larger project and explicitly requires this agentic course before ingestion continues.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65208" y="1252728"/>
            <a:ext cx="1965960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20072" y="1266444"/>
            <a:ext cx="1856231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009B96"/>
                </a:solidFill>
                <a:latin typeface="Calibri"/>
              </a:rPr>
              <a:t>PROJECT LABS SUPPORTING CONTEXT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0579608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663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 i="0">
                <a:solidFill>
                  <a:srgbClr val="556377"/>
                </a:solidFill>
                <a:latin typeface="Calibri"/>
              </a:rPr>
              <a:t>MODULE 07  |  AGENTIC DATA ENGINEERING WITH AMAZON 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6473952"/>
            <a:ext cx="69311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40" b="0" i="0">
                <a:solidFill>
                  <a:srgbClr val="556377"/>
                </a:solidFill>
                <a:latin typeface="Calibri"/>
              </a:rPr>
              <a:t>25-1-below-mandatory-detour-to-course-rade-agentic-data-engineering-with-amazon-q-r.txt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2221992"/>
            <a:ext cx="3471672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221992"/>
            <a:ext cx="73152" cy="2651760"/>
          </a:xfrm>
          <a:prstGeom prst="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" y="2441448"/>
            <a:ext cx="475488" cy="292608"/>
          </a:xfrm>
          <a:prstGeom prst="round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5" y="245516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423160"/>
            <a:ext cx="242011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Manual first slice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3044952"/>
            <a:ext cx="3014472" cy="164591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56377"/>
                </a:solidFill>
                <a:latin typeface="Calibri"/>
              </a:rPr>
              <a:t>Upload one Parquet file; catalog it; query through Athena.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038600" y="3547872"/>
            <a:ext cx="274320" cy="0"/>
          </a:xfrm>
          <a:prstGeom prst="line">
            <a:avLst/>
          </a:prstGeom>
          <a:ln w="25400">
            <a:solidFill>
              <a:srgbClr val="5563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349496" y="2221992"/>
            <a:ext cx="3471672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9496" y="2221992"/>
            <a:ext cx="73152" cy="2651760"/>
          </a:xfrm>
          <a:prstGeom prst="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78096" y="2441448"/>
            <a:ext cx="475488" cy="292608"/>
          </a:xfrm>
          <a:prstGeom prst="round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32960" y="245516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2456" y="2423160"/>
            <a:ext cx="242011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Mandatory detour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8096" y="3044952"/>
            <a:ext cx="3014472" cy="164591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56377"/>
                </a:solidFill>
                <a:latin typeface="Calibri"/>
              </a:rPr>
              <a:t>Complete Module 07 to learn agent-assisted ingestion.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857744" y="3547872"/>
            <a:ext cx="274320" cy="0"/>
          </a:xfrm>
          <a:prstGeom prst="line">
            <a:avLst/>
          </a:prstGeom>
          <a:ln w="25400">
            <a:solidFill>
              <a:srgbClr val="5563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168640" y="2221992"/>
            <a:ext cx="3471672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68640" y="2221992"/>
            <a:ext cx="73152" cy="2651760"/>
          </a:xfrm>
          <a:prstGeom prst="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397240" y="2441448"/>
            <a:ext cx="475488" cy="292608"/>
          </a:xfrm>
          <a:prstGeom prst="round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52104" y="245516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91600" y="2423160"/>
            <a:ext cx="242011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Resume project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7240" y="3044952"/>
            <a:ext cx="3014472" cy="164591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56377"/>
                </a:solidFill>
                <a:latin typeface="Calibri"/>
              </a:rPr>
              <a:t>Use the generated approach for broader 2024/2025 data.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874519" y="5212080"/>
            <a:ext cx="8458200" cy="530352"/>
          </a:xfrm>
          <a:prstGeom prst="roundRect">
            <a:avLst/>
          </a:prstGeom>
          <a:solidFill>
            <a:srgbClr val="FBF0E9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03120" y="5358384"/>
            <a:ext cx="8001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14233E"/>
                </a:solidFill>
                <a:latin typeface="Calibri"/>
              </a:rPr>
              <a:t>This is downstream context—not evidence that all Project Labs lessons belong to Module 07.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9B96"/>
                </a:solidFill>
                <a:latin typeface="Calibri"/>
              </a:rPr>
              <a:t>PROJECT LABS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556377"/>
                </a:solidFill>
                <a:latin typeface="Calibri"/>
              </a:rPr>
              <a:t>39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4233E"/>
                </a:solidFill>
                <a:latin typeface="Calibri"/>
              </a:rPr>
              <a:t>The larger project turns the ingestion slice into a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25296"/>
            <a:ext cx="10561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556377"/>
                </a:solidFill>
                <a:latin typeface="Calibri"/>
              </a:rPr>
              <a:t>Selected follow-on lessons show where the Module 07 artifact goes next and where AI review reappears.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65208" y="1252728"/>
            <a:ext cx="1965960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20072" y="1266444"/>
            <a:ext cx="1856231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009B96"/>
                </a:solidFill>
                <a:latin typeface="Calibri"/>
              </a:rPr>
              <a:t>PROJECT LABS SUPPORTING CONTEXT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0579608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663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 i="0">
                <a:solidFill>
                  <a:srgbClr val="556377"/>
                </a:solidFill>
                <a:latin typeface="Calibri"/>
              </a:rPr>
              <a:t>MODULE 07  |  AGENTIC DATA ENGINEERING WITH AMAZON 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6473952"/>
            <a:ext cx="69311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40" b="0" i="0">
                <a:solidFill>
                  <a:srgbClr val="556377"/>
                </a:solidFill>
                <a:latin typeface="Calibri"/>
              </a:rPr>
              <a:t>Project Labs lessons 26–30 and 49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2212848"/>
            <a:ext cx="1944014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212848"/>
            <a:ext cx="73152" cy="2542032"/>
          </a:xfrm>
          <a:prstGeom prst="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" y="2432304"/>
            <a:ext cx="475488" cy="292608"/>
          </a:xfrm>
          <a:prstGeom prst="round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5" y="244602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414016"/>
            <a:ext cx="89245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Ingest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3035808"/>
            <a:ext cx="1486814" cy="1536191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556377"/>
                </a:solidFill>
                <a:latin typeface="Calibri"/>
              </a:rPr>
              <a:t>Create the Glue ingestion job from the agent-assisted script.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510942" y="3483863"/>
            <a:ext cx="274320" cy="0"/>
          </a:xfrm>
          <a:prstGeom prst="line">
            <a:avLst/>
          </a:prstGeom>
          <a:ln w="25400">
            <a:solidFill>
              <a:srgbClr val="5563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821838" y="2212848"/>
            <a:ext cx="1944014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21838" y="2212848"/>
            <a:ext cx="73152" cy="2542032"/>
          </a:xfrm>
          <a:prstGeom prst="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050438" y="2432304"/>
            <a:ext cx="475488" cy="292608"/>
          </a:xfrm>
          <a:prstGeom prst="round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05302" y="244602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44798" y="2414016"/>
            <a:ext cx="89245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Catalog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50438" y="3035808"/>
            <a:ext cx="1486814" cy="1536191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556377"/>
                </a:solidFill>
                <a:latin typeface="Calibri"/>
              </a:rPr>
              <a:t>Rerun crawler and update partition metadata.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802428" y="3483863"/>
            <a:ext cx="274320" cy="0"/>
          </a:xfrm>
          <a:prstGeom prst="line">
            <a:avLst/>
          </a:prstGeom>
          <a:ln w="25400">
            <a:solidFill>
              <a:srgbClr val="5563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113324" y="2212848"/>
            <a:ext cx="1944014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113324" y="2212848"/>
            <a:ext cx="73152" cy="2542032"/>
          </a:xfrm>
          <a:prstGeom prst="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341924" y="2432304"/>
            <a:ext cx="475488" cy="292608"/>
          </a:xfrm>
          <a:prstGeom prst="round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96788" y="244602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36284" y="2414016"/>
            <a:ext cx="89245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Enrich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1924" y="3035808"/>
            <a:ext cx="1486814" cy="1536191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556377"/>
                </a:solidFill>
                <a:latin typeface="Calibri"/>
              </a:rPr>
              <a:t>Add the zone lookup table for location meaning.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093915" y="3483863"/>
            <a:ext cx="274320" cy="0"/>
          </a:xfrm>
          <a:prstGeom prst="line">
            <a:avLst/>
          </a:prstGeom>
          <a:ln w="25400">
            <a:solidFill>
              <a:srgbClr val="5563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404811" y="2212848"/>
            <a:ext cx="1944014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404811" y="2212848"/>
            <a:ext cx="73152" cy="2542032"/>
          </a:xfrm>
          <a:prstGeom prst="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633411" y="2432304"/>
            <a:ext cx="475488" cy="292608"/>
          </a:xfrm>
          <a:prstGeom prst="round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8275" y="244602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7771" y="2414016"/>
            <a:ext cx="89245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Transform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33411" y="3035808"/>
            <a:ext cx="1486814" cy="1536191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556377"/>
                </a:solidFill>
                <a:latin typeface="Calibri"/>
              </a:rPr>
              <a:t>Move through curated and aggregated project layers.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385401" y="3483863"/>
            <a:ext cx="274320" cy="0"/>
          </a:xfrm>
          <a:prstGeom prst="line">
            <a:avLst/>
          </a:prstGeom>
          <a:ln w="25400">
            <a:solidFill>
              <a:srgbClr val="5563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9696297" y="2212848"/>
            <a:ext cx="1944014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696297" y="2212848"/>
            <a:ext cx="73152" cy="2542032"/>
          </a:xfrm>
          <a:prstGeom prst="rect">
            <a:avLst/>
          </a:prstGeom>
          <a:solidFill>
            <a:srgbClr val="2A9160"/>
          </a:solidFill>
          <a:ln w="1270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924897" y="2432304"/>
            <a:ext cx="475488" cy="292608"/>
          </a:xfrm>
          <a:prstGeom prst="roundRect">
            <a:avLst/>
          </a:prstGeom>
          <a:solidFill>
            <a:srgbClr val="2A9160"/>
          </a:solidFill>
          <a:ln w="1270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979761" y="244602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9257" y="2414016"/>
            <a:ext cx="89245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Vet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24897" y="3035808"/>
            <a:ext cx="1486814" cy="1536191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556377"/>
                </a:solidFill>
                <a:latin typeface="Calibri"/>
              </a:rPr>
              <a:t>Use AI to review code—then retain human validation.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80160" y="5138928"/>
            <a:ext cx="9646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20" b="1" i="0">
                <a:solidFill>
                  <a:srgbClr val="14233E"/>
                </a:solidFill>
                <a:latin typeface="Calibri"/>
              </a:rPr>
              <a:t>Module 07 teaches the working method; Project Labs expands the system and its operational responsibilities.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9B96"/>
                </a:solidFill>
                <a:latin typeface="Calibri"/>
              </a:rPr>
              <a:t>INTERVIEW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556377"/>
                </a:solidFill>
                <a:latin typeface="Calibri"/>
              </a:rPr>
              <a:t>40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4233E"/>
                </a:solidFill>
                <a:latin typeface="Calibri"/>
              </a:rPr>
              <a:t>Tell the project as a STAR story with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25296"/>
            <a:ext cx="10561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556377"/>
                </a:solidFill>
                <a:latin typeface="Calibri"/>
              </a:rPr>
              <a:t>A strong story makes your decisions, diagnosis, and verified result visible—not just the tool names.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65208" y="1252728"/>
            <a:ext cx="1965960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20072" y="1266444"/>
            <a:ext cx="1856231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009B96"/>
                </a:solidFill>
                <a:latin typeface="Calibri"/>
              </a:rPr>
              <a:t>TRANSCRIPT + GUIDANCE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0579608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663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 i="0">
                <a:solidFill>
                  <a:srgbClr val="556377"/>
                </a:solidFill>
                <a:latin typeface="Calibri"/>
              </a:rPr>
              <a:t>MODULE 07  |  AGENTIC DATA ENGINEERING WITH AMAZON 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6473952"/>
            <a:ext cx="69311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40" b="0" i="0">
                <a:solidFill>
                  <a:srgbClr val="556377"/>
                </a:solidFill>
                <a:latin typeface="Calibri"/>
              </a:rPr>
              <a:t>19-3, 20-4, 21-5 core transcripts + Project Labs lesson 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965960"/>
            <a:ext cx="2654046" cy="3858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965960"/>
            <a:ext cx="73152" cy="3858768"/>
          </a:xfrm>
          <a:prstGeom prst="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" y="2185415"/>
            <a:ext cx="475488" cy="292608"/>
          </a:xfrm>
          <a:prstGeom prst="round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5" y="2199132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167128"/>
            <a:ext cx="160248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Situation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2788920"/>
            <a:ext cx="2196846" cy="285292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30" b="0" i="0">
                <a:solidFill>
                  <a:srgbClr val="556377"/>
                </a:solidFill>
                <a:latin typeface="Calibri"/>
              </a:rPr>
              <a:t>Project Labs needed recurring NYC TLC files in an AWS data lake.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48990" y="1965960"/>
            <a:ext cx="2654046" cy="3858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48990" y="1965960"/>
            <a:ext cx="73152" cy="3858768"/>
          </a:xfrm>
          <a:prstGeom prst="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577590" y="2185415"/>
            <a:ext cx="475488" cy="292608"/>
          </a:xfrm>
          <a:prstGeom prst="round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32454" y="2199132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71950" y="2167128"/>
            <a:ext cx="160248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Task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77590" y="2788920"/>
            <a:ext cx="2196846" cy="285292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30" b="0" i="0">
                <a:solidFill>
                  <a:srgbClr val="556377"/>
                </a:solidFill>
                <a:latin typeface="Calibri"/>
              </a:rPr>
              <a:t>Create a bounded, repeatable ingestion path using Kiro and Amazon Q.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67628" y="1965960"/>
            <a:ext cx="2654046" cy="3858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67628" y="1965960"/>
            <a:ext cx="73152" cy="3858768"/>
          </a:xfrm>
          <a:prstGeom prst="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96228" y="2185415"/>
            <a:ext cx="475488" cy="292608"/>
          </a:xfrm>
          <a:prstGeom prst="round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51092" y="2199132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0588" y="2167128"/>
            <a:ext cx="160248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Action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6228" y="2788920"/>
            <a:ext cx="2196846" cy="285292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30" b="0" i="0">
                <a:solidFill>
                  <a:srgbClr val="556377"/>
                </a:solidFill>
                <a:latin typeface="Calibri"/>
              </a:rPr>
              <a:t>Framed requirements, reviewed generated artifacts, deployed Glue, diagnosed failure from logs, and corrected it.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86266" y="1965960"/>
            <a:ext cx="2654046" cy="3858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986266" y="1965960"/>
            <a:ext cx="73152" cy="3858768"/>
          </a:xfrm>
          <a:prstGeom prst="rect">
            <a:avLst/>
          </a:prstGeom>
          <a:solidFill>
            <a:srgbClr val="2A9160"/>
          </a:solidFill>
          <a:ln w="1270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214866" y="2185415"/>
            <a:ext cx="475488" cy="292608"/>
          </a:xfrm>
          <a:prstGeom prst="roundRect">
            <a:avLst/>
          </a:prstGeom>
          <a:solidFill>
            <a:srgbClr val="2A9160"/>
          </a:solidFill>
          <a:ln w="1270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69730" y="2199132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09226" y="2167128"/>
            <a:ext cx="160248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Result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14866" y="2788920"/>
            <a:ext cx="2196846" cy="285292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30" b="0" i="0">
                <a:solidFill>
                  <a:srgbClr val="556377"/>
                </a:solidFill>
                <a:latin typeface="Calibri"/>
              </a:rPr>
              <a:t>Verified Parquet objects in S3 and produced a reusable workflow for downstream catalog and transformation work.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9B96"/>
                </a:solidFill>
                <a:latin typeface="Calibri"/>
              </a:rPr>
              <a:t>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556377"/>
                </a:solidFill>
                <a:latin typeface="Calibri"/>
              </a:rPr>
              <a:t>41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4233E"/>
                </a:solidFill>
                <a:latin typeface="Calibri"/>
              </a:rPr>
              <a:t>Carry six operating principles forward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25296"/>
            <a:ext cx="10561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556377"/>
                </a:solidFill>
                <a:latin typeface="Calibri"/>
              </a:rPr>
              <a:t>These principles convert a fast demo into a repeatable engineering habit.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65208" y="1252728"/>
            <a:ext cx="1965960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20072" y="1266444"/>
            <a:ext cx="1856231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009B96"/>
                </a:solidFill>
                <a:latin typeface="Calibri"/>
              </a:rPr>
              <a:t>TRANSCRIPT + GUIDANCE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0579608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663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 i="0">
                <a:solidFill>
                  <a:srgbClr val="556377"/>
                </a:solidFill>
                <a:latin typeface="Calibri"/>
              </a:rPr>
              <a:t>MODULE 07  |  AGENTIC DATA ENGINEERING WITH AMAZON 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6473952"/>
            <a:ext cx="69311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40" b="0" i="0">
                <a:solidFill>
                  <a:srgbClr val="556377"/>
                </a:solidFill>
                <a:latin typeface="Calibri"/>
              </a:rPr>
              <a:t>All core Module 07 transcripts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1874519"/>
            <a:ext cx="315468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2057400"/>
            <a:ext cx="502920" cy="292608"/>
          </a:xfrm>
          <a:prstGeom prst="round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2071116"/>
            <a:ext cx="39319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4752" y="2103120"/>
            <a:ext cx="20574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33E"/>
                </a:solidFill>
                <a:latin typeface="Calibri"/>
              </a:rPr>
              <a:t>Frame the outcome before requesting code.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96512" y="1874519"/>
            <a:ext cx="315468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97680" y="2057400"/>
            <a:ext cx="502920" cy="292608"/>
          </a:xfrm>
          <a:prstGeom prst="round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52544" y="2071116"/>
            <a:ext cx="39319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2" y="2103120"/>
            <a:ext cx="20574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33E"/>
                </a:solidFill>
                <a:latin typeface="Calibri"/>
              </a:rPr>
              <a:t>Keep identity, region, cost, and permissions explicit.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71231" y="1874519"/>
            <a:ext cx="315468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72400" y="2057400"/>
            <a:ext cx="502920" cy="292608"/>
          </a:xfrm>
          <a:prstGeom prst="round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27264" y="2071116"/>
            <a:ext cx="39319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94192" y="2103120"/>
            <a:ext cx="20574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33E"/>
                </a:solidFill>
                <a:latin typeface="Calibri"/>
              </a:rPr>
              <a:t>Understand every generated artifact's role.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" y="3822191"/>
            <a:ext cx="315468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960" y="4005072"/>
            <a:ext cx="502920" cy="292608"/>
          </a:xfrm>
          <a:prstGeom prst="roundRect">
            <a:avLst/>
          </a:prstGeom>
          <a:solidFill>
            <a:srgbClr val="C94C4C"/>
          </a:solidFill>
          <a:ln w="12700">
            <a:solidFill>
              <a:srgbClr val="C9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" y="4018787"/>
            <a:ext cx="39319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44752" y="4050791"/>
            <a:ext cx="20574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33E"/>
                </a:solidFill>
                <a:latin typeface="Calibri"/>
              </a:rPr>
              <a:t>Approve commands deliberately; never expose secrets.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96512" y="3822191"/>
            <a:ext cx="315468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297680" y="4005072"/>
            <a:ext cx="502920" cy="292608"/>
          </a:xfrm>
          <a:prstGeom prst="round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52544" y="4018787"/>
            <a:ext cx="39319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19472" y="4050791"/>
            <a:ext cx="20574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33E"/>
                </a:solidFill>
                <a:latin typeface="Calibri"/>
              </a:rPr>
              <a:t>Use logs and runtime evidence to diagnose.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71231" y="3822191"/>
            <a:ext cx="315468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772400" y="4005072"/>
            <a:ext cx="502920" cy="292608"/>
          </a:xfrm>
          <a:prstGeom prst="roundRect">
            <a:avLst/>
          </a:prstGeom>
          <a:solidFill>
            <a:srgbClr val="2A9160"/>
          </a:solidFill>
          <a:ln w="1270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27264" y="4018787"/>
            <a:ext cx="39319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94192" y="4050791"/>
            <a:ext cx="20574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33E"/>
                </a:solidFill>
                <a:latin typeface="Calibri"/>
              </a:rPr>
              <a:t>Verify data—not merely command completion.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9B96"/>
                </a:solidFill>
                <a:latin typeface="Calibri"/>
              </a:rPr>
              <a:t>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556377"/>
                </a:solidFill>
                <a:latin typeface="Calibri"/>
              </a:rPr>
              <a:t>42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4233E"/>
                </a:solidFill>
                <a:latin typeface="Calibri"/>
              </a:rPr>
              <a:t>What this deck covers—and what it deliberately separates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25296"/>
            <a:ext cx="10561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556377"/>
                </a:solidFill>
                <a:latin typeface="Calibri"/>
              </a:rPr>
              <a:t>Use the deck as a transcript-grounded learning aid, then verify current product behavior and company policy.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65208" y="1252728"/>
            <a:ext cx="1965960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20072" y="1266444"/>
            <a:ext cx="1856231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009B96"/>
                </a:solidFill>
                <a:latin typeface="Calibri"/>
              </a:rPr>
              <a:t>TRANSCRIPT + GUIDANCE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0579608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663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 i="0">
                <a:solidFill>
                  <a:srgbClr val="556377"/>
                </a:solidFill>
                <a:latin typeface="Calibri"/>
              </a:rPr>
              <a:t>MODULE 07  |  AGENTIC DATA ENGINEERING WITH AMAZON 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6473952"/>
            <a:ext cx="69311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40" b="0" i="0">
                <a:solidFill>
                  <a:srgbClr val="556377"/>
                </a:solidFill>
                <a:latin typeface="Calibri"/>
              </a:rPr>
              <a:t>All core transcripts + selected Project Labs context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847088"/>
            <a:ext cx="365760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847088"/>
            <a:ext cx="73152" cy="4023360"/>
          </a:xfrm>
          <a:prstGeom prst="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048256"/>
            <a:ext cx="31546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COVERED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2651760"/>
            <a:ext cx="3200400" cy="30358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380">
                <a:solidFill>
                  <a:srgbClr val="556377"/>
                </a:solidFill>
                <a:latin typeface="Calibri"/>
              </a:defRPr>
            </a:pPr>
            <a:r>
              <a:t>•  AWS practice setup and budgets</a:t>
            </a:r>
          </a:p>
          <a:p>
            <a:pPr>
              <a:spcAft>
                <a:spcPts val="500"/>
              </a:spcAft>
              <a:defRPr sz="1380">
                <a:solidFill>
                  <a:srgbClr val="556377"/>
                </a:solidFill>
                <a:latin typeface="Calibri"/>
              </a:defRPr>
            </a:pPr>
            <a:r>
              <a:t>•  Kiro/Amazon Q mental model</a:t>
            </a:r>
          </a:p>
          <a:p>
            <a:pPr>
              <a:spcAft>
                <a:spcPts val="500"/>
              </a:spcAft>
              <a:defRPr sz="1380">
                <a:solidFill>
                  <a:srgbClr val="556377"/>
                </a:solidFill>
                <a:latin typeface="Calibri"/>
              </a:defRPr>
            </a:pPr>
            <a:r>
              <a:t>•  NYC TLC → Glue Python Shell → S3 demo</a:t>
            </a:r>
          </a:p>
          <a:p>
            <a:pPr>
              <a:spcAft>
                <a:spcPts val="500"/>
              </a:spcAft>
              <a:defRPr sz="1380">
                <a:solidFill>
                  <a:srgbClr val="556377"/>
                </a:solidFill>
                <a:latin typeface="Calibri"/>
              </a:defRPr>
            </a:pPr>
            <a:r>
              <a:t>•  Failure, correction, verification, and career framing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70248" y="1847088"/>
            <a:ext cx="365760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70248" y="1847088"/>
            <a:ext cx="73152" cy="4023360"/>
          </a:xfrm>
          <a:prstGeom prst="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2048256"/>
            <a:ext cx="31546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LIMITATIONS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2651760"/>
            <a:ext cx="3200400" cy="30358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380">
                <a:solidFill>
                  <a:srgbClr val="556377"/>
                </a:solidFill>
                <a:latin typeface="Calibri"/>
              </a:defRPr>
            </a:pPr>
            <a:r>
              <a:t>•  Transcripts contain speech-to-text errors</a:t>
            </a:r>
          </a:p>
          <a:p>
            <a:pPr>
              <a:spcAft>
                <a:spcPts val="500"/>
              </a:spcAft>
              <a:defRPr sz="1380">
                <a:solidFill>
                  <a:srgbClr val="556377"/>
                </a:solidFill>
                <a:latin typeface="Calibri"/>
              </a:defRPr>
            </a:pPr>
            <a:r>
              <a:t>•  Console screens and service behavior can change</a:t>
            </a:r>
          </a:p>
          <a:p>
            <a:pPr>
              <a:spcAft>
                <a:spcPts val="500"/>
              </a:spcAft>
              <a:defRPr sz="1380">
                <a:solidFill>
                  <a:srgbClr val="556377"/>
                </a:solidFill>
                <a:latin typeface="Calibri"/>
              </a:defRPr>
            </a:pPr>
            <a:r>
              <a:t>•  No claim that generated code is production-ready</a:t>
            </a:r>
          </a:p>
          <a:p>
            <a:pPr>
              <a:spcAft>
                <a:spcPts val="500"/>
              </a:spcAft>
              <a:defRPr sz="1380">
                <a:solidFill>
                  <a:srgbClr val="556377"/>
                </a:solidFill>
                <a:latin typeface="Calibri"/>
              </a:defRPr>
            </a:pPr>
            <a:r>
              <a:t>•  Safety guidance may extend transcript wording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10144" y="1847088"/>
            <a:ext cx="3630168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0144" y="1847088"/>
            <a:ext cx="73152" cy="4023360"/>
          </a:xfrm>
          <a:prstGeom prst="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6175" y="2048256"/>
            <a:ext cx="312724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233E"/>
                </a:solidFill>
                <a:latin typeface="Calibri"/>
              </a:rPr>
              <a:t>NORMALIZED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2651760"/>
            <a:ext cx="3172968" cy="30358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380">
                <a:solidFill>
                  <a:srgbClr val="556377"/>
                </a:solidFill>
                <a:latin typeface="Calibri"/>
              </a:defRPr>
            </a:pPr>
            <a:r>
              <a:t>•  “Cairo” → Kiro</a:t>
            </a:r>
          </a:p>
          <a:p>
            <a:pPr>
              <a:spcAft>
                <a:spcPts val="500"/>
              </a:spcAft>
              <a:defRPr sz="1380">
                <a:solidFill>
                  <a:srgbClr val="556377"/>
                </a:solidFill>
                <a:latin typeface="Calibri"/>
              </a:defRPr>
            </a:pPr>
            <a:r>
              <a:t>•  “Amazing Q” → Amazon Q</a:t>
            </a:r>
          </a:p>
          <a:p>
            <a:pPr>
              <a:spcAft>
                <a:spcPts val="500"/>
              </a:spcAft>
              <a:defRPr sz="1380">
                <a:solidFill>
                  <a:srgbClr val="556377"/>
                </a:solidFill>
                <a:latin typeface="Calibri"/>
              </a:defRPr>
            </a:pPr>
            <a:r>
              <a:t>•  “wipe coding” → vibe coding</a:t>
            </a:r>
          </a:p>
          <a:p>
            <a:pPr>
              <a:spcAft>
                <a:spcPts val="500"/>
              </a:spcAft>
              <a:defRPr sz="1380">
                <a:solidFill>
                  <a:srgbClr val="556377"/>
                </a:solidFill>
                <a:latin typeface="Calibri"/>
              </a:defRPr>
            </a:pPr>
            <a:r>
              <a:t>•  Project Labs kept as supporting context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9B96"/>
                </a:solidFill>
                <a:latin typeface="Calibri"/>
              </a:rPr>
              <a:t>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556377"/>
                </a:solidFill>
                <a:latin typeface="Calibri"/>
              </a:rPr>
              <a:t>43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4233E"/>
                </a:solidFill>
                <a:latin typeface="Calibri"/>
              </a:rPr>
              <a:t>Core transcript index  |  1 of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25296"/>
            <a:ext cx="10561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556377"/>
                </a:solidFill>
                <a:latin typeface="Calibri"/>
              </a:rPr>
              <a:t>Exact TXT basenames from the verified Module 07 transcript folder.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65208" y="1252728"/>
            <a:ext cx="1965960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20072" y="1266444"/>
            <a:ext cx="1856231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009B96"/>
                </a:solidFill>
                <a:latin typeface="Calibri"/>
              </a:rPr>
              <a:t>CORE TRANSCRIPTS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0579608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663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 i="0">
                <a:solidFill>
                  <a:srgbClr val="556377"/>
                </a:solidFill>
                <a:latin typeface="Calibri"/>
              </a:rPr>
              <a:t>MODULE 07  |  AGENTIC DATA ENGINEERING WITH AMAZON 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6473952"/>
            <a:ext cx="69311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40" b="0" i="0">
                <a:solidFill>
                  <a:srgbClr val="556377"/>
                </a:solidFill>
                <a:latin typeface="Calibri"/>
              </a:rPr>
              <a:t>learning/.../07-agentic-data-engineering-with-amazon-q/transcripts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1847088"/>
            <a:ext cx="1097280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057400"/>
            <a:ext cx="10479024" cy="3703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400"/>
              </a:spcAft>
              <a:defRPr sz="1220">
                <a:solidFill>
                  <a:srgbClr val="14233E"/>
                </a:solidFill>
                <a:latin typeface="Calibri"/>
              </a:defRPr>
            </a:pPr>
            <a:r>
              <a:t>01  02-1-intro-aws-setup-revisit.txt</a:t>
            </a:r>
          </a:p>
          <a:p>
            <a:pPr>
              <a:spcAft>
                <a:spcPts val="400"/>
              </a:spcAft>
              <a:defRPr sz="1220">
                <a:solidFill>
                  <a:srgbClr val="14233E"/>
                </a:solidFill>
                <a:latin typeface="Calibri"/>
              </a:defRPr>
            </a:pPr>
            <a:r>
              <a:t>02  03-2-create-aws-account-revisit.txt</a:t>
            </a:r>
          </a:p>
          <a:p>
            <a:pPr>
              <a:spcAft>
                <a:spcPts val="400"/>
              </a:spcAft>
              <a:defRPr sz="1220">
                <a:solidFill>
                  <a:srgbClr val="14233E"/>
                </a:solidFill>
                <a:latin typeface="Calibri"/>
              </a:defRPr>
            </a:pPr>
            <a:r>
              <a:t>03  04-3-login-to-aws-using-root-user-and-go-to-iam-revisit.txt</a:t>
            </a:r>
          </a:p>
          <a:p>
            <a:pPr>
              <a:spcAft>
                <a:spcPts val="400"/>
              </a:spcAft>
              <a:defRPr sz="1220">
                <a:solidFill>
                  <a:srgbClr val="14233E"/>
                </a:solidFill>
                <a:latin typeface="Calibri"/>
              </a:defRPr>
            </a:pPr>
            <a:r>
              <a:t>04  05-35-upgrade-your-aws-account-revisit.txt</a:t>
            </a:r>
          </a:p>
          <a:p>
            <a:pPr>
              <a:spcAft>
                <a:spcPts val="400"/>
              </a:spcAft>
              <a:defRPr sz="1220">
                <a:solidFill>
                  <a:srgbClr val="14233E"/>
                </a:solidFill>
                <a:latin typeface="Calibri"/>
              </a:defRPr>
            </a:pPr>
            <a:r>
              <a:t>05  06-4-create-admin-user-with-console-and-programmatic-access-revisit.txt</a:t>
            </a:r>
          </a:p>
          <a:p>
            <a:pPr>
              <a:spcAft>
                <a:spcPts val="400"/>
              </a:spcAft>
              <a:defRPr sz="1220">
                <a:solidFill>
                  <a:srgbClr val="14233E"/>
                </a:solidFill>
                <a:latin typeface="Calibri"/>
              </a:defRPr>
            </a:pPr>
            <a:r>
              <a:t>06  07-5-download-and-install-aws-cli-revisit.txt</a:t>
            </a:r>
          </a:p>
          <a:p>
            <a:pPr>
              <a:spcAft>
                <a:spcPts val="400"/>
              </a:spcAft>
              <a:defRPr sz="1220">
                <a:solidFill>
                  <a:srgbClr val="14233E"/>
                </a:solidFill>
                <a:latin typeface="Calibri"/>
              </a:defRPr>
            </a:pPr>
            <a:r>
              <a:t>07  08-6-create-access-key-for-aws-cli-access-revisit.txt</a:t>
            </a:r>
          </a:p>
          <a:p>
            <a:pPr>
              <a:spcAft>
                <a:spcPts val="400"/>
              </a:spcAft>
              <a:defRPr sz="1220">
                <a:solidFill>
                  <a:srgbClr val="14233E"/>
                </a:solidFill>
                <a:latin typeface="Calibri"/>
              </a:defRPr>
            </a:pPr>
            <a:r>
              <a:t>08  09-7-configure-aws-cli-on-your-system-revisit.txt</a:t>
            </a:r>
          </a:p>
          <a:p>
            <a:pPr>
              <a:spcAft>
                <a:spcPts val="400"/>
              </a:spcAft>
              <a:defRPr sz="1220">
                <a:solidFill>
                  <a:srgbClr val="14233E"/>
                </a:solidFill>
                <a:latin typeface="Calibri"/>
              </a:defRPr>
            </a:pPr>
            <a:r>
              <a:t>09  10-8-vimp-set-up-three-aws-budgets-revisit.txt</a:t>
            </a:r>
          </a:p>
          <a:p>
            <a:pPr>
              <a:spcAft>
                <a:spcPts val="400"/>
              </a:spcAft>
              <a:defRPr sz="1220">
                <a:solidFill>
                  <a:srgbClr val="14233E"/>
                </a:solidFill>
                <a:latin typeface="Calibri"/>
              </a:defRPr>
            </a:pPr>
            <a:r>
              <a:t>10  11-9-needed-outtro-aws-set-up-revisit.txt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9B96"/>
                </a:solidFill>
                <a:latin typeface="Calibri"/>
              </a:rPr>
              <a:t>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556377"/>
                </a:solidFill>
                <a:latin typeface="Calibri"/>
              </a:rPr>
              <a:t>44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4233E"/>
                </a:solidFill>
                <a:latin typeface="Calibri"/>
              </a:rPr>
              <a:t>Core transcript index  |  2 of 2  +  Project Labs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25296"/>
            <a:ext cx="10561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556377"/>
                </a:solidFill>
                <a:latin typeface="Calibri"/>
              </a:rPr>
              <a:t>Core and supporting basenames are separated to preserve the course boundary.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65208" y="1252728"/>
            <a:ext cx="1965960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20072" y="1266444"/>
            <a:ext cx="1856231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009B96"/>
                </a:solidFill>
                <a:latin typeface="Calibri"/>
              </a:rPr>
              <a:t>CORE + SUPPORTING CONTEXT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0579608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663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 i="0">
                <a:solidFill>
                  <a:srgbClr val="556377"/>
                </a:solidFill>
                <a:latin typeface="Calibri"/>
              </a:rPr>
              <a:t>MODULE 07  |  AGENTIC DATA ENGINEERING WITH AMAZON 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6473952"/>
            <a:ext cx="69311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40" b="0" i="0">
                <a:solidFill>
                  <a:srgbClr val="556377"/>
                </a:solidFill>
                <a:latin typeface="Calibri"/>
              </a:rPr>
              <a:t>Module 07 transcripts + transcripts-project-labs-misrouted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828800"/>
            <a:ext cx="5623560" cy="4224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011680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09B96"/>
                </a:solidFill>
                <a:latin typeface="Calibri"/>
              </a:rPr>
              <a:t>CORE MODULE 07  |  11–20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359152"/>
            <a:ext cx="5166360" cy="34564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969">
                <a:solidFill>
                  <a:srgbClr val="14233E"/>
                </a:solidFill>
                <a:latin typeface="Calibri"/>
              </a:defRPr>
            </a:pPr>
            <a:r>
              <a:t>11  12-1-amazon-q-intro-revisit.txt</a:t>
            </a:r>
          </a:p>
          <a:p>
            <a:pPr>
              <a:spcAft>
                <a:spcPts val="300"/>
              </a:spcAft>
              <a:defRPr sz="969">
                <a:solidFill>
                  <a:srgbClr val="14233E"/>
                </a:solidFill>
                <a:latin typeface="Calibri"/>
              </a:defRPr>
            </a:pPr>
            <a:r>
              <a:t>12  13-2-dont-skip-the-last-video-revisit.txt</a:t>
            </a:r>
          </a:p>
          <a:p>
            <a:pPr>
              <a:spcAft>
                <a:spcPts val="300"/>
              </a:spcAft>
              <a:defRPr sz="969">
                <a:solidFill>
                  <a:srgbClr val="14233E"/>
                </a:solidFill>
                <a:latin typeface="Calibri"/>
              </a:defRPr>
            </a:pPr>
            <a:r>
              <a:t>13  14-3-kiro-installation-and-setup-by-hema-revisit.txt</a:t>
            </a:r>
          </a:p>
          <a:p>
            <a:pPr>
              <a:spcAft>
                <a:spcPts val="300"/>
              </a:spcAft>
              <a:defRPr sz="969">
                <a:solidFill>
                  <a:srgbClr val="14233E"/>
                </a:solidFill>
                <a:latin typeface="Calibri"/>
              </a:defRPr>
            </a:pPr>
            <a:r>
              <a:t>14  15-4-amazon-q-developer-quick-demo-revisit.txt</a:t>
            </a:r>
          </a:p>
          <a:p>
            <a:pPr>
              <a:spcAft>
                <a:spcPts val="300"/>
              </a:spcAft>
              <a:defRPr sz="969">
                <a:solidFill>
                  <a:srgbClr val="14233E"/>
                </a:solidFill>
                <a:latin typeface="Calibri"/>
              </a:defRPr>
            </a:pPr>
            <a:r>
              <a:t>15  16-5-requirements-of-the-data-engineering-project-revisit.txt</a:t>
            </a:r>
          </a:p>
          <a:p>
            <a:pPr>
              <a:spcAft>
                <a:spcPts val="300"/>
              </a:spcAft>
              <a:defRPr sz="969">
                <a:solidFill>
                  <a:srgbClr val="14233E"/>
                </a:solidFill>
                <a:latin typeface="Calibri"/>
              </a:defRPr>
            </a:pPr>
            <a:r>
              <a:t>16  17-1-steps-in-our-data-engineering-pipeline-use-case-revisit.txt</a:t>
            </a:r>
          </a:p>
          <a:p>
            <a:pPr>
              <a:spcAft>
                <a:spcPts val="300"/>
              </a:spcAft>
              <a:defRPr sz="969">
                <a:solidFill>
                  <a:srgbClr val="14233E"/>
                </a:solidFill>
                <a:latin typeface="Calibri"/>
              </a:defRPr>
            </a:pPr>
            <a:r>
              <a:t>17  18-2-create-the-bucket-in-data-lake-with-amazon-q-revisit.txt</a:t>
            </a:r>
          </a:p>
          <a:p>
            <a:pPr>
              <a:spcAft>
                <a:spcPts val="300"/>
              </a:spcAft>
              <a:defRPr sz="969">
                <a:solidFill>
                  <a:srgbClr val="14233E"/>
                </a:solidFill>
                <a:latin typeface="Calibri"/>
              </a:defRPr>
            </a:pPr>
            <a:r>
              <a:t>18  19-3-ai-driven-development-vibe-coding-revisit.txt</a:t>
            </a:r>
          </a:p>
          <a:p>
            <a:pPr>
              <a:spcAft>
                <a:spcPts val="300"/>
              </a:spcAft>
              <a:defRPr sz="969">
                <a:solidFill>
                  <a:srgbClr val="14233E"/>
                </a:solidFill>
                <a:latin typeface="Calibri"/>
              </a:defRPr>
            </a:pPr>
            <a:r>
              <a:t>19  20-4-below-three-important-use-cases-of-amazon-q-kiro-revisit.txt</a:t>
            </a:r>
          </a:p>
          <a:p>
            <a:pPr>
              <a:spcAft>
                <a:spcPts val="300"/>
              </a:spcAft>
              <a:defRPr sz="969">
                <a:solidFill>
                  <a:srgbClr val="14233E"/>
                </a:solidFill>
                <a:latin typeface="Calibri"/>
              </a:defRPr>
            </a:pPr>
            <a:r>
              <a:t>20  21-5-is-ai-taking-away-jobs-where-does-this-leave-us-revisit.txt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7648" y="1828800"/>
            <a:ext cx="5312664" cy="4224528"/>
          </a:xfrm>
          <a:prstGeom prst="roundRect">
            <a:avLst/>
          </a:prstGeom>
          <a:solidFill>
            <a:srgbClr val="FBF0E9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65392" y="2011680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E07736"/>
                </a:solidFill>
                <a:latin typeface="Calibri"/>
              </a:rPr>
              <a:t>PROJECT LABS  |  SUPPORTING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359152"/>
            <a:ext cx="4828032" cy="34564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930">
                <a:solidFill>
                  <a:srgbClr val="14233E"/>
                </a:solidFill>
                <a:latin typeface="Calibri"/>
              </a:defRPr>
            </a:pPr>
            <a:r>
              <a:t>01  25-1-below-mandatory-detour-to-course-rade-agentic-data-engineering-with-amazon-q-r.txt</a:t>
            </a:r>
          </a:p>
          <a:p>
            <a:pPr>
              <a:spcAft>
                <a:spcPts val="500"/>
              </a:spcAft>
              <a:defRPr sz="930">
                <a:solidFill>
                  <a:srgbClr val="14233E"/>
                </a:solidFill>
                <a:latin typeface="Calibri"/>
              </a:defRPr>
            </a:pPr>
            <a:r>
              <a:t>02  26-2-before-the-hands-on-continues-vimp-resume.txt</a:t>
            </a:r>
          </a:p>
          <a:p>
            <a:pPr>
              <a:spcAft>
                <a:spcPts val="500"/>
              </a:spcAft>
              <a:defRPr sz="930">
                <a:solidFill>
                  <a:srgbClr val="14233E"/>
                </a:solidFill>
                <a:latin typeface="Calibri"/>
              </a:defRPr>
            </a:pPr>
            <a:r>
              <a:t>03  27-3-create-the-glue-ingestion-job-resume.txt</a:t>
            </a:r>
          </a:p>
          <a:p>
            <a:pPr>
              <a:spcAft>
                <a:spcPts val="500"/>
              </a:spcAft>
              <a:defRPr sz="930">
                <a:solidFill>
                  <a:srgbClr val="14233E"/>
                </a:solidFill>
                <a:latin typeface="Calibri"/>
              </a:defRPr>
            </a:pPr>
            <a:r>
              <a:t>04  28-4-run-glue-crawler-again-to-update-the-table-metadata-with-partitions-resume.txt</a:t>
            </a:r>
          </a:p>
          <a:p>
            <a:pPr>
              <a:spcAft>
                <a:spcPts val="500"/>
              </a:spcAft>
              <a:defRPr sz="930">
                <a:solidFill>
                  <a:srgbClr val="14233E"/>
                </a:solidFill>
                <a:latin typeface="Calibri"/>
              </a:defRPr>
            </a:pPr>
            <a:r>
              <a:t>05  29-5-create-crawler-for-zone-table-resume.txt</a:t>
            </a:r>
          </a:p>
          <a:p>
            <a:pPr>
              <a:spcAft>
                <a:spcPts val="500"/>
              </a:spcAft>
              <a:defRPr sz="930">
                <a:solidFill>
                  <a:srgbClr val="14233E"/>
                </a:solidFill>
                <a:latin typeface="Calibri"/>
              </a:defRPr>
            </a:pPr>
            <a:r>
              <a:t>06  30-6-below-next-step-is-very-important-resume.txt</a:t>
            </a:r>
          </a:p>
          <a:p>
            <a:pPr>
              <a:spcAft>
                <a:spcPts val="500"/>
              </a:spcAft>
              <a:defRPr sz="930">
                <a:solidFill>
                  <a:srgbClr val="14233E"/>
                </a:solidFill>
                <a:latin typeface="Calibri"/>
              </a:defRPr>
            </a:pPr>
            <a:r>
              <a:t>07  49-7-get-the-script-vetted-by-ai-resume.txt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Data Engineering with Amazon Q — Detailed</dc:title>
  <dc:subject>RADE Module 07 learning presentation</dc:subject>
  <dc:creator>RADE Learning Path</dc:creator>
  <cp:keywords>Amazon Q, Kiro, AWS Glue, S3, agentic AI, data engineering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