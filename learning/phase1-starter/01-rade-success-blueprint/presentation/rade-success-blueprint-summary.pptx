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749808"/>
            <a:ext cx="128016" cy="5376672"/>
          </a:xfrm>
          <a:prstGeom prst="rect">
            <a:avLst/>
          </a:prstGeom>
          <a:solidFill>
            <a:srgbClr val="00A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43000" y="1051560"/>
            <a:ext cx="274320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1700" b="1">
                <a:solidFill>
                  <a:srgbClr val="F2B134"/>
                </a:solidFill>
                <a:latin typeface="Aptos"/>
              </a:defRPr>
            </a:pPr>
            <a:r>
              <a:t>RADE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700784"/>
            <a:ext cx="9784080" cy="9326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  <a:latin typeface="Aptos"/>
              </a:defRPr>
            </a:pPr>
            <a:r>
              <a:t>Success Blueprint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2788920"/>
            <a:ext cx="8961120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2500" b="0">
                <a:solidFill>
                  <a:srgbClr val="BDD9E8"/>
                </a:solidFill>
                <a:latin typeface="Aptos"/>
              </a:defRPr>
            </a:pPr>
            <a:r>
              <a:t>From starter to applied data engineer on AWS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657600"/>
            <a:ext cx="891540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Aptos"/>
              </a:defRPr>
            </a:pPr>
            <a:r>
              <a:t>A presentation summary synthesized from all 10 course transcripts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43000" y="4736592"/>
            <a:ext cx="3246120" cy="566928"/>
          </a:xfrm>
          <a:prstGeom prst="roundRect">
            <a:avLst/>
          </a:prstGeom>
          <a:solidFill>
            <a:srgbClr val="00A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4873752"/>
            <a:ext cx="27889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4–6 WEEK FOUNDATION PATH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6172200"/>
            <a:ext cx="566928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900" b="0">
                <a:solidFill>
                  <a:srgbClr val="99B1C7"/>
                </a:solidFill>
                <a:latin typeface="Aptos"/>
              </a:defRPr>
            </a:pPr>
            <a:r>
              <a:t>Transcript-based summary • Local workspace edition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A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3108960" cy="31089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1000" b="1">
                <a:solidFill>
                  <a:srgbClr val="00A7A5"/>
                </a:solidFill>
                <a:latin typeface="Aptos"/>
              </a:defRPr>
            </a:pPr>
            <a: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744200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2900" b="1">
                <a:solidFill>
                  <a:srgbClr val="0B1F33"/>
                </a:solidFill>
                <a:latin typeface="Aptos"/>
              </a:defRPr>
            </a:pPr>
            <a:r>
              <a:t>The Blueprint Journey in One 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347472"/>
            <a:ext cx="475488" cy="31089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defRPr sz="1000" b="1">
                <a:solidFill>
                  <a:srgbClr val="5C6C7C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627632"/>
            <a:ext cx="2514600" cy="3520440"/>
          </a:xfrm>
          <a:prstGeom prst="roundRect">
            <a:avLst/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408176" y="1901952"/>
            <a:ext cx="1005840" cy="1005840"/>
          </a:xfrm>
          <a:prstGeom prst="ellipse">
            <a:avLst/>
          </a:prstGeom>
          <a:solidFill>
            <a:srgbClr val="00A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08176" y="2084831"/>
            <a:ext cx="1005840" cy="40233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defRPr sz="25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3154680"/>
            <a:ext cx="214884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defRPr sz="1600" b="1">
                <a:solidFill>
                  <a:srgbClr val="0B1F33"/>
                </a:solidFill>
                <a:latin typeface="Aptos"/>
              </a:defRPr>
            </a:pPr>
            <a:r>
              <a:t>ORIENT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3703320"/>
            <a:ext cx="2057400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defRPr sz="1400" b="0">
                <a:solidFill>
                  <a:srgbClr val="5C6C7C"/>
                </a:solidFill>
                <a:latin typeface="Aptos"/>
              </a:defRPr>
            </a:pPr>
            <a:r>
              <a:t>Understand the system, levels, and support</a:t>
            </a:r>
          </a:p>
        </p:txBody>
      </p:sp>
      <p:sp>
        <p:nvSpPr>
          <p:cNvPr id="11" name="Chevron 10"/>
          <p:cNvSpPr/>
          <p:nvPr/>
        </p:nvSpPr>
        <p:spPr>
          <a:xfrm>
            <a:off x="3172968" y="2907792"/>
            <a:ext cx="301752" cy="502920"/>
          </a:xfrm>
          <a:prstGeom prst="chevron">
            <a:avLst/>
          </a:prstGeom>
          <a:solidFill>
            <a:srgbClr val="DCE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474720" y="1627632"/>
            <a:ext cx="2514600" cy="3520440"/>
          </a:xfrm>
          <a:prstGeom prst="roundRect">
            <a:avLst/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224528" y="1901952"/>
            <a:ext cx="1005840" cy="1005840"/>
          </a:xfrm>
          <a:prstGeom prst="ellipse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24528" y="2084831"/>
            <a:ext cx="1005840" cy="40233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defRPr sz="25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3154680"/>
            <a:ext cx="214884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defRPr sz="1600" b="1">
                <a:solidFill>
                  <a:srgbClr val="0B1F33"/>
                </a:solidFill>
                <a:latin typeface="Aptos"/>
              </a:defRPr>
            </a:pPr>
            <a:r>
              <a:t>FOUND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03320" y="3703320"/>
            <a:ext cx="2057400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defRPr sz="1400" b="0">
                <a:solidFill>
                  <a:srgbClr val="5C6C7C"/>
                </a:solidFill>
                <a:latin typeface="Aptos"/>
              </a:defRPr>
            </a:pPr>
            <a:r>
              <a:t>Build Unix, SQL, Python, PySpark, and AWS basics</a:t>
            </a:r>
          </a:p>
        </p:txBody>
      </p:sp>
      <p:sp>
        <p:nvSpPr>
          <p:cNvPr id="17" name="Chevron 16"/>
          <p:cNvSpPr/>
          <p:nvPr/>
        </p:nvSpPr>
        <p:spPr>
          <a:xfrm>
            <a:off x="5989320" y="2907792"/>
            <a:ext cx="301752" cy="502920"/>
          </a:xfrm>
          <a:prstGeom prst="chevron">
            <a:avLst/>
          </a:prstGeom>
          <a:solidFill>
            <a:srgbClr val="DCE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291072" y="1627632"/>
            <a:ext cx="2514600" cy="3520440"/>
          </a:xfrm>
          <a:prstGeom prst="roundRect">
            <a:avLst/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040880" y="1901952"/>
            <a:ext cx="1005840" cy="1005840"/>
          </a:xfrm>
          <a:prstGeom prst="ellipse">
            <a:avLst/>
          </a:prstGeom>
          <a:solidFill>
            <a:srgbClr val="F2B1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40880" y="2084831"/>
            <a:ext cx="1005840" cy="40233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defRPr sz="25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73952" y="3154680"/>
            <a:ext cx="214884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defRPr sz="1600" b="1">
                <a:solidFill>
                  <a:srgbClr val="0B1F33"/>
                </a:solidFill>
                <a:latin typeface="Aptos"/>
              </a:defRPr>
            </a:pPr>
            <a:r>
              <a:t>BUILD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19672" y="3703320"/>
            <a:ext cx="2057400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defRPr sz="1400" b="0">
                <a:solidFill>
                  <a:srgbClr val="5C6C7C"/>
                </a:solidFill>
                <a:latin typeface="Aptos"/>
              </a:defRPr>
            </a:pPr>
            <a:r>
              <a:t>Complete a production-oriented AWS project</a:t>
            </a:r>
          </a:p>
        </p:txBody>
      </p:sp>
      <p:sp>
        <p:nvSpPr>
          <p:cNvPr id="23" name="Chevron 22"/>
          <p:cNvSpPr/>
          <p:nvPr/>
        </p:nvSpPr>
        <p:spPr>
          <a:xfrm>
            <a:off x="8805672" y="2907792"/>
            <a:ext cx="301752" cy="502920"/>
          </a:xfrm>
          <a:prstGeom prst="chevron">
            <a:avLst/>
          </a:prstGeom>
          <a:solidFill>
            <a:srgbClr val="DCE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107424" y="1627632"/>
            <a:ext cx="2514600" cy="3520440"/>
          </a:xfrm>
          <a:prstGeom prst="roundRect">
            <a:avLst/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857232" y="1901952"/>
            <a:ext cx="1005840" cy="1005840"/>
          </a:xfrm>
          <a:prstGeom prst="ellipse">
            <a:avLst/>
          </a:prstGeom>
          <a:solidFill>
            <a:srgbClr val="2A9D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857232" y="2084831"/>
            <a:ext cx="1005840" cy="40233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defRPr sz="25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90304" y="3154680"/>
            <a:ext cx="214884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defRPr sz="1600" b="1">
                <a:solidFill>
                  <a:srgbClr val="0B1F33"/>
                </a:solidFill>
                <a:latin typeface="Aptos"/>
              </a:defRPr>
            </a:pPr>
            <a:r>
              <a:t>PREPARE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36024" y="3703320"/>
            <a:ext cx="2057400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defRPr sz="1400" b="0">
                <a:solidFill>
                  <a:srgbClr val="5C6C7C"/>
                </a:solidFill>
                <a:latin typeface="Aptos"/>
              </a:defRPr>
            </a:pPr>
            <a:r>
              <a:t>Create the project story and become interview ready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" y="5632704"/>
            <a:ext cx="1001268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defRPr sz="1800" b="1">
                <a:solidFill>
                  <a:srgbClr val="0B1F33"/>
                </a:solidFill>
                <a:latin typeface="Aptos"/>
              </a:defRPr>
            </a:pPr>
            <a:r>
              <a:t>Near-term target: complete the Blueprint, then become a Hackathon Finisher.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94360" y="6510528"/>
            <a:ext cx="11000232" cy="10972"/>
          </a:xfrm>
          <a:prstGeom prst="rect">
            <a:avLst/>
          </a:prstGeom>
          <a:solidFill>
            <a:srgbClr val="DCE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94360" y="6565392"/>
            <a:ext cx="10241280" cy="17373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800" b="0">
                <a:solidFill>
                  <a:srgbClr val="5C6C7C"/>
                </a:solidFill>
                <a:latin typeface="Aptos"/>
              </a:defRPr>
            </a:pPr>
            <a:r>
              <a:t>Source: All 10 lesson transcripts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287000" y="6565392"/>
            <a:ext cx="1298448" cy="17373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defRPr sz="800" b="0">
                <a:solidFill>
                  <a:srgbClr val="5C6C7C"/>
                </a:solidFill>
                <a:latin typeface="Aptos"/>
              </a:defRPr>
            </a:pPr>
            <a:r>
              <a:t>RADE Success Blueprint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A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3108960" cy="31089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1000" b="1">
                <a:solidFill>
                  <a:srgbClr val="00A7A5"/>
                </a:solidFill>
                <a:latin typeface="Aptos"/>
              </a:defRPr>
            </a:pPr>
            <a:r>
              <a:t>ORIENTATION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744200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2900" b="1">
                <a:solidFill>
                  <a:srgbClr val="0B1F33"/>
                </a:solidFill>
                <a:latin typeface="Aptos"/>
              </a:defRPr>
            </a:pPr>
            <a:r>
              <a:t>Welcome to DEH: Learning for Transformation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347472"/>
            <a:ext cx="475488" cy="31089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defRPr sz="1000" b="1">
                <a:solidFill>
                  <a:srgbClr val="5C6C7C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6" name="Oval 5"/>
          <p:cNvSpPr/>
          <p:nvPr/>
        </p:nvSpPr>
        <p:spPr>
          <a:xfrm>
            <a:off x="685800" y="1627631"/>
            <a:ext cx="118872" cy="118872"/>
          </a:xfrm>
          <a:prstGeom prst="ellipse">
            <a:avLst/>
          </a:prstGeom>
          <a:solidFill>
            <a:srgbClr val="00A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508760"/>
            <a:ext cx="7040880" cy="111328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defRPr sz="2000" b="0">
                <a:solidFill>
                  <a:srgbClr val="1F2D3D"/>
                </a:solidFill>
                <a:latin typeface="Aptos"/>
              </a:defRPr>
            </a:pPr>
            <a:r>
              <a:t>The course responds to the lack of one clear route into real-world data engineering.</a:t>
            </a:r>
          </a:p>
        </p:txBody>
      </p:sp>
      <p:sp>
        <p:nvSpPr>
          <p:cNvPr id="8" name="Oval 7"/>
          <p:cNvSpPr/>
          <p:nvPr/>
        </p:nvSpPr>
        <p:spPr>
          <a:xfrm>
            <a:off x="685800" y="2759202"/>
            <a:ext cx="118872" cy="118872"/>
          </a:xfrm>
          <a:prstGeom prst="ellipse">
            <a:avLst/>
          </a:prstGeom>
          <a:solidFill>
            <a:srgbClr val="00A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640330"/>
            <a:ext cx="7040880" cy="111328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defRPr sz="2000" b="0">
                <a:solidFill>
                  <a:srgbClr val="1F2D3D"/>
                </a:solidFill>
                <a:latin typeface="Aptos"/>
              </a:defRPr>
            </a:pPr>
            <a:r>
              <a:t>Transformation requires action, accountability, and support—not information alone.</a:t>
            </a:r>
          </a:p>
        </p:txBody>
      </p:sp>
      <p:sp>
        <p:nvSpPr>
          <p:cNvPr id="10" name="Oval 9"/>
          <p:cNvSpPr/>
          <p:nvPr/>
        </p:nvSpPr>
        <p:spPr>
          <a:xfrm>
            <a:off x="685800" y="3890772"/>
            <a:ext cx="118872" cy="118872"/>
          </a:xfrm>
          <a:prstGeom prst="ellipse">
            <a:avLst/>
          </a:prstGeom>
          <a:solidFill>
            <a:srgbClr val="00A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3771900"/>
            <a:ext cx="7040880" cy="111328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defRPr sz="2000" b="0">
                <a:solidFill>
                  <a:srgbClr val="1F2D3D"/>
                </a:solidFill>
                <a:latin typeface="Aptos"/>
              </a:defRPr>
            </a:pPr>
            <a:r>
              <a:t>Members are expected to learn, share notes, ask questions, and later serve others.</a:t>
            </a:r>
          </a:p>
        </p:txBody>
      </p:sp>
      <p:sp>
        <p:nvSpPr>
          <p:cNvPr id="12" name="Oval 11"/>
          <p:cNvSpPr/>
          <p:nvPr/>
        </p:nvSpPr>
        <p:spPr>
          <a:xfrm>
            <a:off x="685800" y="5022342"/>
            <a:ext cx="118872" cy="118872"/>
          </a:xfrm>
          <a:prstGeom prst="ellipse">
            <a:avLst/>
          </a:prstGeom>
          <a:solidFill>
            <a:srgbClr val="00A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4903470"/>
            <a:ext cx="7040880" cy="111328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defRPr sz="2000" b="0">
                <a:solidFill>
                  <a:srgbClr val="1F2D3D"/>
                </a:solidFill>
                <a:latin typeface="Aptos"/>
              </a:defRPr>
            </a:pPr>
            <a:r>
              <a:t>Finish the Blueprint quickly, then move into the hands-on learning path.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66760" y="1481328"/>
            <a:ext cx="3227832" cy="4507992"/>
          </a:xfrm>
          <a:prstGeom prst="round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68512" y="1810512"/>
            <a:ext cx="2615184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1100" b="1">
                <a:solidFill>
                  <a:srgbClr val="F2B134"/>
                </a:solidFill>
                <a:latin typeface="Aptos"/>
              </a:defRPr>
            </a:pPr>
            <a:r>
              <a:t>CORE IDEA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68512" y="2331720"/>
            <a:ext cx="2615184" cy="30632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Aptos"/>
              </a:defRPr>
            </a:pPr>
            <a:r>
              <a:t>Treat learning as an active, community-supported transformation.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" y="6510528"/>
            <a:ext cx="11000232" cy="10972"/>
          </a:xfrm>
          <a:prstGeom prst="rect">
            <a:avLst/>
          </a:prstGeom>
          <a:solidFill>
            <a:srgbClr val="DCE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6565392"/>
            <a:ext cx="10241280" cy="17373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800" b="0">
                <a:solidFill>
                  <a:srgbClr val="5C6C7C"/>
                </a:solidFill>
                <a:latin typeface="Aptos"/>
              </a:defRPr>
            </a:pPr>
            <a:r>
              <a:t>Source: Lesson 01: Welcome to DEH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87000" y="6565392"/>
            <a:ext cx="1298448" cy="17373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defRPr sz="800" b="0">
                <a:solidFill>
                  <a:srgbClr val="5C6C7C"/>
                </a:solidFill>
                <a:latin typeface="Aptos"/>
              </a:defRPr>
            </a:pPr>
            <a:r>
              <a:t>RADE Success Blueprint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A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3108960" cy="31089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1000" b="1">
                <a:solidFill>
                  <a:srgbClr val="00A7A5"/>
                </a:solidFill>
                <a:latin typeface="Aptos"/>
              </a:defRPr>
            </a:pPr>
            <a:r>
              <a:t>LEARNING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744200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2900" b="1">
                <a:solidFill>
                  <a:srgbClr val="0B1F33"/>
                </a:solidFill>
                <a:latin typeface="Aptos"/>
              </a:defRPr>
            </a:pPr>
            <a:r>
              <a:t>The Game of Skills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347472"/>
            <a:ext cx="475488" cy="31089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defRPr sz="1000" b="1">
                <a:solidFill>
                  <a:srgbClr val="5C6C7C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6" name="Oval 5"/>
          <p:cNvSpPr/>
          <p:nvPr/>
        </p:nvSpPr>
        <p:spPr>
          <a:xfrm>
            <a:off x="685800" y="1627631"/>
            <a:ext cx="118872" cy="118872"/>
          </a:xfrm>
          <a:prstGeom prst="ellipse">
            <a:avLst/>
          </a:prstGeom>
          <a:solidFill>
            <a:srgbClr val="00A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508760"/>
            <a:ext cx="7040880" cy="111328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defRPr sz="2000" b="0">
                <a:solidFill>
                  <a:srgbClr val="1F2D3D"/>
                </a:solidFill>
                <a:latin typeface="Aptos"/>
              </a:defRPr>
            </a:pPr>
            <a:r>
              <a:t>Complete lessons and courses to build momentum and earn platform points.</a:t>
            </a:r>
          </a:p>
        </p:txBody>
      </p:sp>
      <p:sp>
        <p:nvSpPr>
          <p:cNvPr id="8" name="Oval 7"/>
          <p:cNvSpPr/>
          <p:nvPr/>
        </p:nvSpPr>
        <p:spPr>
          <a:xfrm>
            <a:off x="685800" y="2759202"/>
            <a:ext cx="118872" cy="118872"/>
          </a:xfrm>
          <a:prstGeom prst="ellipse">
            <a:avLst/>
          </a:prstGeom>
          <a:solidFill>
            <a:srgbClr val="00A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640330"/>
            <a:ext cx="7040880" cy="111328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defRPr sz="2000" b="0">
                <a:solidFill>
                  <a:srgbClr val="1F2D3D"/>
                </a:solidFill>
                <a:latin typeface="Aptos"/>
              </a:defRPr>
            </a:pPr>
            <a:r>
              <a:t>Share learning notes, react to peers, and maintain a consistent activity streak.</a:t>
            </a:r>
          </a:p>
        </p:txBody>
      </p:sp>
      <p:sp>
        <p:nvSpPr>
          <p:cNvPr id="10" name="Oval 9"/>
          <p:cNvSpPr/>
          <p:nvPr/>
        </p:nvSpPr>
        <p:spPr>
          <a:xfrm>
            <a:off x="685800" y="3890772"/>
            <a:ext cx="118872" cy="118872"/>
          </a:xfrm>
          <a:prstGeom prst="ellipse">
            <a:avLst/>
          </a:prstGeom>
          <a:solidFill>
            <a:srgbClr val="00A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3771900"/>
            <a:ext cx="7040880" cy="111328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defRPr sz="2000" b="0">
                <a:solidFill>
                  <a:srgbClr val="1F2D3D"/>
                </a:solidFill>
                <a:latin typeface="Aptos"/>
              </a:defRPr>
            </a:pPr>
            <a:r>
              <a:t>Use the portal as a social learning network rather than a passive video library.</a:t>
            </a:r>
          </a:p>
        </p:txBody>
      </p:sp>
      <p:sp>
        <p:nvSpPr>
          <p:cNvPr id="12" name="Oval 11"/>
          <p:cNvSpPr/>
          <p:nvPr/>
        </p:nvSpPr>
        <p:spPr>
          <a:xfrm>
            <a:off x="685800" y="5022342"/>
            <a:ext cx="118872" cy="118872"/>
          </a:xfrm>
          <a:prstGeom prst="ellipse">
            <a:avLst/>
          </a:prstGeom>
          <a:solidFill>
            <a:srgbClr val="00A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4903470"/>
            <a:ext cx="7040880" cy="111328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defRPr sz="2000" b="0">
                <a:solidFill>
                  <a:srgbClr val="1F2D3D"/>
                </a:solidFill>
                <a:latin typeface="Aptos"/>
              </a:defRPr>
            </a:pPr>
            <a:r>
              <a:t>Gamification supports the real objective: sustained learning and implementation.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66760" y="1481328"/>
            <a:ext cx="3227832" cy="4507992"/>
          </a:xfrm>
          <a:prstGeom prst="round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68512" y="1810512"/>
            <a:ext cx="2615184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1100" b="1">
                <a:solidFill>
                  <a:srgbClr val="F2B134"/>
                </a:solidFill>
                <a:latin typeface="Aptos"/>
              </a:defRPr>
            </a:pPr>
            <a:r>
              <a:t>BEHAVIOR LOOP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68512" y="2331720"/>
            <a:ext cx="2615184" cy="30632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Aptos"/>
              </a:defRPr>
            </a:pPr>
            <a:r>
              <a:t>Learn → implement → share → receive feedback → continue.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" y="6510528"/>
            <a:ext cx="11000232" cy="10972"/>
          </a:xfrm>
          <a:prstGeom prst="rect">
            <a:avLst/>
          </a:prstGeom>
          <a:solidFill>
            <a:srgbClr val="DCE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6565392"/>
            <a:ext cx="10241280" cy="17373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800" b="0">
                <a:solidFill>
                  <a:srgbClr val="5C6C7C"/>
                </a:solidFill>
                <a:latin typeface="Aptos"/>
              </a:defRPr>
            </a:pPr>
            <a:r>
              <a:t>Source: Lessons 01 and 08: Welcome; Leverage the Community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87000" y="6565392"/>
            <a:ext cx="1298448" cy="17373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defRPr sz="800" b="0">
                <a:solidFill>
                  <a:srgbClr val="5C6C7C"/>
                </a:solidFill>
                <a:latin typeface="Aptos"/>
              </a:defRPr>
            </a:pPr>
            <a:r>
              <a:t>RADE Success Blueprint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A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3108960" cy="31089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1000" b="1">
                <a:solidFill>
                  <a:srgbClr val="00A7A5"/>
                </a:solidFill>
                <a:latin typeface="Aptos"/>
              </a:defRPr>
            </a:pPr>
            <a:r>
              <a:t>PROGRAM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744200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2900" b="1">
                <a:solidFill>
                  <a:srgbClr val="0B1F33"/>
                </a:solidFill>
                <a:latin typeface="Aptos"/>
              </a:defRPr>
            </a:pPr>
            <a:r>
              <a:t>Progress Through Four Achievement Levels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347472"/>
            <a:ext cx="475488" cy="31089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defRPr sz="1000" b="1">
                <a:solidFill>
                  <a:srgbClr val="5C6C7C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6" name="Rectangle 5"/>
          <p:cNvSpPr/>
          <p:nvPr/>
        </p:nvSpPr>
        <p:spPr>
          <a:xfrm>
            <a:off x="1143000" y="2788920"/>
            <a:ext cx="9875520" cy="109728"/>
          </a:xfrm>
          <a:prstGeom prst="rect">
            <a:avLst/>
          </a:prstGeom>
          <a:solidFill>
            <a:srgbClr val="DCE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4400" y="2331720"/>
            <a:ext cx="987552" cy="987552"/>
          </a:xfrm>
          <a:prstGeom prst="ellipse">
            <a:avLst/>
          </a:prstGeom>
          <a:solidFill>
            <a:srgbClr val="00A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551176"/>
            <a:ext cx="987552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2335" y="1481328"/>
            <a:ext cx="2011680" cy="6400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defRPr sz="1400" b="1">
                <a:solidFill>
                  <a:srgbClr val="0B1F33"/>
                </a:solidFill>
                <a:latin typeface="Aptos"/>
              </a:defRPr>
            </a:pPr>
            <a:r>
              <a:t>BLUEPRINT</a:t>
            </a:r>
            <a:br/>
            <a:r>
              <a:t>FINISHER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3547872"/>
            <a:ext cx="1682496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defRPr sz="1500" b="1">
                <a:solidFill>
                  <a:srgbClr val="00A7A5"/>
                </a:solidFill>
                <a:latin typeface="Aptos"/>
              </a:defRPr>
            </a:pPr>
            <a:r>
              <a:t>3 days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79" y="4041648"/>
            <a:ext cx="1993392" cy="7498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defRPr sz="1300" b="0">
                <a:solidFill>
                  <a:srgbClr val="5C6C7C"/>
                </a:solidFill>
                <a:latin typeface="Aptos"/>
              </a:defRPr>
            </a:pPr>
            <a:r>
              <a:t>Complete this course</a:t>
            </a:r>
          </a:p>
        </p:txBody>
      </p:sp>
      <p:sp>
        <p:nvSpPr>
          <p:cNvPr id="12" name="Oval 11"/>
          <p:cNvSpPr/>
          <p:nvPr/>
        </p:nvSpPr>
        <p:spPr>
          <a:xfrm>
            <a:off x="3703320" y="2331720"/>
            <a:ext cx="987552" cy="987552"/>
          </a:xfrm>
          <a:prstGeom prst="ellipse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03320" y="2551176"/>
            <a:ext cx="987552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91256" y="1481328"/>
            <a:ext cx="2011680" cy="6400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defRPr sz="1400" b="1">
                <a:solidFill>
                  <a:srgbClr val="0B1F33"/>
                </a:solidFill>
                <a:latin typeface="Aptos"/>
              </a:defRPr>
            </a:pPr>
            <a:r>
              <a:t>HACKATHON</a:t>
            </a:r>
            <a:br/>
            <a:r>
              <a:t>FINISHER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55848" y="3547872"/>
            <a:ext cx="1682496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defRPr sz="1500" b="1">
                <a:solidFill>
                  <a:srgbClr val="2F6BFF"/>
                </a:solidFill>
                <a:latin typeface="Aptos"/>
              </a:defRPr>
            </a:pPr>
            <a:r>
              <a:t>4–6 weeks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4041648"/>
            <a:ext cx="1993392" cy="7498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defRPr sz="1300" b="0">
                <a:solidFill>
                  <a:srgbClr val="5C6C7C"/>
                </a:solidFill>
                <a:latin typeface="Aptos"/>
              </a:defRPr>
            </a:pPr>
            <a:r>
              <a:t>Finish Silver path + project</a:t>
            </a:r>
          </a:p>
        </p:txBody>
      </p:sp>
      <p:sp>
        <p:nvSpPr>
          <p:cNvPr id="17" name="Oval 16"/>
          <p:cNvSpPr/>
          <p:nvPr/>
        </p:nvSpPr>
        <p:spPr>
          <a:xfrm>
            <a:off x="6492240" y="2331720"/>
            <a:ext cx="987552" cy="987552"/>
          </a:xfrm>
          <a:prstGeom prst="ellipse">
            <a:avLst/>
          </a:prstGeom>
          <a:solidFill>
            <a:srgbClr val="F2B1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2551176"/>
            <a:ext cx="987552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80175" y="1481328"/>
            <a:ext cx="2011680" cy="6400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defRPr sz="1400" b="1">
                <a:solidFill>
                  <a:srgbClr val="0B1F33"/>
                </a:solidFill>
                <a:latin typeface="Aptos"/>
              </a:defRPr>
            </a:pPr>
            <a:r>
              <a:t>APPLIED DATA</a:t>
            </a:r>
            <a:br/>
            <a:r>
              <a:t>ENGINEERING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44768" y="3547872"/>
            <a:ext cx="1682496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defRPr sz="1500" b="1">
                <a:solidFill>
                  <a:srgbClr val="F2B134"/>
                </a:solidFill>
                <a:latin typeface="Aptos"/>
              </a:defRPr>
            </a:pPr>
            <a:r>
              <a:t>~3 months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89320" y="4041648"/>
            <a:ext cx="1993392" cy="7498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defRPr sz="1300" b="0">
                <a:solidFill>
                  <a:srgbClr val="5C6C7C"/>
                </a:solidFill>
                <a:latin typeface="Aptos"/>
              </a:defRPr>
            </a:pPr>
            <a:r>
              <a:t>Deep specialization</a:t>
            </a:r>
          </a:p>
        </p:txBody>
      </p:sp>
      <p:sp>
        <p:nvSpPr>
          <p:cNvPr id="22" name="Oval 21"/>
          <p:cNvSpPr/>
          <p:nvPr/>
        </p:nvSpPr>
        <p:spPr>
          <a:xfrm>
            <a:off x="9281159" y="2331720"/>
            <a:ext cx="987552" cy="987552"/>
          </a:xfrm>
          <a:prstGeom prst="ellipse">
            <a:avLst/>
          </a:prstGeom>
          <a:solidFill>
            <a:srgbClr val="2A9D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81159" y="2551176"/>
            <a:ext cx="987552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69095" y="1481328"/>
            <a:ext cx="2011680" cy="6400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defRPr sz="1400" b="1">
                <a:solidFill>
                  <a:srgbClr val="0B1F33"/>
                </a:solidFill>
                <a:latin typeface="Aptos"/>
              </a:defRPr>
            </a:pPr>
            <a:r>
              <a:t>HALL OF</a:t>
            </a:r>
            <a:br/>
            <a:r>
              <a:t>FAME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33687" y="3547872"/>
            <a:ext cx="1682496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defRPr sz="1500" b="1">
                <a:solidFill>
                  <a:srgbClr val="2A9D67"/>
                </a:solidFill>
                <a:latin typeface="Aptos"/>
              </a:defRPr>
            </a:pPr>
            <a:r>
              <a:t>Variable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78239" y="4041648"/>
            <a:ext cx="1993392" cy="7498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defRPr sz="1300" b="0">
                <a:solidFill>
                  <a:srgbClr val="5C6C7C"/>
                </a:solidFill>
                <a:latin typeface="Aptos"/>
              </a:defRPr>
            </a:pPr>
            <a:r>
              <a:t>Crack interviews and share the story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463040" y="5230368"/>
            <a:ext cx="9253728" cy="594360"/>
          </a:xfrm>
          <a:prstGeom prst="roundRect">
            <a:avLst/>
          </a:prstGeom>
          <a:solidFill>
            <a:srgbClr val="E7F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755648" y="5385816"/>
            <a:ext cx="864108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defRPr sz="1400" b="1">
                <a:solidFill>
                  <a:srgbClr val="173557"/>
                </a:solidFill>
                <a:latin typeface="Aptos"/>
              </a:defRPr>
            </a:pPr>
            <a:r>
              <a:t>Achievement levels are distinct from membership tiers such as Silver, Gold, and Diamond.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94360" y="6510528"/>
            <a:ext cx="11000232" cy="10972"/>
          </a:xfrm>
          <a:prstGeom prst="rect">
            <a:avLst/>
          </a:prstGeom>
          <a:solidFill>
            <a:srgbClr val="DCE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4360" y="6565392"/>
            <a:ext cx="10241280" cy="17373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800" b="0">
                <a:solidFill>
                  <a:srgbClr val="5C6C7C"/>
                </a:solidFill>
                <a:latin typeface="Aptos"/>
              </a:defRPr>
            </a:pPr>
            <a:r>
              <a:t>Source: Lessons 01–02: Welcome; How the Program Works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287000" y="6565392"/>
            <a:ext cx="1298448" cy="17373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defRPr sz="800" b="0">
                <a:solidFill>
                  <a:srgbClr val="5C6C7C"/>
                </a:solidFill>
                <a:latin typeface="Aptos"/>
              </a:defRPr>
            </a:pPr>
            <a:r>
              <a:t>RADE Success Blueprint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A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3108960" cy="31089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1000" b="1">
                <a:solidFill>
                  <a:srgbClr val="00A7A5"/>
                </a:solidFill>
                <a:latin typeface="Aptos"/>
              </a:defRPr>
            </a:pPr>
            <a:r>
              <a:t>OPERATING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744200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2900" b="1">
                <a:solidFill>
                  <a:srgbClr val="0B1F33"/>
                </a:solidFill>
                <a:latin typeface="Aptos"/>
              </a:defRPr>
            </a:pPr>
            <a:r>
              <a:t>How the Program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347472"/>
            <a:ext cx="475488" cy="31089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defRPr sz="1000" b="1">
                <a:solidFill>
                  <a:srgbClr val="5C6C7C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6" name="Oval 5"/>
          <p:cNvSpPr/>
          <p:nvPr/>
        </p:nvSpPr>
        <p:spPr>
          <a:xfrm>
            <a:off x="685800" y="1627631"/>
            <a:ext cx="118872" cy="118872"/>
          </a:xfrm>
          <a:prstGeom prst="ellipse">
            <a:avLst/>
          </a:prstGeom>
          <a:solidFill>
            <a:srgbClr val="00A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508760"/>
            <a:ext cx="7040880" cy="8869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defRPr sz="1900" b="0">
                <a:solidFill>
                  <a:srgbClr val="1F2D3D"/>
                </a:solidFill>
                <a:latin typeface="Aptos"/>
              </a:defRPr>
            </a:pPr>
            <a:r>
              <a:t>Focus first on the Starter and Hackathon Finisher phases.</a:t>
            </a:r>
          </a:p>
        </p:txBody>
      </p:sp>
      <p:sp>
        <p:nvSpPr>
          <p:cNvPr id="8" name="Oval 7"/>
          <p:cNvSpPr/>
          <p:nvPr/>
        </p:nvSpPr>
        <p:spPr>
          <a:xfrm>
            <a:off x="685800" y="2532887"/>
            <a:ext cx="118872" cy="118872"/>
          </a:xfrm>
          <a:prstGeom prst="ellipse">
            <a:avLst/>
          </a:prstGeom>
          <a:solidFill>
            <a:srgbClr val="00A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414015"/>
            <a:ext cx="7040880" cy="8869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defRPr sz="1900" b="0">
                <a:solidFill>
                  <a:srgbClr val="1F2D3D"/>
                </a:solidFill>
                <a:latin typeface="Aptos"/>
              </a:defRPr>
            </a:pPr>
            <a:r>
              <a:t>Use orientation, inner-circle calls, bootcamp, community, and email support.</a:t>
            </a:r>
          </a:p>
        </p:txBody>
      </p:sp>
      <p:sp>
        <p:nvSpPr>
          <p:cNvPr id="10" name="Oval 9"/>
          <p:cNvSpPr/>
          <p:nvPr/>
        </p:nvSpPr>
        <p:spPr>
          <a:xfrm>
            <a:off x="685800" y="3438144"/>
            <a:ext cx="118872" cy="118872"/>
          </a:xfrm>
          <a:prstGeom prst="ellipse">
            <a:avLst/>
          </a:prstGeom>
          <a:solidFill>
            <a:srgbClr val="00A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3319272"/>
            <a:ext cx="7040880" cy="8869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defRPr sz="1900" b="0">
                <a:solidFill>
                  <a:srgbClr val="1F2D3D"/>
                </a:solidFill>
                <a:latin typeface="Aptos"/>
              </a:defRPr>
            </a:pPr>
            <a:r>
              <a:t>Find an accountability partner and compare progress every week.</a:t>
            </a:r>
          </a:p>
        </p:txBody>
      </p:sp>
      <p:sp>
        <p:nvSpPr>
          <p:cNvPr id="12" name="Oval 11"/>
          <p:cNvSpPr/>
          <p:nvPr/>
        </p:nvSpPr>
        <p:spPr>
          <a:xfrm>
            <a:off x="685800" y="4343399"/>
            <a:ext cx="118872" cy="118872"/>
          </a:xfrm>
          <a:prstGeom prst="ellipse">
            <a:avLst/>
          </a:prstGeom>
          <a:solidFill>
            <a:srgbClr val="00A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4224527"/>
            <a:ext cx="7040880" cy="8869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defRPr sz="1900" b="0">
                <a:solidFill>
                  <a:srgbClr val="1F2D3D"/>
                </a:solidFill>
                <a:latin typeface="Aptos"/>
              </a:defRPr>
            </a:pPr>
            <a:r>
              <a:t>Track study time and share completed hours to reinforce consistency.</a:t>
            </a:r>
          </a:p>
        </p:txBody>
      </p:sp>
      <p:sp>
        <p:nvSpPr>
          <p:cNvPr id="14" name="Oval 13"/>
          <p:cNvSpPr/>
          <p:nvPr/>
        </p:nvSpPr>
        <p:spPr>
          <a:xfrm>
            <a:off x="685800" y="5248655"/>
            <a:ext cx="118872" cy="118872"/>
          </a:xfrm>
          <a:prstGeom prst="ellipse">
            <a:avLst/>
          </a:prstGeom>
          <a:solidFill>
            <a:srgbClr val="00A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5129783"/>
            <a:ext cx="7040880" cy="8869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defRPr sz="1900" b="0">
                <a:solidFill>
                  <a:srgbClr val="1F2D3D"/>
                </a:solidFill>
                <a:latin typeface="Aptos"/>
              </a:defRPr>
            </a:pPr>
            <a:r>
              <a:t>Follow the code of honor: clarity, consistency, commitment, charity, community, celebration.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66760" y="1481328"/>
            <a:ext cx="3227832" cy="4507992"/>
          </a:xfrm>
          <a:prstGeom prst="round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68512" y="1810512"/>
            <a:ext cx="2615184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1100" b="1">
                <a:solidFill>
                  <a:srgbClr val="F2B134"/>
                </a:solidFill>
                <a:latin typeface="Aptos"/>
              </a:defRPr>
            </a:pPr>
            <a:r>
              <a:t>RECOMMENDED RHYTHM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68512" y="2331720"/>
            <a:ext cx="2615184" cy="30632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Aptos"/>
              </a:defRPr>
            </a:pPr>
            <a:r>
              <a:t>Study 60–90 minutes per day and move one step at a time.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" y="6510528"/>
            <a:ext cx="11000232" cy="10972"/>
          </a:xfrm>
          <a:prstGeom prst="rect">
            <a:avLst/>
          </a:prstGeom>
          <a:solidFill>
            <a:srgbClr val="DCE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6565392"/>
            <a:ext cx="10241280" cy="17373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800" b="0">
                <a:solidFill>
                  <a:srgbClr val="5C6C7C"/>
                </a:solidFill>
                <a:latin typeface="Aptos"/>
              </a:defRPr>
            </a:pPr>
            <a:r>
              <a:t>Source: Lesson 02: How the Program Works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87000" y="6565392"/>
            <a:ext cx="1298448" cy="17373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defRPr sz="800" b="0">
                <a:solidFill>
                  <a:srgbClr val="5C6C7C"/>
                </a:solidFill>
                <a:latin typeface="Aptos"/>
              </a:defRPr>
            </a:pPr>
            <a:r>
              <a:t>RADE Success Blueprint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A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3108960" cy="31089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1000" b="1">
                <a:solidFill>
                  <a:srgbClr val="00A7A5"/>
                </a:solidFill>
                <a:latin typeface="Aptos"/>
              </a:defRPr>
            </a:pPr>
            <a:r>
              <a:t>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744200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2900" b="1">
                <a:solidFill>
                  <a:srgbClr val="0B1F33"/>
                </a:solidFill>
                <a:latin typeface="Aptos"/>
              </a:defRPr>
            </a:pPr>
            <a:r>
              <a:t>What Student Stories Have in Common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347472"/>
            <a:ext cx="475488" cy="31089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defRPr sz="1000" b="1">
                <a:solidFill>
                  <a:srgbClr val="5C6C7C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6" name="Oval 5"/>
          <p:cNvSpPr/>
          <p:nvPr/>
        </p:nvSpPr>
        <p:spPr>
          <a:xfrm>
            <a:off x="685800" y="1627631"/>
            <a:ext cx="118872" cy="118872"/>
          </a:xfrm>
          <a:prstGeom prst="ellipse">
            <a:avLst/>
          </a:prstGeom>
          <a:solidFill>
            <a:srgbClr val="00A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508760"/>
            <a:ext cx="7040880" cy="10104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defRPr sz="2000" b="0">
                <a:solidFill>
                  <a:srgbClr val="1F2D3D"/>
                </a:solidFill>
                <a:latin typeface="Aptos"/>
              </a:defRPr>
            </a:pPr>
            <a:r>
              <a:t>Learners describe moving from fragmented knowledge toward clearer cloud understanding.</a:t>
            </a:r>
          </a:p>
        </p:txBody>
      </p:sp>
      <p:sp>
        <p:nvSpPr>
          <p:cNvPr id="8" name="Oval 7"/>
          <p:cNvSpPr/>
          <p:nvPr/>
        </p:nvSpPr>
        <p:spPr>
          <a:xfrm>
            <a:off x="685800" y="2656332"/>
            <a:ext cx="118872" cy="118872"/>
          </a:xfrm>
          <a:prstGeom prst="ellipse">
            <a:avLst/>
          </a:prstGeom>
          <a:solidFill>
            <a:srgbClr val="00A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537460"/>
            <a:ext cx="7040880" cy="10104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defRPr sz="2000" b="0">
                <a:solidFill>
                  <a:srgbClr val="1F2D3D"/>
                </a:solidFill>
                <a:latin typeface="Aptos"/>
              </a:defRPr>
            </a:pPr>
            <a:r>
              <a:t>Hands-on projects provide a concrete use case to explain during interviews.</a:t>
            </a:r>
          </a:p>
        </p:txBody>
      </p:sp>
      <p:sp>
        <p:nvSpPr>
          <p:cNvPr id="10" name="Oval 9"/>
          <p:cNvSpPr/>
          <p:nvPr/>
        </p:nvSpPr>
        <p:spPr>
          <a:xfrm>
            <a:off x="685800" y="3685032"/>
            <a:ext cx="118872" cy="118872"/>
          </a:xfrm>
          <a:prstGeom prst="ellipse">
            <a:avLst/>
          </a:prstGeom>
          <a:solidFill>
            <a:srgbClr val="00A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3566160"/>
            <a:ext cx="7040880" cy="10104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defRPr sz="2000" b="0">
                <a:solidFill>
                  <a:srgbClr val="1F2D3D"/>
                </a:solidFill>
                <a:latin typeface="Aptos"/>
              </a:defRPr>
            </a:pPr>
            <a:r>
              <a:t>Repeated practice improves confidence and the ability to connect technical concepts.</a:t>
            </a:r>
          </a:p>
        </p:txBody>
      </p:sp>
      <p:sp>
        <p:nvSpPr>
          <p:cNvPr id="12" name="Oval 11"/>
          <p:cNvSpPr/>
          <p:nvPr/>
        </p:nvSpPr>
        <p:spPr>
          <a:xfrm>
            <a:off x="685800" y="4713732"/>
            <a:ext cx="118872" cy="118872"/>
          </a:xfrm>
          <a:prstGeom prst="ellipse">
            <a:avLst/>
          </a:prstGeom>
          <a:solidFill>
            <a:srgbClr val="00A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4594860"/>
            <a:ext cx="7040880" cy="10104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defRPr sz="2000" b="0">
                <a:solidFill>
                  <a:srgbClr val="1F2D3D"/>
                </a:solidFill>
                <a:latin typeface="Aptos"/>
              </a:defRPr>
            </a:pPr>
            <a:r>
              <a:t>Weekly connection and hackathon participation reduce isolation and sustain momentum.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66760" y="1481328"/>
            <a:ext cx="3227832" cy="4507992"/>
          </a:xfrm>
          <a:prstGeom prst="round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68512" y="1810512"/>
            <a:ext cx="2615184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1100" b="1">
                <a:solidFill>
                  <a:srgbClr val="F2B134"/>
                </a:solidFill>
                <a:latin typeface="Aptos"/>
              </a:defRPr>
            </a:pPr>
            <a:r>
              <a:t>SHARED PATTERN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68512" y="2331720"/>
            <a:ext cx="2615184" cy="30632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Aptos"/>
              </a:defRPr>
            </a:pPr>
            <a:r>
              <a:t>Structure + practical work + consistency + community support.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4944" y="5696712"/>
            <a:ext cx="7269480" cy="365760"/>
          </a:xfrm>
          <a:prstGeom prst="roundRect">
            <a:avLst/>
          </a:prstGeom>
          <a:solidFill>
            <a:srgbClr val="FFF3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9536" y="5751576"/>
            <a:ext cx="69494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900" b="1">
                <a:solidFill>
                  <a:srgbClr val="77500F"/>
                </a:solidFill>
                <a:latin typeface="Aptos"/>
              </a:defRPr>
            </a:pPr>
            <a:r>
              <a:t>Participant testimonials are course examples, not independently verified or guaranteed outcomes.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" y="6510528"/>
            <a:ext cx="11000232" cy="10972"/>
          </a:xfrm>
          <a:prstGeom prst="rect">
            <a:avLst/>
          </a:prstGeom>
          <a:solidFill>
            <a:srgbClr val="DCE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6565392"/>
            <a:ext cx="10241280" cy="17373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800" b="0">
                <a:solidFill>
                  <a:srgbClr val="5C6C7C"/>
                </a:solidFill>
                <a:latin typeface="Aptos"/>
              </a:defRPr>
            </a:pPr>
            <a:r>
              <a:t>Source: Lesson 03: Real Student Transformations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87000" y="6565392"/>
            <a:ext cx="1298448" cy="17373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defRPr sz="800" b="0">
                <a:solidFill>
                  <a:srgbClr val="5C6C7C"/>
                </a:solidFill>
                <a:latin typeface="Aptos"/>
              </a:defRPr>
            </a:pPr>
            <a:r>
              <a:t>RADE Success Blueprint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A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3108960" cy="31089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1000" b="1">
                <a:solidFill>
                  <a:srgbClr val="00A7A5"/>
                </a:solidFill>
                <a:latin typeface="Aptos"/>
              </a:defRPr>
            </a:pPr>
            <a:r>
              <a:t>MINDSET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744200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2900" b="1">
                <a:solidFill>
                  <a:srgbClr val="0B1F33"/>
                </a:solidFill>
                <a:latin typeface="Aptos"/>
              </a:defRPr>
            </a:pPr>
            <a:r>
              <a:t>Commitment Is Part of the Skill Set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347472"/>
            <a:ext cx="475488" cy="31089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defRPr sz="1000" b="1">
                <a:solidFill>
                  <a:srgbClr val="5C6C7C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6" name="Oval 5"/>
          <p:cNvSpPr/>
          <p:nvPr/>
        </p:nvSpPr>
        <p:spPr>
          <a:xfrm>
            <a:off x="685800" y="1627631"/>
            <a:ext cx="118872" cy="118872"/>
          </a:xfrm>
          <a:prstGeom prst="ellipse">
            <a:avLst/>
          </a:prstGeom>
          <a:solidFill>
            <a:srgbClr val="00A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508760"/>
            <a:ext cx="7040880" cy="111328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defRPr sz="2000" b="0">
                <a:solidFill>
                  <a:srgbClr val="1F2D3D"/>
                </a:solidFill>
                <a:latin typeface="Aptos"/>
              </a:defRPr>
            </a:pPr>
            <a:r>
              <a:t>Define the outcome you are working toward and why it matters.</a:t>
            </a:r>
          </a:p>
        </p:txBody>
      </p:sp>
      <p:sp>
        <p:nvSpPr>
          <p:cNvPr id="8" name="Oval 7"/>
          <p:cNvSpPr/>
          <p:nvPr/>
        </p:nvSpPr>
        <p:spPr>
          <a:xfrm>
            <a:off x="685800" y="2759202"/>
            <a:ext cx="118872" cy="118872"/>
          </a:xfrm>
          <a:prstGeom prst="ellipse">
            <a:avLst/>
          </a:prstGeom>
          <a:solidFill>
            <a:srgbClr val="00A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640330"/>
            <a:ext cx="7040880" cy="111328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defRPr sz="2000" b="0">
                <a:solidFill>
                  <a:srgbClr val="1F2D3D"/>
                </a:solidFill>
                <a:latin typeface="Aptos"/>
              </a:defRPr>
            </a:pPr>
            <a:r>
              <a:t>Build the habits behind the outcome: consistency, dedication, and service.</a:t>
            </a:r>
          </a:p>
        </p:txBody>
      </p:sp>
      <p:sp>
        <p:nvSpPr>
          <p:cNvPr id="10" name="Oval 9"/>
          <p:cNvSpPr/>
          <p:nvPr/>
        </p:nvSpPr>
        <p:spPr>
          <a:xfrm>
            <a:off x="685800" y="3890772"/>
            <a:ext cx="118872" cy="118872"/>
          </a:xfrm>
          <a:prstGeom prst="ellipse">
            <a:avLst/>
          </a:prstGeom>
          <a:solidFill>
            <a:srgbClr val="00A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3771900"/>
            <a:ext cx="7040880" cy="111328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defRPr sz="2000" b="0">
                <a:solidFill>
                  <a:srgbClr val="1F2D3D"/>
                </a:solidFill>
                <a:latin typeface="Aptos"/>
              </a:defRPr>
            </a:pPr>
            <a:r>
              <a:t>State your intention publicly to create accountability.</a:t>
            </a:r>
          </a:p>
        </p:txBody>
      </p:sp>
      <p:sp>
        <p:nvSpPr>
          <p:cNvPr id="12" name="Oval 11"/>
          <p:cNvSpPr/>
          <p:nvPr/>
        </p:nvSpPr>
        <p:spPr>
          <a:xfrm>
            <a:off x="685800" y="5022342"/>
            <a:ext cx="118872" cy="118872"/>
          </a:xfrm>
          <a:prstGeom prst="ellipse">
            <a:avLst/>
          </a:prstGeom>
          <a:solidFill>
            <a:srgbClr val="00A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4903470"/>
            <a:ext cx="7040880" cy="111328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defRPr sz="2000" b="0">
                <a:solidFill>
                  <a:srgbClr val="1F2D3D"/>
                </a:solidFill>
                <a:latin typeface="Aptos"/>
              </a:defRPr>
            </a:pPr>
            <a:r>
              <a:t>Measure success by who you become—not only by courses completed.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66760" y="1481328"/>
            <a:ext cx="3227832" cy="4507992"/>
          </a:xfrm>
          <a:prstGeom prst="round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68512" y="1810512"/>
            <a:ext cx="2615184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1100" b="1">
                <a:solidFill>
                  <a:srgbClr val="F2B134"/>
                </a:solidFill>
                <a:latin typeface="Aptos"/>
              </a:defRPr>
            </a:pPr>
            <a:r>
              <a:t>IDENTITY SHIFT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68512" y="2331720"/>
            <a:ext cx="2615184" cy="30632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Aptos"/>
              </a:defRPr>
            </a:pPr>
            <a:r>
              <a:t>Become a professional who learns continuously and finishes what they start.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" y="6510528"/>
            <a:ext cx="11000232" cy="10972"/>
          </a:xfrm>
          <a:prstGeom prst="rect">
            <a:avLst/>
          </a:prstGeom>
          <a:solidFill>
            <a:srgbClr val="DCE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6565392"/>
            <a:ext cx="10241280" cy="17373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800" b="0">
                <a:solidFill>
                  <a:srgbClr val="5C6C7C"/>
                </a:solidFill>
                <a:latin typeface="Aptos"/>
              </a:defRPr>
            </a:pPr>
            <a:r>
              <a:t>Source: Lesson 04: Commitment, Intention &amp; the Game of Skills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87000" y="6565392"/>
            <a:ext cx="1298448" cy="17373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defRPr sz="800" b="0">
                <a:solidFill>
                  <a:srgbClr val="5C6C7C"/>
                </a:solidFill>
                <a:latin typeface="Aptos"/>
              </a:defRPr>
            </a:pPr>
            <a:r>
              <a:t>RADE Success Blueprint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A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3108960" cy="31089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1000" b="1">
                <a:solidFill>
                  <a:srgbClr val="00A7A5"/>
                </a:solidFill>
                <a:latin typeface="Aptos"/>
              </a:defRPr>
            </a:pPr>
            <a:r>
              <a:t>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744200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2900" b="1">
                <a:solidFill>
                  <a:srgbClr val="0B1F33"/>
                </a:solidFill>
                <a:latin typeface="Aptos"/>
              </a:defRPr>
            </a:pPr>
            <a:r>
              <a:t>Why the Prescribed System Matters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347472"/>
            <a:ext cx="475488" cy="31089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defRPr sz="1000" b="1">
                <a:solidFill>
                  <a:srgbClr val="5C6C7C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6" name="Oval 5"/>
          <p:cNvSpPr/>
          <p:nvPr/>
        </p:nvSpPr>
        <p:spPr>
          <a:xfrm>
            <a:off x="685800" y="1627631"/>
            <a:ext cx="118872" cy="118872"/>
          </a:xfrm>
          <a:prstGeom prst="ellipse">
            <a:avLst/>
          </a:prstGeom>
          <a:solidFill>
            <a:srgbClr val="00A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508760"/>
            <a:ext cx="7040880" cy="111328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defRPr sz="2000" b="0">
                <a:solidFill>
                  <a:srgbClr val="1F2D3D"/>
                </a:solidFill>
                <a:latin typeface="Aptos"/>
              </a:defRPr>
            </a:pPr>
            <a:r>
              <a:t>Replace passive viewing with desk-based study, personal notes, and hands-on work.</a:t>
            </a:r>
          </a:p>
        </p:txBody>
      </p:sp>
      <p:sp>
        <p:nvSpPr>
          <p:cNvPr id="8" name="Oval 7"/>
          <p:cNvSpPr/>
          <p:nvPr/>
        </p:nvSpPr>
        <p:spPr>
          <a:xfrm>
            <a:off x="685800" y="2759202"/>
            <a:ext cx="118872" cy="118872"/>
          </a:xfrm>
          <a:prstGeom prst="ellipse">
            <a:avLst/>
          </a:prstGeom>
          <a:solidFill>
            <a:srgbClr val="00A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640330"/>
            <a:ext cx="7040880" cy="111328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defRPr sz="2000" b="0">
                <a:solidFill>
                  <a:srgbClr val="1F2D3D"/>
                </a:solidFill>
                <a:latin typeface="Aptos"/>
              </a:defRPr>
            </a:pPr>
            <a:r>
              <a:t>Follow one structured path instead of constantly switching between resources.</a:t>
            </a:r>
          </a:p>
        </p:txBody>
      </p:sp>
      <p:sp>
        <p:nvSpPr>
          <p:cNvPr id="10" name="Oval 9"/>
          <p:cNvSpPr/>
          <p:nvPr/>
        </p:nvSpPr>
        <p:spPr>
          <a:xfrm>
            <a:off x="685800" y="3890772"/>
            <a:ext cx="118872" cy="118872"/>
          </a:xfrm>
          <a:prstGeom prst="ellipse">
            <a:avLst/>
          </a:prstGeom>
          <a:solidFill>
            <a:srgbClr val="00A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3771900"/>
            <a:ext cx="7040880" cy="111328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defRPr sz="2000" b="0">
                <a:solidFill>
                  <a:srgbClr val="1F2D3D"/>
                </a:solidFill>
                <a:latin typeface="Aptos"/>
              </a:defRPr>
            </a:pPr>
            <a:r>
              <a:t>Use focused mentoring, community accountability, and revision to reduce confusion.</a:t>
            </a:r>
          </a:p>
        </p:txBody>
      </p:sp>
      <p:sp>
        <p:nvSpPr>
          <p:cNvPr id="12" name="Oval 11"/>
          <p:cNvSpPr/>
          <p:nvPr/>
        </p:nvSpPr>
        <p:spPr>
          <a:xfrm>
            <a:off x="685800" y="5022342"/>
            <a:ext cx="118872" cy="118872"/>
          </a:xfrm>
          <a:prstGeom prst="ellipse">
            <a:avLst/>
          </a:prstGeom>
          <a:solidFill>
            <a:srgbClr val="00A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4903470"/>
            <a:ext cx="7040880" cy="111328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defRPr sz="2000" b="0">
                <a:solidFill>
                  <a:srgbClr val="1F2D3D"/>
                </a:solidFill>
                <a:latin typeface="Aptos"/>
              </a:defRPr>
            </a:pPr>
            <a:r>
              <a:t>Treat skills as compounding career assets and continue learning beyond one job switch.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66760" y="1481328"/>
            <a:ext cx="3227832" cy="4507992"/>
          </a:xfrm>
          <a:prstGeom prst="round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68512" y="1810512"/>
            <a:ext cx="2615184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1100" b="1">
                <a:solidFill>
                  <a:srgbClr val="F2B134"/>
                </a:solidFill>
                <a:latin typeface="Aptos"/>
              </a:defRPr>
            </a:pPr>
            <a:r>
              <a:t>COURSE PRINCIPLE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68512" y="2331720"/>
            <a:ext cx="2615184" cy="30632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Aptos"/>
              </a:defRPr>
            </a:pPr>
            <a:r>
              <a:t>Systems create direction; consistent execution creates progress.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" y="6510528"/>
            <a:ext cx="11000232" cy="10972"/>
          </a:xfrm>
          <a:prstGeom prst="rect">
            <a:avLst/>
          </a:prstGeom>
          <a:solidFill>
            <a:srgbClr val="DCE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6565392"/>
            <a:ext cx="10241280" cy="17373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800" b="0">
                <a:solidFill>
                  <a:srgbClr val="5C6C7C"/>
                </a:solidFill>
                <a:latin typeface="Aptos"/>
              </a:defRPr>
            </a:pPr>
            <a:r>
              <a:t>Source: Lesson 05: The Journey Ahead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87000" y="6565392"/>
            <a:ext cx="1298448" cy="17373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defRPr sz="800" b="0">
                <a:solidFill>
                  <a:srgbClr val="5C6C7C"/>
                </a:solidFill>
                <a:latin typeface="Aptos"/>
              </a:defRPr>
            </a:pPr>
            <a:r>
              <a:t>RADE Success Blueprint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A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3108960" cy="31089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1000" b="1">
                <a:solidFill>
                  <a:srgbClr val="00A7A5"/>
                </a:solidFill>
                <a:latin typeface="Aptos"/>
              </a:defRPr>
            </a:pPr>
            <a:r>
              <a:t>LEARNING PATH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744200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2900" b="1">
                <a:solidFill>
                  <a:srgbClr val="0B1F33"/>
                </a:solidFill>
                <a:latin typeface="Aptos"/>
              </a:defRPr>
            </a:pPr>
            <a:r>
              <a:t>Silver’s Ten-Course Project Path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347472"/>
            <a:ext cx="475488" cy="31089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defRPr sz="1000" b="1">
                <a:solidFill>
                  <a:srgbClr val="5C6C7C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90472"/>
            <a:ext cx="333756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490472"/>
            <a:ext cx="3337560" cy="566928"/>
          </a:xfrm>
          <a:prstGeom prst="rect">
            <a:avLst/>
          </a:prstGeom>
          <a:solidFill>
            <a:srgbClr val="00A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655064"/>
            <a:ext cx="306324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FOUNDATION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286000"/>
            <a:ext cx="288036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defRPr sz="1400" b="1">
                <a:solidFill>
                  <a:srgbClr val="00A7A5"/>
                </a:solidFill>
                <a:latin typeface="Aptos"/>
              </a:defRPr>
            </a:pPr>
            <a:r>
              <a:t>~10 days to 2 weeks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788920"/>
            <a:ext cx="347472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1100" b="1">
                <a:solidFill>
                  <a:srgbClr val="00A7A5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98448" y="2752344"/>
            <a:ext cx="242316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1400" b="0">
                <a:solidFill>
                  <a:srgbClr val="1F2D3D"/>
                </a:solidFill>
                <a:latin typeface="Aptos"/>
              </a:defRPr>
            </a:pPr>
            <a:r>
              <a:t>Success Blueprint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3355848"/>
            <a:ext cx="347472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1100" b="1">
                <a:solidFill>
                  <a:srgbClr val="00A7A5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98448" y="3319272"/>
            <a:ext cx="242316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1400" b="0">
                <a:solidFill>
                  <a:srgbClr val="1F2D3D"/>
                </a:solidFill>
                <a:latin typeface="Aptos"/>
              </a:defRPr>
            </a:pPr>
            <a:r>
              <a:t>Unix + Cloud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3922776"/>
            <a:ext cx="347472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1100" b="1">
                <a:solidFill>
                  <a:srgbClr val="00A7A5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98448" y="3886200"/>
            <a:ext cx="242316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1400" b="0">
                <a:solidFill>
                  <a:srgbClr val="1F2D3D"/>
                </a:solidFill>
                <a:latin typeface="Aptos"/>
              </a:defRPr>
            </a:pPr>
            <a:r>
              <a:t>SQL + RDS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489704"/>
            <a:ext cx="347472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1100" b="1">
                <a:solidFill>
                  <a:srgbClr val="00A7A5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98448" y="4453127"/>
            <a:ext cx="242316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1400" b="0">
                <a:solidFill>
                  <a:srgbClr val="1F2D3D"/>
                </a:solidFill>
                <a:latin typeface="Aptos"/>
              </a:defRPr>
            </a:pPr>
            <a:r>
              <a:t>Python + AWS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5056631"/>
            <a:ext cx="347472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1100" b="1">
                <a:solidFill>
                  <a:srgbClr val="00A7A5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98448" y="5020056"/>
            <a:ext cx="242316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1400" b="0">
                <a:solidFill>
                  <a:srgbClr val="1F2D3D"/>
                </a:solidFill>
                <a:latin typeface="Aptos"/>
              </a:defRPr>
            </a:pPr>
            <a:r>
              <a:t>PySpark Booster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33672" y="1490472"/>
            <a:ext cx="370332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233672" y="1490472"/>
            <a:ext cx="3703320" cy="566928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70832" y="1655064"/>
            <a:ext cx="34290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PROJECT BUILD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62272" y="2286000"/>
            <a:ext cx="324612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defRPr sz="1400" b="1">
                <a:solidFill>
                  <a:srgbClr val="2F6BFF"/>
                </a:solidFill>
                <a:latin typeface="Aptos"/>
              </a:defRPr>
            </a:pPr>
            <a:r>
              <a:t>~1 month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89704" y="2788920"/>
            <a:ext cx="347472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1100" b="1">
                <a:solidFill>
                  <a:srgbClr val="2F6BF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92040" y="2752344"/>
            <a:ext cx="278892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1400" b="0">
                <a:solidFill>
                  <a:srgbClr val="1F2D3D"/>
                </a:solidFill>
                <a:latin typeface="Aptos"/>
              </a:defRPr>
            </a:pPr>
            <a:r>
              <a:t>AWS Project Labs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89704" y="3355848"/>
            <a:ext cx="347472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1100" b="1">
                <a:solidFill>
                  <a:srgbClr val="2F6BF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92040" y="3319272"/>
            <a:ext cx="278892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1400" b="0">
                <a:solidFill>
                  <a:srgbClr val="1F2D3D"/>
                </a:solidFill>
                <a:latin typeface="Aptos"/>
              </a:defRPr>
            </a:pPr>
            <a:r>
              <a:t>AWS Deep Dive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89704" y="3922776"/>
            <a:ext cx="347472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1100" b="1">
                <a:solidFill>
                  <a:srgbClr val="2F6BF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92040" y="3886200"/>
            <a:ext cx="278892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1400" b="0">
                <a:solidFill>
                  <a:srgbClr val="1F2D3D"/>
                </a:solidFill>
                <a:latin typeface="Aptos"/>
              </a:defRPr>
            </a:pPr>
            <a:r>
              <a:t>Agentic DE with Amazon Q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89704" y="4489704"/>
            <a:ext cx="347472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1100" b="1">
                <a:solidFill>
                  <a:srgbClr val="2F6BFF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92040" y="4453127"/>
            <a:ext cx="278892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1400" b="0">
                <a:solidFill>
                  <a:srgbClr val="1F2D3D"/>
                </a:solidFill>
                <a:latin typeface="Aptos"/>
              </a:defRPr>
            </a:pPr>
            <a:r>
              <a:t>Building DE Code with AI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193024" y="1490472"/>
            <a:ext cx="333756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193024" y="1490472"/>
            <a:ext cx="3337560" cy="566928"/>
          </a:xfrm>
          <a:prstGeom prst="rect">
            <a:avLst/>
          </a:prstGeom>
          <a:solidFill>
            <a:srgbClr val="F2B1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330184" y="1655064"/>
            <a:ext cx="306324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CAREER BRIDGE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21624" y="2286000"/>
            <a:ext cx="288036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defRPr sz="1400" b="1">
                <a:solidFill>
                  <a:srgbClr val="F2B134"/>
                </a:solidFill>
                <a:latin typeface="Aptos"/>
              </a:defRPr>
            </a:pPr>
            <a:r>
              <a:t>Finish line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49056" y="2788920"/>
            <a:ext cx="347472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1100" b="1">
                <a:solidFill>
                  <a:srgbClr val="F2B134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851392" y="2752344"/>
            <a:ext cx="242316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1400" b="0">
                <a:solidFill>
                  <a:srgbClr val="1F2D3D"/>
                </a:solidFill>
                <a:latin typeface="Aptos"/>
              </a:defRPr>
            </a:pPr>
            <a:r>
              <a:t>Journey to Highly Paid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49056" y="3355848"/>
            <a:ext cx="347472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1100" b="1">
                <a:solidFill>
                  <a:srgbClr val="F2B134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851392" y="3319272"/>
            <a:ext cx="242316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1400" b="0">
                <a:solidFill>
                  <a:srgbClr val="1F2D3D"/>
                </a:solidFill>
                <a:latin typeface="Aptos"/>
              </a:defRPr>
            </a:pPr>
            <a:r>
              <a:t>Project story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49056" y="3922776"/>
            <a:ext cx="347472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1100" b="1">
                <a:solidFill>
                  <a:srgbClr val="F2B134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851392" y="3886200"/>
            <a:ext cx="242316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1400" b="0">
                <a:solidFill>
                  <a:srgbClr val="1F2D3D"/>
                </a:solidFill>
                <a:latin typeface="Aptos"/>
              </a:defRPr>
            </a:pPr>
            <a:r>
              <a:t>Resume + LinkedIn content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449056" y="4489704"/>
            <a:ext cx="347472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1100" b="1">
                <a:solidFill>
                  <a:srgbClr val="F2B134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851392" y="4453127"/>
            <a:ext cx="242316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1400" b="0">
                <a:solidFill>
                  <a:srgbClr val="1F2D3D"/>
                </a:solidFill>
                <a:latin typeface="Aptos"/>
              </a:defRPr>
            </a:pPr>
            <a:r>
              <a:t>Hackathon completion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94360" y="6510528"/>
            <a:ext cx="11000232" cy="10972"/>
          </a:xfrm>
          <a:prstGeom prst="rect">
            <a:avLst/>
          </a:prstGeom>
          <a:solidFill>
            <a:srgbClr val="DCE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94360" y="6565392"/>
            <a:ext cx="10241280" cy="17373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800" b="0">
                <a:solidFill>
                  <a:srgbClr val="5C6C7C"/>
                </a:solidFill>
                <a:latin typeface="Aptos"/>
              </a:defRPr>
            </a:pPr>
            <a:r>
              <a:t>Source: Lesson 05: The Journey Ahead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287000" y="6565392"/>
            <a:ext cx="1298448" cy="17373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defRPr sz="800" b="0">
                <a:solidFill>
                  <a:srgbClr val="5C6C7C"/>
                </a:solidFill>
                <a:latin typeface="Aptos"/>
              </a:defRPr>
            </a:pPr>
            <a:r>
              <a:t>RADE Success Blueprint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A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3108960" cy="31089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1000" b="1">
                <a:solidFill>
                  <a:srgbClr val="00A7A5"/>
                </a:solidFill>
                <a:latin typeface="Aptos"/>
              </a:defRPr>
            </a:pPr>
            <a:r>
              <a:t>SKILLS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744200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2900" b="1">
                <a:solidFill>
                  <a:srgbClr val="0B1F33"/>
                </a:solidFill>
                <a:latin typeface="Aptos"/>
              </a:defRPr>
            </a:pPr>
            <a:r>
              <a:t>Build Skills in Layers—not All at Once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347472"/>
            <a:ext cx="475488" cy="31089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defRPr sz="1000" b="1">
                <a:solidFill>
                  <a:srgbClr val="5C6C7C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99616"/>
            <a:ext cx="9738360" cy="914400"/>
          </a:xfrm>
          <a:prstGeom prst="roundRect">
            <a:avLst/>
          </a:prstGeom>
          <a:solidFill>
            <a:srgbClr val="00A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1636775"/>
            <a:ext cx="205740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Aptos"/>
              </a:defRPr>
            </a:pPr>
            <a:r>
              <a:t>1  FOUNDATION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35808" y="1609343"/>
            <a:ext cx="704088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  <a:latin typeface="Aptos"/>
              </a:defRPr>
            </a:pPr>
            <a:r>
              <a:t>SQL • Python • PySpark • AWS data services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25880" y="2599182"/>
            <a:ext cx="8549640" cy="914400"/>
          </a:xfrm>
          <a:prstGeom prst="round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18488" y="2736341"/>
            <a:ext cx="205740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Aptos"/>
              </a:defRPr>
            </a:pPr>
            <a:r>
              <a:t>2  CORE ENGINEERING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30168" y="2708910"/>
            <a:ext cx="585216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  <a:latin typeface="Aptos"/>
              </a:defRPr>
            </a:pPr>
            <a:r>
              <a:t>Hands-on project • dimensional modeling • lakehouse concepts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920240" y="3698748"/>
            <a:ext cx="7360920" cy="914400"/>
          </a:xfrm>
          <a:prstGeom prst="roundRect">
            <a:avLst/>
          </a:prstGeom>
          <a:solidFill>
            <a:srgbClr val="F2B1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212848" y="3835908"/>
            <a:ext cx="205740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Aptos"/>
              </a:defRPr>
            </a:pPr>
            <a:r>
              <a:t>3  DIFFERENTIATORS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24528" y="3808476"/>
            <a:ext cx="46634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  <a:latin typeface="Aptos"/>
              </a:defRPr>
            </a:pPr>
            <a:r>
              <a:t>Airflow • Spark streaming • Kafka • CI/CD awareness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514600" y="4798314"/>
            <a:ext cx="6172200" cy="914400"/>
          </a:xfrm>
          <a:prstGeom prst="roundRect">
            <a:avLst/>
          </a:prstGeom>
          <a:solidFill>
            <a:srgbClr val="2A9D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807208" y="4935474"/>
            <a:ext cx="205740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Aptos"/>
              </a:defRPr>
            </a:pPr>
            <a:r>
              <a:t>4  LATER EXPANSION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18888" y="4908042"/>
            <a:ext cx="347472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  <a:latin typeface="Aptos"/>
              </a:defRPr>
            </a:pPr>
            <a:r>
              <a:t>Databricks • Snowflake • dbt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5870448"/>
            <a:ext cx="10058400" cy="3474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defRPr sz="1600" b="1">
                <a:solidFill>
                  <a:srgbClr val="0B1F33"/>
                </a:solidFill>
                <a:latin typeface="Aptos"/>
              </a:defRPr>
            </a:pPr>
            <a:r>
              <a:t>Method: personal notes + 100% hands-on work + revision + a prepared project story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" y="6510528"/>
            <a:ext cx="11000232" cy="10972"/>
          </a:xfrm>
          <a:prstGeom prst="rect">
            <a:avLst/>
          </a:prstGeom>
          <a:solidFill>
            <a:srgbClr val="DCE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6565392"/>
            <a:ext cx="10241280" cy="17373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800" b="0">
                <a:solidFill>
                  <a:srgbClr val="5C6C7C"/>
                </a:solidFill>
                <a:latin typeface="Aptos"/>
              </a:defRPr>
            </a:pPr>
            <a:r>
              <a:t>Source: Lesson 05: The Journey Ahead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87000" y="6565392"/>
            <a:ext cx="1298448" cy="17373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defRPr sz="800" b="0">
                <a:solidFill>
                  <a:srgbClr val="5C6C7C"/>
                </a:solidFill>
                <a:latin typeface="Aptos"/>
              </a:defRPr>
            </a:pPr>
            <a:r>
              <a:t>RADE Success Blueprint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A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3108960" cy="31089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1000" b="1">
                <a:solidFill>
                  <a:srgbClr val="00A7A5"/>
                </a:solidFill>
                <a:latin typeface="Aptos"/>
              </a:defRPr>
            </a:pPr>
            <a:r>
              <a:t>REFLECTION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744200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2900" b="1">
                <a:solidFill>
                  <a:srgbClr val="0B1F33"/>
                </a:solidFill>
                <a:latin typeface="Aptos"/>
              </a:defRPr>
            </a:pPr>
            <a:r>
              <a:t>Self-Discovery Through Success Interviews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347472"/>
            <a:ext cx="475488" cy="31089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defRPr sz="1000" b="1">
                <a:solidFill>
                  <a:srgbClr val="5C6C7C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6" name="Oval 5"/>
          <p:cNvSpPr/>
          <p:nvPr/>
        </p:nvSpPr>
        <p:spPr>
          <a:xfrm>
            <a:off x="685800" y="1627631"/>
            <a:ext cx="118872" cy="118872"/>
          </a:xfrm>
          <a:prstGeom prst="ellipse">
            <a:avLst/>
          </a:prstGeom>
          <a:solidFill>
            <a:srgbClr val="00A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508760"/>
            <a:ext cx="7040880" cy="10104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defRPr sz="2000" b="0">
                <a:solidFill>
                  <a:srgbClr val="1F2D3D"/>
                </a:solidFill>
                <a:latin typeface="Aptos"/>
              </a:defRPr>
            </a:pPr>
            <a:r>
              <a:t>Study three or four success interviews that match your background or target transition.</a:t>
            </a:r>
          </a:p>
        </p:txBody>
      </p:sp>
      <p:sp>
        <p:nvSpPr>
          <p:cNvPr id="8" name="Oval 7"/>
          <p:cNvSpPr/>
          <p:nvPr/>
        </p:nvSpPr>
        <p:spPr>
          <a:xfrm>
            <a:off x="685800" y="2656332"/>
            <a:ext cx="118872" cy="118872"/>
          </a:xfrm>
          <a:prstGeom prst="ellipse">
            <a:avLst/>
          </a:prstGeom>
          <a:solidFill>
            <a:srgbClr val="00A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537460"/>
            <a:ext cx="7040880" cy="10104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defRPr sz="2000" b="0">
                <a:solidFill>
                  <a:srgbClr val="1F2D3D"/>
                </a:solidFill>
                <a:latin typeface="Aptos"/>
              </a:defRPr>
            </a:pPr>
            <a:r>
              <a:t>Observe the decisions, confidence, energy, and repeated habits behind each story.</a:t>
            </a:r>
          </a:p>
        </p:txBody>
      </p:sp>
      <p:sp>
        <p:nvSpPr>
          <p:cNvPr id="10" name="Oval 9"/>
          <p:cNvSpPr/>
          <p:nvPr/>
        </p:nvSpPr>
        <p:spPr>
          <a:xfrm>
            <a:off x="685800" y="3685032"/>
            <a:ext cx="118872" cy="118872"/>
          </a:xfrm>
          <a:prstGeom prst="ellipse">
            <a:avLst/>
          </a:prstGeom>
          <a:solidFill>
            <a:srgbClr val="00A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3566160"/>
            <a:ext cx="7040880" cy="10104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defRPr sz="2000" b="0">
                <a:solidFill>
                  <a:srgbClr val="1F2D3D"/>
                </a:solidFill>
                <a:latin typeface="Aptos"/>
              </a:defRPr>
            </a:pPr>
            <a:r>
              <a:t>Identify limiting beliefs about coding, background, or missing project experience.</a:t>
            </a:r>
          </a:p>
        </p:txBody>
      </p:sp>
      <p:sp>
        <p:nvSpPr>
          <p:cNvPr id="12" name="Oval 11"/>
          <p:cNvSpPr/>
          <p:nvPr/>
        </p:nvSpPr>
        <p:spPr>
          <a:xfrm>
            <a:off x="685800" y="4713732"/>
            <a:ext cx="118872" cy="118872"/>
          </a:xfrm>
          <a:prstGeom prst="ellipse">
            <a:avLst/>
          </a:prstGeom>
          <a:solidFill>
            <a:srgbClr val="00A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4594860"/>
            <a:ext cx="7040880" cy="10104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defRPr sz="2000" b="0">
                <a:solidFill>
                  <a:srgbClr val="1F2D3D"/>
                </a:solidFill>
                <a:latin typeface="Aptos"/>
              </a:defRPr>
            </a:pPr>
            <a:r>
              <a:t>Write a numbered list of lessons before moving to goal visualization.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66760" y="1481328"/>
            <a:ext cx="3227832" cy="4507992"/>
          </a:xfrm>
          <a:prstGeom prst="round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68512" y="1810512"/>
            <a:ext cx="2615184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1100" b="1">
                <a:solidFill>
                  <a:srgbClr val="F2B134"/>
                </a:solidFill>
                <a:latin typeface="Aptos"/>
              </a:defRPr>
            </a:pPr>
            <a:r>
              <a:t>PURPOSE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68512" y="2331720"/>
            <a:ext cx="2615184" cy="30632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Aptos"/>
              </a:defRPr>
            </a:pPr>
            <a:r>
              <a:t>Borrow evidence from relatable journeys to expand what feels possible.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4944" y="5696712"/>
            <a:ext cx="7269480" cy="365760"/>
          </a:xfrm>
          <a:prstGeom prst="roundRect">
            <a:avLst/>
          </a:prstGeom>
          <a:solidFill>
            <a:srgbClr val="FFF3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9536" y="5751576"/>
            <a:ext cx="69494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900" b="1">
                <a:solidFill>
                  <a:srgbClr val="77500F"/>
                </a:solidFill>
                <a:latin typeface="Aptos"/>
              </a:defRPr>
            </a:pPr>
            <a:r>
              <a:t>Salary and offer figures in the source are participant-reported testimonials.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" y="6510528"/>
            <a:ext cx="11000232" cy="10972"/>
          </a:xfrm>
          <a:prstGeom prst="rect">
            <a:avLst/>
          </a:prstGeom>
          <a:solidFill>
            <a:srgbClr val="DCE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6565392"/>
            <a:ext cx="10241280" cy="17373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800" b="0">
                <a:solidFill>
                  <a:srgbClr val="5C6C7C"/>
                </a:solidFill>
                <a:latin typeface="Aptos"/>
              </a:defRPr>
            </a:pPr>
            <a:r>
              <a:t>Source: Lesson 06: Self-Discovery Assignment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87000" y="6565392"/>
            <a:ext cx="1298448" cy="17373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defRPr sz="800" b="0">
                <a:solidFill>
                  <a:srgbClr val="5C6C7C"/>
                </a:solidFill>
                <a:latin typeface="Aptos"/>
              </a:defRPr>
            </a:pPr>
            <a:r>
              <a:t>RADE Success Blueprint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A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3108960" cy="31089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1000" b="1">
                <a:solidFill>
                  <a:srgbClr val="00A7A5"/>
                </a:solidFill>
                <a:latin typeface="Aptos"/>
              </a:defRPr>
            </a:pPr>
            <a:r>
              <a:t>GOALS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744200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2900" b="1">
                <a:solidFill>
                  <a:srgbClr val="0B1F33"/>
                </a:solidFill>
                <a:latin typeface="Aptos"/>
              </a:defRPr>
            </a:pPr>
            <a:r>
              <a:t>Turn Intentions into Clear, Time-Bound Goals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347472"/>
            <a:ext cx="475488" cy="31089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defRPr sz="1000" b="1">
                <a:solidFill>
                  <a:srgbClr val="5C6C7C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6" name="Oval 5"/>
          <p:cNvSpPr/>
          <p:nvPr/>
        </p:nvSpPr>
        <p:spPr>
          <a:xfrm>
            <a:off x="685800" y="1627631"/>
            <a:ext cx="118872" cy="118872"/>
          </a:xfrm>
          <a:prstGeom prst="ellipse">
            <a:avLst/>
          </a:prstGeom>
          <a:solidFill>
            <a:srgbClr val="00A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508760"/>
            <a:ext cx="7040880" cy="10104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defRPr sz="2000" b="0">
                <a:solidFill>
                  <a:srgbClr val="1F2D3D"/>
                </a:solidFill>
                <a:latin typeface="Aptos"/>
              </a:defRPr>
            </a:pPr>
            <a:r>
              <a:t>Clarify the deeper reason for changing roles: family, growth, location, finances, or impact.</a:t>
            </a:r>
          </a:p>
        </p:txBody>
      </p:sp>
      <p:sp>
        <p:nvSpPr>
          <p:cNvPr id="8" name="Oval 7"/>
          <p:cNvSpPr/>
          <p:nvPr/>
        </p:nvSpPr>
        <p:spPr>
          <a:xfrm>
            <a:off x="685800" y="2656332"/>
            <a:ext cx="118872" cy="118872"/>
          </a:xfrm>
          <a:prstGeom prst="ellipse">
            <a:avLst/>
          </a:prstGeom>
          <a:solidFill>
            <a:srgbClr val="00A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537460"/>
            <a:ext cx="7040880" cy="10104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defRPr sz="2000" b="0">
                <a:solidFill>
                  <a:srgbClr val="1F2D3D"/>
                </a:solidFill>
                <a:latin typeface="Aptos"/>
              </a:defRPr>
            </a:pPr>
            <a:r>
              <a:t>Define the desired role, team, manager, company, location, and working conditions.</a:t>
            </a:r>
          </a:p>
        </p:txBody>
      </p:sp>
      <p:sp>
        <p:nvSpPr>
          <p:cNvPr id="10" name="Oval 9"/>
          <p:cNvSpPr/>
          <p:nvPr/>
        </p:nvSpPr>
        <p:spPr>
          <a:xfrm>
            <a:off x="685800" y="3685032"/>
            <a:ext cx="118872" cy="118872"/>
          </a:xfrm>
          <a:prstGeom prst="ellipse">
            <a:avLst/>
          </a:prstGeom>
          <a:solidFill>
            <a:srgbClr val="00A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3566160"/>
            <a:ext cx="7040880" cy="10104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defRPr sz="2000" b="0">
                <a:solidFill>
                  <a:srgbClr val="1F2D3D"/>
                </a:solidFill>
                <a:latin typeface="Aptos"/>
              </a:defRPr>
            </a:pPr>
            <a:r>
              <a:t>Research realistic market compensation using reputable salary sources.</a:t>
            </a:r>
          </a:p>
        </p:txBody>
      </p:sp>
      <p:sp>
        <p:nvSpPr>
          <p:cNvPr id="12" name="Oval 11"/>
          <p:cNvSpPr/>
          <p:nvPr/>
        </p:nvSpPr>
        <p:spPr>
          <a:xfrm>
            <a:off x="685800" y="4713732"/>
            <a:ext cx="118872" cy="118872"/>
          </a:xfrm>
          <a:prstGeom prst="ellipse">
            <a:avLst/>
          </a:prstGeom>
          <a:solidFill>
            <a:srgbClr val="00A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4594860"/>
            <a:ext cx="7040880" cy="10104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defRPr sz="2000" b="0">
                <a:solidFill>
                  <a:srgbClr val="1F2D3D"/>
                </a:solidFill>
                <a:latin typeface="Aptos"/>
              </a:defRPr>
            </a:pPr>
            <a:r>
              <a:t>Write date-bound goals, review them daily, and connect them to concrete actions.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66760" y="1481328"/>
            <a:ext cx="3227832" cy="4507992"/>
          </a:xfrm>
          <a:prstGeom prst="round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68512" y="1810512"/>
            <a:ext cx="2615184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1100" b="1">
                <a:solidFill>
                  <a:srgbClr val="F2B134"/>
                </a:solidFill>
                <a:latin typeface="Aptos"/>
              </a:defRPr>
            </a:pPr>
            <a:r>
              <a:t>PRACTICAL RULE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68512" y="2331720"/>
            <a:ext cx="2615184" cy="30632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Aptos"/>
              </a:defRPr>
            </a:pPr>
            <a:r>
              <a:t>A clear target helps you choose the next action and reject distractions.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4944" y="5696712"/>
            <a:ext cx="7269480" cy="365760"/>
          </a:xfrm>
          <a:prstGeom prst="roundRect">
            <a:avLst/>
          </a:prstGeom>
          <a:solidFill>
            <a:srgbClr val="FFF3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9536" y="5751576"/>
            <a:ext cx="69494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900" b="1">
                <a:solidFill>
                  <a:srgbClr val="77500F"/>
                </a:solidFill>
                <a:latin typeface="Aptos"/>
              </a:defRPr>
            </a:pPr>
            <a:r>
              <a:t>Visualization and mindset statements are instructor guidance, not guaranteed outcomes.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" y="6510528"/>
            <a:ext cx="11000232" cy="10972"/>
          </a:xfrm>
          <a:prstGeom prst="rect">
            <a:avLst/>
          </a:prstGeom>
          <a:solidFill>
            <a:srgbClr val="DCE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6565392"/>
            <a:ext cx="10241280" cy="17373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800" b="0">
                <a:solidFill>
                  <a:srgbClr val="5C6C7C"/>
                </a:solidFill>
                <a:latin typeface="Aptos"/>
              </a:defRPr>
            </a:pPr>
            <a:r>
              <a:t>Source: Lesson 07: Goals, Intentions &amp; Visualization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87000" y="6565392"/>
            <a:ext cx="1298448" cy="17373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defRPr sz="800" b="0">
                <a:solidFill>
                  <a:srgbClr val="5C6C7C"/>
                </a:solidFill>
                <a:latin typeface="Aptos"/>
              </a:defRPr>
            </a:pPr>
            <a:r>
              <a:t>RADE Success Blueprint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A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3108960" cy="31089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1000" b="1">
                <a:solidFill>
                  <a:srgbClr val="00A7A5"/>
                </a:solidFill>
                <a:latin typeface="Aptos"/>
              </a:defRPr>
            </a:pPr>
            <a:r>
              <a:t>COMMUNITY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744200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2900" b="1">
                <a:solidFill>
                  <a:srgbClr val="0B1F33"/>
                </a:solidFill>
                <a:latin typeface="Aptos"/>
              </a:defRPr>
            </a:pPr>
            <a:r>
              <a:t>Make the Journey More Reliable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347472"/>
            <a:ext cx="475488" cy="31089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defRPr sz="1000" b="1">
                <a:solidFill>
                  <a:srgbClr val="5C6C7C"/>
                </a:solidFill>
                <a:latin typeface="Aptos"/>
              </a:defRPr>
            </a:pPr>
            <a:r>
              <a:t>14</a:t>
            </a:r>
          </a:p>
        </p:txBody>
      </p:sp>
      <p:sp>
        <p:nvSpPr>
          <p:cNvPr id="6" name="Oval 5"/>
          <p:cNvSpPr/>
          <p:nvPr/>
        </p:nvSpPr>
        <p:spPr>
          <a:xfrm>
            <a:off x="685800" y="1627631"/>
            <a:ext cx="118872" cy="118872"/>
          </a:xfrm>
          <a:prstGeom prst="ellipse">
            <a:avLst/>
          </a:prstGeom>
          <a:solidFill>
            <a:srgbClr val="00A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508760"/>
            <a:ext cx="7040880" cy="8869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defRPr sz="1900" b="0">
                <a:solidFill>
                  <a:srgbClr val="1F2D3D"/>
                </a:solidFill>
                <a:latin typeface="Aptos"/>
              </a:defRPr>
            </a:pPr>
            <a:r>
              <a:t>Complete your profile and introduce your experience, city, and learning intent.</a:t>
            </a:r>
          </a:p>
        </p:txBody>
      </p:sp>
      <p:sp>
        <p:nvSpPr>
          <p:cNvPr id="8" name="Oval 7"/>
          <p:cNvSpPr/>
          <p:nvPr/>
        </p:nvSpPr>
        <p:spPr>
          <a:xfrm>
            <a:off x="685800" y="2532887"/>
            <a:ext cx="118872" cy="118872"/>
          </a:xfrm>
          <a:prstGeom prst="ellipse">
            <a:avLst/>
          </a:prstGeom>
          <a:solidFill>
            <a:srgbClr val="00A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414015"/>
            <a:ext cx="7040880" cy="8869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defRPr sz="1900" b="0">
                <a:solidFill>
                  <a:srgbClr val="1F2D3D"/>
                </a:solidFill>
                <a:latin typeface="Aptos"/>
              </a:defRPr>
            </a:pPr>
            <a:r>
              <a:t>Find an accountability partner or small group with a compatible schedule.</a:t>
            </a:r>
          </a:p>
        </p:txBody>
      </p:sp>
      <p:sp>
        <p:nvSpPr>
          <p:cNvPr id="10" name="Oval 9"/>
          <p:cNvSpPr/>
          <p:nvPr/>
        </p:nvSpPr>
        <p:spPr>
          <a:xfrm>
            <a:off x="685800" y="3438144"/>
            <a:ext cx="118872" cy="118872"/>
          </a:xfrm>
          <a:prstGeom prst="ellipse">
            <a:avLst/>
          </a:prstGeom>
          <a:solidFill>
            <a:srgbClr val="00A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3319272"/>
            <a:ext cx="7040880" cy="8869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defRPr sz="1900" b="0">
                <a:solidFill>
                  <a:srgbClr val="1F2D3D"/>
                </a:solidFill>
                <a:latin typeface="Aptos"/>
              </a:defRPr>
            </a:pPr>
            <a:r>
              <a:t>Share notes, study hours, interview questions, techniques, and genuine opportunities.</a:t>
            </a:r>
          </a:p>
        </p:txBody>
      </p:sp>
      <p:sp>
        <p:nvSpPr>
          <p:cNvPr id="12" name="Oval 11"/>
          <p:cNvSpPr/>
          <p:nvPr/>
        </p:nvSpPr>
        <p:spPr>
          <a:xfrm>
            <a:off x="685800" y="4343399"/>
            <a:ext cx="118872" cy="118872"/>
          </a:xfrm>
          <a:prstGeom prst="ellipse">
            <a:avLst/>
          </a:prstGeom>
          <a:solidFill>
            <a:srgbClr val="00A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4224527"/>
            <a:ext cx="7040880" cy="8869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defRPr sz="1900" b="0">
                <a:solidFill>
                  <a:srgbClr val="1F2D3D"/>
                </a:solidFill>
                <a:latin typeface="Aptos"/>
              </a:defRPr>
            </a:pPr>
            <a:r>
              <a:t>Enable notifications so calls, reminders, and support do not get missed.</a:t>
            </a:r>
          </a:p>
        </p:txBody>
      </p:sp>
      <p:sp>
        <p:nvSpPr>
          <p:cNvPr id="14" name="Oval 13"/>
          <p:cNvSpPr/>
          <p:nvPr/>
        </p:nvSpPr>
        <p:spPr>
          <a:xfrm>
            <a:off x="685800" y="5248655"/>
            <a:ext cx="118872" cy="118872"/>
          </a:xfrm>
          <a:prstGeom prst="ellipse">
            <a:avLst/>
          </a:prstGeom>
          <a:solidFill>
            <a:srgbClr val="00A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5129783"/>
            <a:ext cx="7040880" cy="8869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defRPr sz="1900" b="0">
                <a:solidFill>
                  <a:srgbClr val="1F2D3D"/>
                </a:solidFill>
                <a:latin typeface="Aptos"/>
              </a:defRPr>
            </a:pPr>
            <a:r>
              <a:t>Celebrate completed lessons, certificates, project milestones, and peer progress.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66760" y="1481328"/>
            <a:ext cx="3227832" cy="4507992"/>
          </a:xfrm>
          <a:prstGeom prst="round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68512" y="1810512"/>
            <a:ext cx="2615184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1100" b="1">
                <a:solidFill>
                  <a:srgbClr val="F2B134"/>
                </a:solidFill>
                <a:latin typeface="Aptos"/>
              </a:defRPr>
            </a:pPr>
            <a:r>
              <a:t>COMMUNITY ADVANTAGE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68512" y="2331720"/>
            <a:ext cx="2615184" cy="30632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Aptos"/>
              </a:defRPr>
            </a:pPr>
            <a:r>
              <a:t>Support converts an isolated course into a shared execution system.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" y="6510528"/>
            <a:ext cx="11000232" cy="10972"/>
          </a:xfrm>
          <a:prstGeom prst="rect">
            <a:avLst/>
          </a:prstGeom>
          <a:solidFill>
            <a:srgbClr val="DCE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6565392"/>
            <a:ext cx="10241280" cy="17373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800" b="0">
                <a:solidFill>
                  <a:srgbClr val="5C6C7C"/>
                </a:solidFill>
                <a:latin typeface="Aptos"/>
              </a:defRPr>
            </a:pPr>
            <a:r>
              <a:t>Source: Lesson 08: Leverage the Power of Community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87000" y="6565392"/>
            <a:ext cx="1298448" cy="17373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defRPr sz="800" b="0">
                <a:solidFill>
                  <a:srgbClr val="5C6C7C"/>
                </a:solidFill>
                <a:latin typeface="Aptos"/>
              </a:defRPr>
            </a:pPr>
            <a:r>
              <a:t>RADE Success Blueprint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A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3108960" cy="31089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1000" b="1">
                <a:solidFill>
                  <a:srgbClr val="00A7A5"/>
                </a:solidFill>
                <a:latin typeface="Aptos"/>
              </a:defRPr>
            </a:pPr>
            <a:r>
              <a:t>SUPPORT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744200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2900" b="1">
                <a:solidFill>
                  <a:srgbClr val="0B1F33"/>
                </a:solidFill>
                <a:latin typeface="Aptos"/>
              </a:defRPr>
            </a:pPr>
            <a:r>
              <a:t>Use Live Support Well—and Protect the Community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347472"/>
            <a:ext cx="475488" cy="31089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defRPr sz="1000" b="1">
                <a:solidFill>
                  <a:srgbClr val="5C6C7C"/>
                </a:solidFill>
                <a:latin typeface="Aptos"/>
              </a:defRPr>
            </a:pPr>
            <a:r>
              <a:t>15</a:t>
            </a:r>
          </a:p>
        </p:txBody>
      </p:sp>
      <p:sp>
        <p:nvSpPr>
          <p:cNvPr id="6" name="Oval 5"/>
          <p:cNvSpPr/>
          <p:nvPr/>
        </p:nvSpPr>
        <p:spPr>
          <a:xfrm>
            <a:off x="685800" y="1627631"/>
            <a:ext cx="118872" cy="118872"/>
          </a:xfrm>
          <a:prstGeom prst="ellipse">
            <a:avLst/>
          </a:prstGeom>
          <a:solidFill>
            <a:srgbClr val="00A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508760"/>
            <a:ext cx="7040880" cy="8869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defRPr sz="1900" b="0">
                <a:solidFill>
                  <a:srgbClr val="1F2D3D"/>
                </a:solidFill>
                <a:latin typeface="Aptos"/>
              </a:defRPr>
            </a:pPr>
            <a:r>
              <a:t>Attend orientation for account and tool setup.</a:t>
            </a:r>
          </a:p>
        </p:txBody>
      </p:sp>
      <p:sp>
        <p:nvSpPr>
          <p:cNvPr id="8" name="Oval 7"/>
          <p:cNvSpPr/>
          <p:nvPr/>
        </p:nvSpPr>
        <p:spPr>
          <a:xfrm>
            <a:off x="685800" y="2532887"/>
            <a:ext cx="118872" cy="118872"/>
          </a:xfrm>
          <a:prstGeom prst="ellipse">
            <a:avLst/>
          </a:prstGeom>
          <a:solidFill>
            <a:srgbClr val="00A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414015"/>
            <a:ext cx="7040880" cy="8869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defRPr sz="1900" b="0">
                <a:solidFill>
                  <a:srgbClr val="1F2D3D"/>
                </a:solidFill>
                <a:latin typeface="Aptos"/>
              </a:defRPr>
            </a:pPr>
            <a:r>
              <a:t>Use inner-circle calls to ask questions and get unstuck.</a:t>
            </a:r>
          </a:p>
        </p:txBody>
      </p:sp>
      <p:sp>
        <p:nvSpPr>
          <p:cNvPr id="10" name="Oval 9"/>
          <p:cNvSpPr/>
          <p:nvPr/>
        </p:nvSpPr>
        <p:spPr>
          <a:xfrm>
            <a:off x="685800" y="3438144"/>
            <a:ext cx="118872" cy="118872"/>
          </a:xfrm>
          <a:prstGeom prst="ellipse">
            <a:avLst/>
          </a:prstGeom>
          <a:solidFill>
            <a:srgbClr val="00A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3319272"/>
            <a:ext cx="7040880" cy="8869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defRPr sz="1900" b="0">
                <a:solidFill>
                  <a:srgbClr val="1F2D3D"/>
                </a:solidFill>
                <a:latin typeface="Aptos"/>
              </a:defRPr>
            </a:pPr>
            <a:r>
              <a:t>Use bootcamp for project revision, discussion, and deployment context.</a:t>
            </a:r>
          </a:p>
        </p:txBody>
      </p:sp>
      <p:sp>
        <p:nvSpPr>
          <p:cNvPr id="12" name="Oval 11"/>
          <p:cNvSpPr/>
          <p:nvPr/>
        </p:nvSpPr>
        <p:spPr>
          <a:xfrm>
            <a:off x="685800" y="4343399"/>
            <a:ext cx="118872" cy="118872"/>
          </a:xfrm>
          <a:prstGeom prst="ellipse">
            <a:avLst/>
          </a:prstGeom>
          <a:solidFill>
            <a:srgbClr val="00A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4224527"/>
            <a:ext cx="7040880" cy="8869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defRPr sz="1900" b="0">
                <a:solidFill>
                  <a:srgbClr val="1F2D3D"/>
                </a:solidFill>
                <a:latin typeface="Aptos"/>
              </a:defRPr>
            </a:pPr>
            <a:r>
              <a:t>Do not share credentials, self-promote, or distract others with unrelated courses.</a:t>
            </a:r>
          </a:p>
        </p:txBody>
      </p:sp>
      <p:sp>
        <p:nvSpPr>
          <p:cNvPr id="14" name="Oval 13"/>
          <p:cNvSpPr/>
          <p:nvPr/>
        </p:nvSpPr>
        <p:spPr>
          <a:xfrm>
            <a:off x="685800" y="5248655"/>
            <a:ext cx="118872" cy="118872"/>
          </a:xfrm>
          <a:prstGeom prst="ellipse">
            <a:avLst/>
          </a:prstGeom>
          <a:solidFill>
            <a:srgbClr val="00A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5129783"/>
            <a:ext cx="7040880" cy="8869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defRPr sz="1900" b="0">
                <a:solidFill>
                  <a:srgbClr val="1F2D3D"/>
                </a:solidFill>
                <a:latin typeface="Aptos"/>
              </a:defRPr>
            </a:pPr>
            <a:r>
              <a:t>Use official support channels for account or program issues.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66760" y="1481328"/>
            <a:ext cx="3227832" cy="4507992"/>
          </a:xfrm>
          <a:prstGeom prst="round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68512" y="1810512"/>
            <a:ext cx="2615184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1100" b="1">
                <a:solidFill>
                  <a:srgbClr val="F2B134"/>
                </a:solidFill>
                <a:latin typeface="Aptos"/>
              </a:defRPr>
            </a:pPr>
            <a:r>
              <a:t>LIVE-CALL VALUE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68512" y="2331720"/>
            <a:ext cx="2615184" cy="30632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Aptos"/>
              </a:defRPr>
            </a:pPr>
            <a:r>
              <a:t>Questions from other learners expose gaps you may not know you have.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" y="6510528"/>
            <a:ext cx="11000232" cy="10972"/>
          </a:xfrm>
          <a:prstGeom prst="rect">
            <a:avLst/>
          </a:prstGeom>
          <a:solidFill>
            <a:srgbClr val="DCE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6565392"/>
            <a:ext cx="10241280" cy="17373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800" b="0">
                <a:solidFill>
                  <a:srgbClr val="5C6C7C"/>
                </a:solidFill>
                <a:latin typeface="Aptos"/>
              </a:defRPr>
            </a:pPr>
            <a:r>
              <a:t>Source: Lessons 02, 08, and 10: Program Support and Final Steps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87000" y="6565392"/>
            <a:ext cx="1298448" cy="17373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defRPr sz="800" b="0">
                <a:solidFill>
                  <a:srgbClr val="5C6C7C"/>
                </a:solidFill>
                <a:latin typeface="Aptos"/>
              </a:defRPr>
            </a:pPr>
            <a:r>
              <a:t>RADE Success Blueprint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A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3108960" cy="31089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1000" b="1">
                <a:solidFill>
                  <a:srgbClr val="00A7A5"/>
                </a:solidFill>
                <a:latin typeface="Aptos"/>
              </a:defRPr>
            </a:pPr>
            <a:r>
              <a:t>EXECUTION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744200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2900" b="1">
                <a:solidFill>
                  <a:srgbClr val="0B1F33"/>
                </a:solidFill>
                <a:latin typeface="Aptos"/>
              </a:defRPr>
            </a:pPr>
            <a:r>
              <a:t>A Practical 4–6 Week Transformation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347472"/>
            <a:ext cx="475488" cy="31089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defRPr sz="1000" b="1">
                <a:solidFill>
                  <a:srgbClr val="5C6C7C"/>
                </a:solidFill>
                <a:latin typeface="Aptos"/>
              </a:defRPr>
            </a:pPr>
            <a:r>
              <a:t>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08760"/>
            <a:ext cx="2542032" cy="3886200"/>
          </a:xfrm>
          <a:prstGeom prst="roundRect">
            <a:avLst/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508760"/>
            <a:ext cx="2542032" cy="658368"/>
          </a:xfrm>
          <a:prstGeom prst="rect">
            <a:avLst/>
          </a:prstGeom>
          <a:solidFill>
            <a:srgbClr val="00A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1709928"/>
            <a:ext cx="221284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WEEK 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487168"/>
            <a:ext cx="2084831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defRPr sz="2000" b="1">
                <a:solidFill>
                  <a:srgbClr val="0B1F33"/>
                </a:solidFill>
                <a:latin typeface="Aptos"/>
              </a:defRPr>
            </a:pPr>
            <a:r>
              <a:t>Blueprint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8" y="3154680"/>
            <a:ext cx="1956816" cy="11430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defRPr sz="1500" b="0">
                <a:solidFill>
                  <a:srgbClr val="5C6C7C"/>
                </a:solidFill>
                <a:latin typeface="Aptos"/>
              </a:defRPr>
            </a:pPr>
            <a:r>
              <a:t>Finish orientation and set goals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" y="4617720"/>
            <a:ext cx="1956816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defRPr sz="1100" b="1">
                <a:solidFill>
                  <a:srgbClr val="00A7A5"/>
                </a:solidFill>
                <a:latin typeface="Aptos"/>
              </a:defRPr>
            </a:pPr>
            <a:r>
              <a:t>Consistent daily progress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02152" y="1508760"/>
            <a:ext cx="2542032" cy="3886200"/>
          </a:xfrm>
          <a:prstGeom prst="roundRect">
            <a:avLst/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502152" y="1508760"/>
            <a:ext cx="2542032" cy="658368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66744" y="1709928"/>
            <a:ext cx="221284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WEEKS 1–2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30752" y="2487168"/>
            <a:ext cx="2084831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defRPr sz="2000" b="1">
                <a:solidFill>
                  <a:srgbClr val="0B1F33"/>
                </a:solidFill>
                <a:latin typeface="Aptos"/>
              </a:defRPr>
            </a:pPr>
            <a:r>
              <a:t>Foundations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94760" y="3154680"/>
            <a:ext cx="1956816" cy="11430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defRPr sz="1500" b="0">
                <a:solidFill>
                  <a:srgbClr val="5C6C7C"/>
                </a:solidFill>
                <a:latin typeface="Aptos"/>
              </a:defRPr>
            </a:pPr>
            <a:r>
              <a:t>Unix, SQL, Python, PySpark + AWS basics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94760" y="4617720"/>
            <a:ext cx="1956816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defRPr sz="1100" b="1">
                <a:solidFill>
                  <a:srgbClr val="2F6BFF"/>
                </a:solidFill>
                <a:latin typeface="Aptos"/>
              </a:defRPr>
            </a:pPr>
            <a:r>
              <a:t>Consistent daily progress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18504" y="1508760"/>
            <a:ext cx="2542032" cy="3886200"/>
          </a:xfrm>
          <a:prstGeom prst="roundRect">
            <a:avLst/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18504" y="1508760"/>
            <a:ext cx="2542032" cy="658368"/>
          </a:xfrm>
          <a:prstGeom prst="rect">
            <a:avLst/>
          </a:prstGeom>
          <a:solidFill>
            <a:srgbClr val="F2B1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83096" y="1709928"/>
            <a:ext cx="221284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WEEKS 3–5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47104" y="2487168"/>
            <a:ext cx="2084831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defRPr sz="2000" b="1">
                <a:solidFill>
                  <a:srgbClr val="0B1F33"/>
                </a:solidFill>
                <a:latin typeface="Aptos"/>
              </a:defRPr>
            </a:pPr>
            <a:r>
              <a:t>Project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11112" y="3154680"/>
            <a:ext cx="1956816" cy="11430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defRPr sz="1500" b="0">
                <a:solidFill>
                  <a:srgbClr val="5C6C7C"/>
                </a:solidFill>
                <a:latin typeface="Aptos"/>
              </a:defRPr>
            </a:pPr>
            <a:r>
              <a:t>Labs, Deep Dive, AI-assisted implementation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11112" y="4617720"/>
            <a:ext cx="1956816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defRPr sz="1100" b="1">
                <a:solidFill>
                  <a:srgbClr val="F2B134"/>
                </a:solidFill>
                <a:latin typeface="Aptos"/>
              </a:defRPr>
            </a:pPr>
            <a:r>
              <a:t>Consistent daily progress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34856" y="1508760"/>
            <a:ext cx="2542032" cy="3886200"/>
          </a:xfrm>
          <a:prstGeom prst="roundRect">
            <a:avLst/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134856" y="1508760"/>
            <a:ext cx="2542032" cy="658368"/>
          </a:xfrm>
          <a:prstGeom prst="rect">
            <a:avLst/>
          </a:prstGeom>
          <a:solidFill>
            <a:srgbClr val="2A9D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99448" y="1709928"/>
            <a:ext cx="221284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WEEK 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63456" y="2487168"/>
            <a:ext cx="2084831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defRPr sz="2000" b="1">
                <a:solidFill>
                  <a:srgbClr val="0B1F33"/>
                </a:solidFill>
                <a:latin typeface="Aptos"/>
              </a:defRPr>
            </a:pPr>
            <a:r>
              <a:t>Career Story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27464" y="3154680"/>
            <a:ext cx="1956816" cy="11430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defRPr sz="1500" b="0">
                <a:solidFill>
                  <a:srgbClr val="5C6C7C"/>
                </a:solidFill>
                <a:latin typeface="Aptos"/>
              </a:defRPr>
            </a:pPr>
            <a:r>
              <a:t>Finalize project narrative and next steps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27464" y="4617720"/>
            <a:ext cx="1956816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defRPr sz="1100" b="1">
                <a:solidFill>
                  <a:srgbClr val="2A9D67"/>
                </a:solidFill>
                <a:latin typeface="Aptos"/>
              </a:defRPr>
            </a:pPr>
            <a:r>
              <a:t>Consistent daily progress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0120" y="5724144"/>
            <a:ext cx="1024128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defRPr sz="1600" b="1">
                <a:solidFill>
                  <a:srgbClr val="0B1F33"/>
                </a:solidFill>
                <a:latin typeface="Aptos"/>
              </a:defRPr>
            </a:pPr>
            <a:r>
              <a:t>Target six weeks on average; four may be possible and eight is the stated maximum.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94360" y="6510528"/>
            <a:ext cx="11000232" cy="10972"/>
          </a:xfrm>
          <a:prstGeom prst="rect">
            <a:avLst/>
          </a:prstGeom>
          <a:solidFill>
            <a:srgbClr val="DCE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94360" y="6565392"/>
            <a:ext cx="10241280" cy="17373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800" b="0">
                <a:solidFill>
                  <a:srgbClr val="5C6C7C"/>
                </a:solidFill>
                <a:latin typeface="Aptos"/>
              </a:defRPr>
            </a:pPr>
            <a:r>
              <a:t>Source: Lessons 09–10: 4–6 Week Plan; Final Clarity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287000" y="6565392"/>
            <a:ext cx="1298448" cy="17373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defRPr sz="800" b="0">
                <a:solidFill>
                  <a:srgbClr val="5C6C7C"/>
                </a:solidFill>
                <a:latin typeface="Aptos"/>
              </a:defRPr>
            </a:pPr>
            <a:r>
              <a:t>RADE Success Blueprint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A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3108960" cy="31089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1000" b="1">
                <a:solidFill>
                  <a:srgbClr val="00A7A5"/>
                </a:solidFill>
                <a:latin typeface="Aptos"/>
              </a:defRPr>
            </a:pPr>
            <a:r>
              <a:t>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744200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2900" b="1">
                <a:solidFill>
                  <a:srgbClr val="0B1F33"/>
                </a:solidFill>
                <a:latin typeface="Aptos"/>
              </a:defRPr>
            </a:pPr>
            <a:r>
              <a:t>Your Immediate 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347472"/>
            <a:ext cx="475488" cy="31089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defRPr sz="1000" b="1">
                <a:solidFill>
                  <a:srgbClr val="5C6C7C"/>
                </a:solidFill>
                <a:latin typeface="Aptos"/>
              </a:defRPr>
            </a:pPr>
            <a:r>
              <a:t>17</a:t>
            </a:r>
          </a:p>
        </p:txBody>
      </p:sp>
      <p:sp>
        <p:nvSpPr>
          <p:cNvPr id="6" name="Oval 5"/>
          <p:cNvSpPr/>
          <p:nvPr/>
        </p:nvSpPr>
        <p:spPr>
          <a:xfrm>
            <a:off x="777240" y="1572768"/>
            <a:ext cx="566928" cy="566928"/>
          </a:xfrm>
          <a:prstGeom prst="ellipse">
            <a:avLst/>
          </a:prstGeom>
          <a:solidFill>
            <a:srgbClr val="00A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82495"/>
            <a:ext cx="566928" cy="246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1554480"/>
            <a:ext cx="4480560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defRPr sz="1800" b="1">
                <a:solidFill>
                  <a:srgbClr val="1F2D3D"/>
                </a:solidFill>
                <a:latin typeface="Aptos"/>
              </a:defRPr>
            </a:pPr>
            <a:r>
              <a:t>Download and follow the learning-path PDF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2898648"/>
            <a:ext cx="566928" cy="566928"/>
          </a:xfrm>
          <a:prstGeom prst="ellipse">
            <a:avLst/>
          </a:prstGeom>
          <a:solidFill>
            <a:srgbClr val="00A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3008376"/>
            <a:ext cx="566928" cy="246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880360"/>
            <a:ext cx="4480560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defRPr sz="1800" b="1">
                <a:solidFill>
                  <a:srgbClr val="1F2D3D"/>
                </a:solidFill>
                <a:latin typeface="Aptos"/>
              </a:defRPr>
            </a:pPr>
            <a:r>
              <a:t>Start Unix and Cloud Foundations</a:t>
            </a:r>
          </a:p>
        </p:txBody>
      </p:sp>
      <p:sp>
        <p:nvSpPr>
          <p:cNvPr id="12" name="Oval 11"/>
          <p:cNvSpPr/>
          <p:nvPr/>
        </p:nvSpPr>
        <p:spPr>
          <a:xfrm>
            <a:off x="777240" y="4224528"/>
            <a:ext cx="566928" cy="566928"/>
          </a:xfrm>
          <a:prstGeom prst="ellipse">
            <a:avLst/>
          </a:prstGeom>
          <a:solidFill>
            <a:srgbClr val="00A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334256"/>
            <a:ext cx="566928" cy="246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4206240"/>
            <a:ext cx="4480560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defRPr sz="1800" b="1">
                <a:solidFill>
                  <a:srgbClr val="1F2D3D"/>
                </a:solidFill>
                <a:latin typeface="Aptos"/>
              </a:defRPr>
            </a:pPr>
            <a:r>
              <a:t>Save the Blueprint completion certificate</a:t>
            </a:r>
          </a:p>
        </p:txBody>
      </p:sp>
      <p:sp>
        <p:nvSpPr>
          <p:cNvPr id="15" name="Oval 14"/>
          <p:cNvSpPr/>
          <p:nvPr/>
        </p:nvSpPr>
        <p:spPr>
          <a:xfrm>
            <a:off x="6400800" y="1572768"/>
            <a:ext cx="566928" cy="566928"/>
          </a:xfrm>
          <a:prstGeom prst="ellipse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682495"/>
            <a:ext cx="566928" cy="246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78040" y="1554480"/>
            <a:ext cx="4480560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defRPr sz="1800" b="1">
                <a:solidFill>
                  <a:srgbClr val="1F2D3D"/>
                </a:solidFill>
                <a:latin typeface="Aptos"/>
              </a:defRPr>
            </a:pPr>
            <a:r>
              <a:t>Post your reflection and certificate screenshot</a:t>
            </a:r>
          </a:p>
        </p:txBody>
      </p:sp>
      <p:sp>
        <p:nvSpPr>
          <p:cNvPr id="18" name="Oval 17"/>
          <p:cNvSpPr/>
          <p:nvPr/>
        </p:nvSpPr>
        <p:spPr>
          <a:xfrm>
            <a:off x="6400800" y="2898648"/>
            <a:ext cx="566928" cy="566928"/>
          </a:xfrm>
          <a:prstGeom prst="ellipse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3008376"/>
            <a:ext cx="566928" cy="246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78040" y="2880360"/>
            <a:ext cx="4480560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defRPr sz="1800" b="1">
                <a:solidFill>
                  <a:srgbClr val="1F2D3D"/>
                </a:solidFill>
                <a:latin typeface="Aptos"/>
              </a:defRPr>
            </a:pPr>
            <a:r>
              <a:t>Attend orientation, inner-circle calls, and bootcamp</a:t>
            </a:r>
          </a:p>
        </p:txBody>
      </p:sp>
      <p:sp>
        <p:nvSpPr>
          <p:cNvPr id="21" name="Oval 20"/>
          <p:cNvSpPr/>
          <p:nvPr/>
        </p:nvSpPr>
        <p:spPr>
          <a:xfrm>
            <a:off x="6400800" y="4224528"/>
            <a:ext cx="566928" cy="566928"/>
          </a:xfrm>
          <a:prstGeom prst="ellipse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4334256"/>
            <a:ext cx="566928" cy="246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78040" y="4206240"/>
            <a:ext cx="4480560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defRPr sz="1800" b="1">
                <a:solidFill>
                  <a:srgbClr val="1F2D3D"/>
                </a:solidFill>
                <a:latin typeface="Aptos"/>
              </a:defRPr>
            </a:pPr>
            <a:r>
              <a:t>Study 60–90 minutes daily and track your time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508760" y="5550408"/>
            <a:ext cx="9171432" cy="621792"/>
          </a:xfrm>
          <a:prstGeom prst="round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810512" y="5724144"/>
            <a:ext cx="8577072" cy="246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The next milestone is not another plan—it is starting the first foundation course.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94360" y="6510528"/>
            <a:ext cx="11000232" cy="10972"/>
          </a:xfrm>
          <a:prstGeom prst="rect">
            <a:avLst/>
          </a:prstGeom>
          <a:solidFill>
            <a:srgbClr val="DCE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4360" y="6565392"/>
            <a:ext cx="10241280" cy="17373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800" b="0">
                <a:solidFill>
                  <a:srgbClr val="5C6C7C"/>
                </a:solidFill>
                <a:latin typeface="Aptos"/>
              </a:defRPr>
            </a:pPr>
            <a:r>
              <a:t>Source: Lesson 10: Final Clarity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87000" y="6565392"/>
            <a:ext cx="1298448" cy="17373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defRPr sz="800" b="0">
                <a:solidFill>
                  <a:srgbClr val="5C6C7C"/>
                </a:solidFill>
                <a:latin typeface="Aptos"/>
              </a:defRPr>
            </a:pPr>
            <a:r>
              <a:t>RADE Success Blueprint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58368"/>
            <a:ext cx="475488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1100" b="1">
                <a:solidFill>
                  <a:srgbClr val="F2B134"/>
                </a:solidFill>
                <a:latin typeface="Aptos"/>
              </a:defRPr>
            </a:pPr>
            <a:r>
              <a:t>THE BLUEPRINT IN ONE SENTENCE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143000"/>
            <a:ext cx="5943600" cy="2560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defRPr sz="3900" b="1">
                <a:solidFill>
                  <a:srgbClr val="FFFFFF"/>
                </a:solidFill>
                <a:latin typeface="Aptos"/>
              </a:defRPr>
            </a:pPr>
            <a:r>
              <a:t>Follow the path.</a:t>
            </a:r>
            <a:br/>
            <a:r>
              <a:t>Build the project.</a:t>
            </a:r>
            <a:br/>
            <a:r>
              <a:t>Tell the story.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995160" y="749808"/>
            <a:ext cx="4315968" cy="5257800"/>
          </a:xfrm>
          <a:prstGeom prst="roundRect">
            <a:avLst/>
          </a:prstGeom>
          <a:solidFill>
            <a:srgbClr val="17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60920" y="1143000"/>
            <a:ext cx="3566160" cy="3474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1300" b="1">
                <a:solidFill>
                  <a:srgbClr val="00A7A5"/>
                </a:solidFill>
                <a:latin typeface="Aptos"/>
              </a:defRPr>
            </a:pPr>
            <a:r>
              <a:t>BEYOND SILVER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60920" y="1737360"/>
            <a:ext cx="3456432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Aptos"/>
              </a:defRPr>
            </a:pPr>
            <a:r>
              <a:t>Applied Data Engineering Mastery adds deeper tracks in: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60920" y="2743200"/>
            <a:ext cx="384048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1100" b="1">
                <a:solidFill>
                  <a:srgbClr val="F2B134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45552" y="2679192"/>
            <a:ext cx="2907792" cy="5120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Aptos"/>
              </a:defRPr>
            </a:pPr>
            <a:r>
              <a:t>Apache Spark and big-data engineering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60920" y="3456432"/>
            <a:ext cx="384048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1100" b="1">
                <a:solidFill>
                  <a:srgbClr val="F2B134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45552" y="3392424"/>
            <a:ext cx="2907792" cy="5120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Aptos"/>
              </a:defRPr>
            </a:pPr>
            <a:r>
              <a:t>Redshift, dimensional modeling, and Iceberg lakehouse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60920" y="4169664"/>
            <a:ext cx="384048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1100" b="1">
                <a:solidFill>
                  <a:srgbClr val="F2B134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45552" y="4105656"/>
            <a:ext cx="2907792" cy="5120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Aptos"/>
              </a:defRPr>
            </a:pPr>
            <a:r>
              <a:t>Airflow, streaming, Kafka, Git, and CI/CD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60920" y="5074920"/>
            <a:ext cx="3401568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defRPr sz="1500" b="1">
                <a:solidFill>
                  <a:srgbClr val="00A7A5"/>
                </a:solidFill>
                <a:latin typeface="Aptos"/>
              </a:defRPr>
            </a:pPr>
            <a:r>
              <a:t>Focus first on the current milestone.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6263640"/>
            <a:ext cx="649224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900" b="0">
                <a:solidFill>
                  <a:srgbClr val="99B1C7"/>
                </a:solidFill>
                <a:latin typeface="Aptos"/>
              </a:defRPr>
            </a:pPr>
            <a:r>
              <a:t>Summary based on all 10 local RADE Success Blueprint transcripts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RADE Success Blueprint Summary</dc:title>
  <dc:subject>Summary of all 10 RADE Success Blueprint transcripts</dc:subject>
  <dc:creator>RADE Learning Workspace</dc:creator>
  <cp:keywords>RADE, AWS, data engineering, learning path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