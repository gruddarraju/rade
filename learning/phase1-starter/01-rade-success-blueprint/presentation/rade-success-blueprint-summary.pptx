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49808"/>
            <a:ext cx="128016" cy="537667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051560"/>
            <a:ext cx="2743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700" b="1">
                <a:solidFill>
                  <a:srgbClr val="F2B134"/>
                </a:solidFill>
                <a:latin typeface="Aptos"/>
              </a:defRPr>
            </a:pPr>
            <a:r>
              <a:t>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00784"/>
            <a:ext cx="9784080" cy="9326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ptos"/>
              </a:defRPr>
            </a:pPr>
            <a:r>
              <a:t>Success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88920"/>
            <a:ext cx="896112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0">
                <a:solidFill>
                  <a:srgbClr val="BDD9E8"/>
                </a:solidFill>
                <a:latin typeface="Aptos"/>
              </a:defRPr>
            </a:pPr>
            <a:r>
              <a:t>From starter to applied data engineer on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657600"/>
            <a:ext cx="89154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tos"/>
              </a:defRPr>
            </a:pPr>
            <a:r>
              <a:t>A presentation summary synthesized from all 10 course transcripts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736592"/>
            <a:ext cx="3246120" cy="566928"/>
          </a:xfrm>
          <a:prstGeom prst="round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873752"/>
            <a:ext cx="2788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4–6 WEEK FOUNDATION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172200"/>
            <a:ext cx="56692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0">
                <a:solidFill>
                  <a:srgbClr val="99B1C7"/>
                </a:solidFill>
                <a:latin typeface="Aptos"/>
              </a:defRPr>
            </a:pPr>
            <a:r>
              <a:t>Transcript-based summary • Local workspace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The Blueprint Journey in One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27632"/>
            <a:ext cx="25146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08176" y="1901952"/>
            <a:ext cx="1005840" cy="1005840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2084831"/>
            <a:ext cx="1005840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154680"/>
            <a:ext cx="2148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0B1F33"/>
                </a:solidFill>
                <a:latin typeface="Aptos"/>
              </a:defRPr>
            </a:pPr>
            <a:r>
              <a:t>ORIENT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703320"/>
            <a:ext cx="205740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5C6C7C"/>
                </a:solidFill>
                <a:latin typeface="Aptos"/>
              </a:defRPr>
            </a:pPr>
            <a:r>
              <a:t>Understand the system, levels, and support</a:t>
            </a:r>
          </a:p>
        </p:txBody>
      </p:sp>
      <p:sp>
        <p:nvSpPr>
          <p:cNvPr id="11" name="Chevron 10"/>
          <p:cNvSpPr/>
          <p:nvPr/>
        </p:nvSpPr>
        <p:spPr>
          <a:xfrm>
            <a:off x="3172968" y="2907792"/>
            <a:ext cx="301752" cy="502920"/>
          </a:xfrm>
          <a:prstGeom prst="chevron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4720" y="1627632"/>
            <a:ext cx="25146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24528" y="1901952"/>
            <a:ext cx="1005840" cy="1005840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4528" y="2084831"/>
            <a:ext cx="1005840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148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0B1F33"/>
                </a:solidFill>
                <a:latin typeface="Aptos"/>
              </a:defRPr>
            </a:pPr>
            <a:r>
              <a:t>FOUND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703320"/>
            <a:ext cx="205740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5C6C7C"/>
                </a:solidFill>
                <a:latin typeface="Aptos"/>
              </a:defRPr>
            </a:pPr>
            <a:r>
              <a:t>Build Unix, SQL, Python, PySpark, and AWS basics</a:t>
            </a:r>
          </a:p>
        </p:txBody>
      </p:sp>
      <p:sp>
        <p:nvSpPr>
          <p:cNvPr id="17" name="Chevron 16"/>
          <p:cNvSpPr/>
          <p:nvPr/>
        </p:nvSpPr>
        <p:spPr>
          <a:xfrm>
            <a:off x="5989320" y="2907792"/>
            <a:ext cx="301752" cy="502920"/>
          </a:xfrm>
          <a:prstGeom prst="chevron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91072" y="1627632"/>
            <a:ext cx="25146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0" y="1901952"/>
            <a:ext cx="1005840" cy="1005840"/>
          </a:xfrm>
          <a:prstGeom prst="ellipse">
            <a:avLst/>
          </a:prstGeom>
          <a:solidFill>
            <a:srgbClr val="F2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2084831"/>
            <a:ext cx="1005840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154680"/>
            <a:ext cx="2148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0B1F33"/>
                </a:solidFill>
                <a:latin typeface="Aptos"/>
              </a:defRPr>
            </a:pPr>
            <a:r>
              <a:t>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3703320"/>
            <a:ext cx="205740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5C6C7C"/>
                </a:solidFill>
                <a:latin typeface="Aptos"/>
              </a:defRPr>
            </a:pPr>
            <a:r>
              <a:t>Complete a production-oriented AWS project</a:t>
            </a:r>
          </a:p>
        </p:txBody>
      </p:sp>
      <p:sp>
        <p:nvSpPr>
          <p:cNvPr id="23" name="Chevron 22"/>
          <p:cNvSpPr/>
          <p:nvPr/>
        </p:nvSpPr>
        <p:spPr>
          <a:xfrm>
            <a:off x="8805672" y="2907792"/>
            <a:ext cx="301752" cy="502920"/>
          </a:xfrm>
          <a:prstGeom prst="chevron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627632"/>
            <a:ext cx="25146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57232" y="1901952"/>
            <a:ext cx="1005840" cy="1005840"/>
          </a:xfrm>
          <a:prstGeom prst="ellipse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57232" y="2084831"/>
            <a:ext cx="1005840" cy="4023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3154680"/>
            <a:ext cx="21488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0B1F33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024" y="3703320"/>
            <a:ext cx="205740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5C6C7C"/>
                </a:solidFill>
                <a:latin typeface="Aptos"/>
              </a:defRPr>
            </a:pPr>
            <a:r>
              <a:t>Create the project story and become interview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632704"/>
            <a:ext cx="100126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800" b="1">
                <a:solidFill>
                  <a:srgbClr val="0B1F33"/>
                </a:solidFill>
                <a:latin typeface="Aptos"/>
              </a:defRPr>
            </a:pPr>
            <a:r>
              <a:t>Near-term target: complete the Blueprint, then become a Hackathon Finisher.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All 10 lesson transcripts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Welcome to DEH: Learning for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The course responds to the lack of one clear route into real-world data engineering.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75920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4033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Transformation requires action, accountability, and support—not information alone.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89077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7190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Members are expected to learn, share notes, ask questions, and later serve others.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502234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0347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Finish the Blueprint quickly, then move into the hands-on learning path.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CORE 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Treat learning as an active, community-supported transformation.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01: Welcome to DEH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LEARNING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The Game of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Complete lessons and courses to build momentum and earn platform points.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75920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4033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Share learning notes, react to peers, and maintain a consistent activity streak.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89077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7190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Use the portal as a social learning network rather than a passive video library.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502234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0347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Gamification supports the real objective: sustained learning and implementation.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BEHAVIOR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Learn → implement → share → receive feedback → continue.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Lessons 01 and 08: Welcome; Leverage the 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Progress Through Four Achievement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788920"/>
            <a:ext cx="9875520" cy="10972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331720"/>
            <a:ext cx="987552" cy="98755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51176"/>
            <a:ext cx="987552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5" y="1481328"/>
            <a:ext cx="2011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0B1F33"/>
                </a:solidFill>
                <a:latin typeface="Aptos"/>
              </a:defRPr>
            </a:pPr>
            <a:r>
              <a:t>BLUEPRINT</a:t>
            </a:r>
            <a:br/>
            <a:r>
              <a:t>FINISHER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547872"/>
            <a:ext cx="1682496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00A7A5"/>
                </a:solidFill>
                <a:latin typeface="Aptos"/>
              </a:defRPr>
            </a:pPr>
            <a:r>
              <a:t>3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4041648"/>
            <a:ext cx="1993392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0">
                <a:solidFill>
                  <a:srgbClr val="5C6C7C"/>
                </a:solidFill>
                <a:latin typeface="Aptos"/>
              </a:defRPr>
            </a:pPr>
            <a:r>
              <a:t>Complete this course</a:t>
            </a:r>
          </a:p>
        </p:txBody>
      </p:sp>
      <p:sp>
        <p:nvSpPr>
          <p:cNvPr id="12" name="Oval 11"/>
          <p:cNvSpPr/>
          <p:nvPr/>
        </p:nvSpPr>
        <p:spPr>
          <a:xfrm>
            <a:off x="3703320" y="2331720"/>
            <a:ext cx="987552" cy="987552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551176"/>
            <a:ext cx="987552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91256" y="1481328"/>
            <a:ext cx="2011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0B1F33"/>
                </a:solidFill>
                <a:latin typeface="Aptos"/>
              </a:defRPr>
            </a:pPr>
            <a:r>
              <a:t>HACKATHON</a:t>
            </a:r>
            <a:br/>
            <a:r>
              <a:t>FINISHER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3547872"/>
            <a:ext cx="1682496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2F6BFF"/>
                </a:solidFill>
                <a:latin typeface="Aptos"/>
              </a:defRPr>
            </a:pPr>
            <a:r>
              <a:t>4–6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041648"/>
            <a:ext cx="1993392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0">
                <a:solidFill>
                  <a:srgbClr val="5C6C7C"/>
                </a:solidFill>
                <a:latin typeface="Aptos"/>
              </a:defRPr>
            </a:pPr>
            <a:r>
              <a:t>Finish Silver path + project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0" y="2331720"/>
            <a:ext cx="987552" cy="987552"/>
          </a:xfrm>
          <a:prstGeom prst="ellipse">
            <a:avLst/>
          </a:prstGeom>
          <a:solidFill>
            <a:srgbClr val="F2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551176"/>
            <a:ext cx="987552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1481328"/>
            <a:ext cx="2011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0B1F33"/>
                </a:solidFill>
                <a:latin typeface="Aptos"/>
              </a:defRPr>
            </a:pPr>
            <a:r>
              <a:t>APPLIED DATA</a:t>
            </a:r>
            <a:br/>
            <a:r>
              <a:t>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3547872"/>
            <a:ext cx="1682496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F2B134"/>
                </a:solidFill>
                <a:latin typeface="Aptos"/>
              </a:defRPr>
            </a:pPr>
            <a:r>
              <a:t>~3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4041648"/>
            <a:ext cx="1993392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0">
                <a:solidFill>
                  <a:srgbClr val="5C6C7C"/>
                </a:solidFill>
                <a:latin typeface="Aptos"/>
              </a:defRPr>
            </a:pPr>
            <a:r>
              <a:t>Deep specialization</a:t>
            </a:r>
          </a:p>
        </p:txBody>
      </p:sp>
      <p:sp>
        <p:nvSpPr>
          <p:cNvPr id="22" name="Oval 21"/>
          <p:cNvSpPr/>
          <p:nvPr/>
        </p:nvSpPr>
        <p:spPr>
          <a:xfrm>
            <a:off x="9281159" y="2331720"/>
            <a:ext cx="987552" cy="987552"/>
          </a:xfrm>
          <a:prstGeom prst="ellipse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59" y="2551176"/>
            <a:ext cx="987552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9095" y="1481328"/>
            <a:ext cx="2011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0B1F33"/>
                </a:solidFill>
                <a:latin typeface="Aptos"/>
              </a:defRPr>
            </a:pPr>
            <a:r>
              <a:t>HALL OF</a:t>
            </a:r>
            <a:br/>
            <a:r>
              <a:t>FAME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33687" y="3547872"/>
            <a:ext cx="1682496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2A9D67"/>
                </a:solidFill>
                <a:latin typeface="Aptos"/>
              </a:defRPr>
            </a:pPr>
            <a:r>
              <a:t>Variable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39" y="4041648"/>
            <a:ext cx="1993392" cy="7498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0">
                <a:solidFill>
                  <a:srgbClr val="5C6C7C"/>
                </a:solidFill>
                <a:latin typeface="Aptos"/>
              </a:defRPr>
            </a:pPr>
            <a:r>
              <a:t>Crack interviews and share the story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5230368"/>
            <a:ext cx="9253728" cy="594360"/>
          </a:xfrm>
          <a:prstGeom prst="roundRect">
            <a:avLst/>
          </a:prstGeom>
          <a:solidFill>
            <a:srgbClr val="E7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55648" y="5385816"/>
            <a:ext cx="86410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173557"/>
                </a:solidFill>
                <a:latin typeface="Aptos"/>
              </a:defRPr>
            </a:pPr>
            <a:r>
              <a:t>Achievement levels are distinct from membership tiers such as Silver, Gold, and Diamond.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Lessons 01–02: Welcome; How the Program Works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How the Program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Focus first on the Starter and Hackathon Finisher phases.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532887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14015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Use orientation, inner-circle calls, bootcamp, community, and email support.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38144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19272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Find an accountability partner and compare progress every week.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343399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24527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Track study time and share completed hours to reinforce consistency.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5248655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29783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Follow the code of honor: clarity, consistency, commitment, charity, community, celebration.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RECOMMENDED RHYTHM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Study 60–90 minutes per day and move one step at a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02: How the Program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22792" y="4773168"/>
            <a:ext cx="2706624" cy="841248"/>
          </a:xfrm>
          <a:prstGeom prst="roundRect">
            <a:avLst/>
          </a:prstGeom>
          <a:solidFill>
            <a:srgbClr val="E8F7F5"/>
          </a:solidFill>
          <a:ln w="10160">
            <a:solidFill>
              <a:srgbClr val="00A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27432" bIns="2743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B1F33"/>
                </a:solidFill>
                <a:latin typeface="Aptos"/>
              </a:rPr>
              <a:t>Instructor practice: contribute monthly to a cause you value.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What Student Stories Have in Common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Learners describe moving from fragmented knowledge toward clearer cloud understanding.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6563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374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Hands-on projects provide a concrete use case to explain during interviews.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6850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Repeated practice improves confidence and the ability to connect technical concepts.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7137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48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Weekly connection and hackathon participation reduce isolation and sustain momentum.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SHARED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Structure + practical work + consistency + community support.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5696712"/>
            <a:ext cx="7269480" cy="365760"/>
          </a:xfrm>
          <a:prstGeom prst="roundRect">
            <a:avLst/>
          </a:prstGeom>
          <a:solidFill>
            <a:srgbClr val="FFF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5504688"/>
            <a:ext cx="10890504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77500F"/>
                </a:solidFill>
                <a:latin typeface="Aptos"/>
              </a:defRPr>
            </a:pPr>
            <a:r>
              <a:rPr sz="940" b="1">
                <a:solidFill>
                  <a:srgbClr val="14233E"/>
                </a:solidFill>
                <a:latin typeface="Aptos"/>
              </a:rPr>
              <a:t>Source includes a participant assertion of multiple offers within three months. This assertion is not independently verified, typical, or guaranteed.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03: Real Student Transformations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MINDSET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Commitment Is Part of the Skill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Define the outcome you are working toward and why it matters.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75920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4033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Build the habits behind the outcome: consistency, dedication, and service.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89077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7190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State your intention publicly to create accountability.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502234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0347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Measure success by who you become—not only by courses completed.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IDENTITY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Become a professional who learns continuously and finishes what they start.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04: Commitment, Intention &amp; the Game of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Why the Prescribed System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Replace passive viewing with desk-based study, personal notes, and hands-on work.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75920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4033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Follow one structured path instead of constantly switching between resources.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89077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7190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Use focused mentoring, community accountability, and revision to reduce confusion.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502234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03470"/>
            <a:ext cx="7040880" cy="111328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Treat skills as compounding career assets and continue learning beyond one job switch.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COURSE PRINCIPLE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Systems create direction; consistent execution creates progress.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05: The Journey Ahead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LEARNING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Silver’s Ten-Course Project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90472"/>
            <a:ext cx="33375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90472"/>
            <a:ext cx="3337560" cy="566928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55064"/>
            <a:ext cx="306324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28803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00A7A5"/>
                </a:solidFill>
                <a:latin typeface="Aptos"/>
              </a:defRPr>
            </a:pPr>
            <a:r>
              <a:t>~10 days to 2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88920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00A7A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752344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Success Blueprint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355848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00A7A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319272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Unix +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22776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00A7A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886200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SQL +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489704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00A7A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453127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Python + AWS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056631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00A7A5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020056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PySpark Booster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1490472"/>
            <a:ext cx="37033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1490472"/>
            <a:ext cx="3703320" cy="566928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1655064"/>
            <a:ext cx="34290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PROJECT 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2286000"/>
            <a:ext cx="3246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2F6BFF"/>
                </a:solidFill>
                <a:latin typeface="Aptos"/>
              </a:defRPr>
            </a:pPr>
            <a:r>
              <a:t>~1 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4" y="2788920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2F6B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752344"/>
            <a:ext cx="2788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AWS Project Labs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3355848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2F6B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319272"/>
            <a:ext cx="2788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AWS Deep Dive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9704" y="3922776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2F6B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886200"/>
            <a:ext cx="2788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Agentic DE with Amazon 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9704" y="4489704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2F6B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453127"/>
            <a:ext cx="2788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Building DE Code with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93024" y="1490472"/>
            <a:ext cx="33375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93024" y="1490472"/>
            <a:ext cx="3337560" cy="566928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0184" y="1655064"/>
            <a:ext cx="306324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CAREER 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2286000"/>
            <a:ext cx="288036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2B134"/>
                </a:solidFill>
                <a:latin typeface="Aptos"/>
              </a:defRPr>
            </a:pPr>
            <a:r>
              <a:t>Finish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2788920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2752344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Journey to Highly Paid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6" y="3355848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3319272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Project story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922776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3886200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Resume + LinkedIn content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4489704"/>
            <a:ext cx="34747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4453127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Aptos"/>
              </a:defRPr>
            </a:pPr>
            <a:r>
              <a:t>Hackathon completion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05: The Journey Ahead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Build Skills in Layers—not All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99616"/>
            <a:ext cx="9738360" cy="914400"/>
          </a:xfrm>
          <a:prstGeom prst="round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636775"/>
            <a:ext cx="20574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1 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5808" y="1609343"/>
            <a:ext cx="704088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SQL • Python • PySpark • AWS data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2599182"/>
            <a:ext cx="8549640" cy="914400"/>
          </a:xfrm>
          <a:prstGeom prst="round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8488" y="2736341"/>
            <a:ext cx="20574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2  CORE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08910"/>
            <a:ext cx="585216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Hands-on project • dimensional modeling • lakehouse concepts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698748"/>
            <a:ext cx="7360920" cy="914400"/>
          </a:xfrm>
          <a:prstGeom prst="roundRect">
            <a:avLst/>
          </a:prstGeom>
          <a:solidFill>
            <a:srgbClr val="F2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2848" y="3835908"/>
            <a:ext cx="20574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3  DIFFERENTIATORS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3808476"/>
            <a:ext cx="46634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Airflow • Spark streaming • Kafka • CI/CD awareness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798314"/>
            <a:ext cx="6172200" cy="914400"/>
          </a:xfrm>
          <a:prstGeom prst="round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8" y="4935474"/>
            <a:ext cx="20574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4  LATER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4908042"/>
            <a:ext cx="347472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tos"/>
              </a:defRPr>
            </a:pPr>
            <a:r>
              <a:t>Databricks • Snowflake • dbt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870448"/>
            <a:ext cx="100584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0B1F33"/>
                </a:solidFill>
                <a:latin typeface="Aptos"/>
              </a:defRPr>
            </a:pPr>
            <a:r>
              <a:t>Method: personal notes + 100% hands-on work + revision + a prepared project story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05: The Journey Ahead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Self-Discovery Through Success 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Study three or four success interviews that match your background or target transition.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6563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374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Observe the decisions, confidence, energy, and repeated habits behind each story.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6850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Identify limiting beliefs about coding, background, or missing project experience.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7137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48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Write a numbered list of lessons before moving to goal visualization.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Borrow evidence from relatable journeys to expand what feels possible.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5696712"/>
            <a:ext cx="7269480" cy="365760"/>
          </a:xfrm>
          <a:prstGeom prst="roundRect">
            <a:avLst/>
          </a:prstGeom>
          <a:solidFill>
            <a:srgbClr val="FFF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51576"/>
            <a:ext cx="6949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1">
                <a:solidFill>
                  <a:srgbClr val="77500F"/>
                </a:solidFill>
                <a:latin typeface="Aptos"/>
              </a:defRPr>
            </a:pPr>
            <a:r>
              <a:t>Salary and offer figures in the source are participant-reported testimonials.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06: Self-Discovery Assignment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Turn Intentions into Clear, Time-Bound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Clarify the deeper reason for changing roles: family, growth, location, finances, or impact.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6563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374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Define the desired role, team, manager, company, location, and working conditions.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6850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Research realistic market compensation using reputable salary sources.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713732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4860"/>
            <a:ext cx="7040880" cy="10104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0">
                <a:solidFill>
                  <a:srgbClr val="1F2D3D"/>
                </a:solidFill>
                <a:latin typeface="Aptos"/>
              </a:defRPr>
            </a:pPr>
            <a:r>
              <a:t>Write date-bound goals, review them daily, and connect them to concrete 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PRACTICAL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A clear target helps you choose the next action and reject distractions.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5696712"/>
            <a:ext cx="7269480" cy="365760"/>
          </a:xfrm>
          <a:prstGeom prst="roundRect">
            <a:avLst/>
          </a:prstGeom>
          <a:solidFill>
            <a:srgbClr val="FFF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751576"/>
            <a:ext cx="6949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1">
                <a:solidFill>
                  <a:srgbClr val="77500F"/>
                </a:solidFill>
                <a:latin typeface="Aptos"/>
              </a:defRPr>
            </a:pPr>
            <a:r>
              <a:t>Visualization and mindset statements are instructor guidance, not guaranteed outcomes.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07: Goals, Intentions &amp; Visualization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Make the Journey More Reliable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Complete your profile and introduce your experience, city, and learning intent.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532887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14015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Find an accountability partner or small group with a compatible schedule.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38144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19272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Share notes, study hours, interview questions, techniques, and genuine opportunities.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343399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24527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Enable notifications so calls, reminders, and support do not get missed.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5248655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29783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Celebrate completed lessons, certificates, project milestones, and peer progress.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COMMUNITY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Support converts an isolated course into a shared execution system.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08: Leverage the Power of Community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Use Live Support Well—and Protect the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627631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Attend orientation for account and tool setup.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532887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14015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Use inner-circle calls to ask questions and get unstuck.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38144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19272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Use bootcamp for project revision, discussion, and deployment context.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343399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24527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Do not share credentials, self-promote, or distract others with unrelated courses.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5248655"/>
            <a:ext cx="118872" cy="118872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29783"/>
            <a:ext cx="7040880" cy="8869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900" b="0">
                <a:solidFill>
                  <a:srgbClr val="1F2D3D"/>
                </a:solidFill>
                <a:latin typeface="Aptos"/>
              </a:defRPr>
            </a:pPr>
            <a:r>
              <a:t>Use official support channels for account or program issues.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481328"/>
            <a:ext cx="3227832" cy="45079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1810512"/>
            <a:ext cx="2615184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LIVE-CALL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2331720"/>
            <a:ext cx="2615184" cy="3063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Questions from other learners expose gaps you may not know you have.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Lessons 02, 08, and 10: Program Support and Final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A Practical 4–6 Week Transformation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542032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2542032" cy="658368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09928"/>
            <a:ext cx="22128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WEEK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2084831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0B1F33"/>
                </a:solidFill>
                <a:latin typeface="Aptos"/>
              </a:defRPr>
            </a:pPr>
            <a:r>
              <a:t>Blueprint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154680"/>
            <a:ext cx="1956816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500" b="0">
                <a:solidFill>
                  <a:srgbClr val="5C6C7C"/>
                </a:solidFill>
                <a:latin typeface="Aptos"/>
              </a:defRPr>
            </a:pPr>
            <a:r>
              <a:t>Finish orientation and set goals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617720"/>
            <a:ext cx="195681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A7A5"/>
                </a:solidFill>
                <a:latin typeface="Aptos"/>
              </a:defRPr>
            </a:pPr>
            <a:r>
              <a:t>Consistent daily progress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508760"/>
            <a:ext cx="2542032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508760"/>
            <a:ext cx="2542032" cy="658368"/>
          </a:xfrm>
          <a:prstGeom prst="rect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6744" y="1709928"/>
            <a:ext cx="22128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WEEKS 1–2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487168"/>
            <a:ext cx="2084831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0B1F33"/>
                </a:solidFill>
                <a:latin typeface="Aptos"/>
              </a:defRPr>
            </a:pPr>
            <a:r>
              <a:t>Foundations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154680"/>
            <a:ext cx="1956816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500" b="0">
                <a:solidFill>
                  <a:srgbClr val="5C6C7C"/>
                </a:solidFill>
                <a:latin typeface="Aptos"/>
              </a:defRPr>
            </a:pPr>
            <a:r>
              <a:t>Unix, SQL, Python, PySpark + AWS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617720"/>
            <a:ext cx="195681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F6BFF"/>
                </a:solidFill>
                <a:latin typeface="Aptos"/>
              </a:defRPr>
            </a:pPr>
            <a:r>
              <a:t>Consistent daily progress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2542032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18504" y="1508760"/>
            <a:ext cx="2542032" cy="658368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1709928"/>
            <a:ext cx="22128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WEEKS 3–5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487168"/>
            <a:ext cx="2084831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0B1F33"/>
                </a:solidFill>
                <a:latin typeface="Aptos"/>
              </a:defRPr>
            </a:pPr>
            <a:r>
              <a:t>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1112" y="3154680"/>
            <a:ext cx="1956816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500" b="0">
                <a:solidFill>
                  <a:srgbClr val="5C6C7C"/>
                </a:solidFill>
                <a:latin typeface="Aptos"/>
              </a:defRPr>
            </a:pPr>
            <a:r>
              <a:t>Labs, Deep Dive, AI-assisted implementation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4617720"/>
            <a:ext cx="195681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2B134"/>
                </a:solidFill>
                <a:latin typeface="Aptos"/>
              </a:defRPr>
            </a:pPr>
            <a:r>
              <a:t>Consistent daily progress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34856" y="1508760"/>
            <a:ext cx="2542032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34856" y="1508760"/>
            <a:ext cx="2542032" cy="658368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9448" y="1709928"/>
            <a:ext cx="22128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WEEK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2487168"/>
            <a:ext cx="2084831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2000" b="1">
                <a:solidFill>
                  <a:srgbClr val="0B1F33"/>
                </a:solidFill>
                <a:latin typeface="Aptos"/>
              </a:defRPr>
            </a:pPr>
            <a:r>
              <a:t>Career 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7464" y="3154680"/>
            <a:ext cx="1956816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500" b="0">
                <a:solidFill>
                  <a:srgbClr val="5C6C7C"/>
                </a:solidFill>
                <a:latin typeface="Aptos"/>
              </a:defRPr>
            </a:pPr>
            <a:r>
              <a:t>Finalize project narrative and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7464" y="4617720"/>
            <a:ext cx="1956816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A9D67"/>
                </a:solidFill>
                <a:latin typeface="Aptos"/>
              </a:defRPr>
            </a:pPr>
            <a:r>
              <a:t>Consistent daily progress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724144"/>
            <a:ext cx="102412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0B1F33"/>
                </a:solidFill>
                <a:latin typeface="Aptos"/>
              </a:defRPr>
            </a:pPr>
            <a:r>
              <a:t>Target six weeks on average; four may be possible and eight is the stated maximum.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Lessons 09–10: 4–6 Week Plan; Final Clarity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00A7A5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442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900" b="1">
                <a:solidFill>
                  <a:srgbClr val="0B1F33"/>
                </a:solidFill>
                <a:latin typeface="Aptos"/>
              </a:defRPr>
            </a:pPr>
            <a:r>
              <a:t>Your Immediate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C6C7C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82495"/>
            <a:ext cx="566928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44805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00" b="1">
                <a:solidFill>
                  <a:srgbClr val="1F2D3D"/>
                </a:solidFill>
                <a:latin typeface="Aptos"/>
              </a:defRPr>
            </a:pPr>
            <a:r>
              <a:t>Download and follow the learning-path PDF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566928" cy="566928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008376"/>
            <a:ext cx="566928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80360"/>
            <a:ext cx="44805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00" b="1">
                <a:solidFill>
                  <a:srgbClr val="1F2D3D"/>
                </a:solidFill>
                <a:latin typeface="Aptos"/>
              </a:defRPr>
            </a:pPr>
            <a:r>
              <a:t>Start Unix and Cloud Foundations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224528"/>
            <a:ext cx="566928" cy="566928"/>
          </a:xfrm>
          <a:prstGeom prst="ellipse">
            <a:avLst/>
          </a:prstGeom>
          <a:solidFill>
            <a:srgbClr val="00A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34256"/>
            <a:ext cx="566928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6240"/>
            <a:ext cx="44805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00" b="1">
                <a:solidFill>
                  <a:srgbClr val="1F2D3D"/>
                </a:solidFill>
                <a:latin typeface="Aptos"/>
              </a:defRPr>
            </a:pPr>
            <a:r>
              <a:t>Save the Blueprint completion certificate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1572768"/>
            <a:ext cx="566928" cy="56692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682495"/>
            <a:ext cx="566928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554480"/>
            <a:ext cx="44805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00" b="1">
                <a:solidFill>
                  <a:srgbClr val="1F2D3D"/>
                </a:solidFill>
                <a:latin typeface="Aptos"/>
              </a:defRPr>
            </a:pPr>
            <a:r>
              <a:t>Post your reflection and certificate screenshot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2898648"/>
            <a:ext cx="566928" cy="56692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008376"/>
            <a:ext cx="566928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880360"/>
            <a:ext cx="44805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00" b="1">
                <a:solidFill>
                  <a:srgbClr val="1F2D3D"/>
                </a:solidFill>
                <a:latin typeface="Aptos"/>
              </a:defRPr>
            </a:pPr>
            <a:r>
              <a:t>Attend orientation, inner-circle calls, and bootcamp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4224528"/>
            <a:ext cx="566928" cy="56692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334256"/>
            <a:ext cx="566928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206240"/>
            <a:ext cx="44805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00" b="1">
                <a:solidFill>
                  <a:srgbClr val="1F2D3D"/>
                </a:solidFill>
                <a:latin typeface="Aptos"/>
              </a:defRPr>
            </a:pPr>
            <a:r>
              <a:t>Study 60–90 minutes daily and track your time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5550408"/>
            <a:ext cx="9171432" cy="62179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0512" y="5724144"/>
            <a:ext cx="8577072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The next milestone is not another plan—it is starting the first foundation course.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6510528"/>
            <a:ext cx="11000232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6565392"/>
            <a:ext cx="10241280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C6C7C"/>
                </a:solidFill>
                <a:latin typeface="Aptos"/>
              </a:defRPr>
            </a:pPr>
            <a:r>
              <a:t>Source: Lesson 10: Final Clarity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65392"/>
            <a:ext cx="1298448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C6C7C"/>
                </a:solidFill>
                <a:latin typeface="Aptos"/>
              </a:defRPr>
            </a:pPr>
            <a:r>
              <a:t>RADE Success Blueprint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58368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THE BLUEPRINT 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5943600" cy="2560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Aptos"/>
              </a:defRPr>
            </a:pPr>
            <a:r>
              <a:t>Follow the path.</a:t>
            </a:r>
            <a:br/>
            <a:r>
              <a:t>Build the project.</a:t>
            </a:r>
            <a:br/>
            <a:r>
              <a:t>Tell the story.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95160" y="749808"/>
            <a:ext cx="4315968" cy="5257800"/>
          </a:xfrm>
          <a:prstGeom prst="roundRect">
            <a:avLst/>
          </a:prstGeom>
          <a:solidFill>
            <a:srgbClr val="17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60920" y="1143000"/>
            <a:ext cx="3566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00A7A5"/>
                </a:solidFill>
                <a:latin typeface="Aptos"/>
              </a:defRPr>
            </a:pPr>
            <a:r>
              <a:t>BEYOND 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737360"/>
            <a:ext cx="3456432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Applied Data Engineering Mastery adds deeper tracks in: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743200"/>
            <a:ext cx="38404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5552" y="2679192"/>
            <a:ext cx="2907792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tos"/>
              </a:defRPr>
            </a:pPr>
            <a:r>
              <a:t>Apache Spark and big-data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456432"/>
            <a:ext cx="38404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3392424"/>
            <a:ext cx="2907792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tos"/>
              </a:defRPr>
            </a:pPr>
            <a:r>
              <a:t>Redshift, dimensional modeling, and Iceberg lakehouse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4169664"/>
            <a:ext cx="38404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1">
                <a:solidFill>
                  <a:srgbClr val="F2B13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4105656"/>
            <a:ext cx="2907792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tos"/>
              </a:defRPr>
            </a:pPr>
            <a:r>
              <a:t>Airflow, streaming, Kafka, Git, and CI/CD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5074920"/>
            <a:ext cx="3401568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00A7A5"/>
                </a:solidFill>
                <a:latin typeface="Aptos"/>
              </a:defRPr>
            </a:pPr>
            <a:r>
              <a:t>Focus first on the current milestone.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649224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0">
                <a:solidFill>
                  <a:srgbClr val="99B1C7"/>
                </a:solidFill>
                <a:latin typeface="Aptos"/>
              </a:defRPr>
            </a:pPr>
            <a:r>
              <a:t>Summary based on all 10 local RADE Success Blueprint transcripts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7A5"/>
          </a:solidFill>
          <a:ln>
            <a:solidFill>
              <a:srgbClr val="00A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31089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A7A5"/>
                </a:solidFill>
                <a:latin typeface="Aptos"/>
              </a:rPr>
              <a:t>SOURCE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28700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233E"/>
                </a:solidFill>
                <a:latin typeface="Aptos"/>
              </a:rPr>
              <a:t>Source index and deliberate exclusions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347472"/>
            <a:ext cx="4754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233E"/>
                </a:solidFill>
                <a:latin typeface="Aptos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T01  01-1-welcome-to-deh-your-journey-begins-here-revisit.txt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56816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T02  02-2-how-the-program-works-system-levels-path-to-hof-revisit.txt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96312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T03  03-3-from-confusion-to-clarity-real-student-transformations-revisit.txt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035808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T04  04-4-commitment-intention-the-game-of-skills-revisit.txt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75304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T05  05-1-the-journey-ahead-how-you-actually-become-highly-paid-revisit.txt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417320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T06  06-2-self-discovery-assignment-revisit.txt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956816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T07  07-3-set-your-goals-clarity-intentions-visualization-revisit.txt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496312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T08  08-1-make-your-journey-foolproof-leverage-the-power-of-community-revisit.txt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035808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T09  09-2-what-you-will-achieve-the-46-week-transformation-plan-resume.txt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3575304"/>
            <a:ext cx="5404104" cy="429768"/>
          </a:xfrm>
          <a:prstGeom prst="roundRect">
            <a:avLst/>
          </a:prstGeom>
          <a:solidFill>
            <a:srgbClr val="F4F7FA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233E"/>
                </a:solidFill>
                <a:latin typeface="Aptos"/>
              </a:rPr>
              <a:t>T10  10-3-final-clarity-your-next-steps-moving-forward-resume.txt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51960"/>
            <a:ext cx="10991088" cy="566928"/>
          </a:xfrm>
          <a:prstGeom prst="roundRect">
            <a:avLst/>
          </a:prstGeom>
          <a:solidFill>
            <a:srgbClr val="FFF3DA"/>
          </a:solidFill>
          <a:ln w="10160">
            <a:solidFill>
              <a:srgbClr val="E8A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14233E"/>
                </a:solidFill>
                <a:latin typeface="Aptos"/>
              </a:rPr>
              <a:t>Commercial offers/vouchers and unverified causal or outcome claims were not carried forward as current guidance.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965192"/>
            <a:ext cx="10991088" cy="804672"/>
          </a:xfrm>
          <a:prstGeom prst="roundRect">
            <a:avLst/>
          </a:prstGeom>
          <a:solidFill>
            <a:srgbClr val="E8F7F5"/>
          </a:solidFill>
          <a:ln w="10160">
            <a:solidFill>
              <a:srgbClr val="00A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4233E"/>
                </a:solidFill>
                <a:latin typeface="Aptos"/>
              </a:rPr>
              <a:t>90-day listening, brain-rewiring, and 80/20 assertions are instructor mindset claims, not verified evidence or the current 30-day supporting habit.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4360" y="6437376"/>
            <a:ext cx="10991088" cy="0"/>
          </a:xfrm>
          <a:prstGeom prst="line">
            <a:avLst/>
          </a:prstGeom>
          <a:ln w="10160">
            <a:solidFill>
              <a:srgbClr val="D7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4360" y="6510528"/>
            <a:ext cx="9509760" cy="173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56377"/>
                </a:solidFill>
                <a:latin typeface="Aptos"/>
              </a:rPr>
              <a:t>Source inventory: all 10 canonical RADE Success Blueprint TXT transcripts.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10528"/>
            <a:ext cx="1298448" cy="1737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56377"/>
                </a:solidFill>
                <a:latin typeface="Aptos"/>
              </a:rPr>
              <a:t>RADE Success 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RADE Success Blueprint Summary</dc:title>
  <dc:subject>Summary of all 10 RADE Success Blueprint transcripts</dc:subject>
  <dc:creator>RADE Learning Workspace</dc:creator>
  <cp:keywords>RADE, AWS, data engineering, learning path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